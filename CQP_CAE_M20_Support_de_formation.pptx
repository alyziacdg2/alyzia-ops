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7.xml.rels" ContentType="application/vnd.openxmlformats-package.relationships+xml"/>
  <Override PartName="/ppt/notesSlides/_rels/notesSlide32.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3.xml.rels" ContentType="application/vnd.openxmlformats-package.relationships+xml"/>
  <Override PartName="/ppt/notesSlides/_rels/notesSlide21.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5C5A455-06BA-4A1E-93F4-9887B0E1E36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6040" cy="3085920"/>
          </a:xfrm>
          <a:prstGeom prst="rect">
            <a:avLst/>
          </a:prstGeom>
          <a:ln w="0">
            <a:noFill/>
          </a:ln>
        </p:spPr>
      </p:sp>
      <p:sp>
        <p:nvSpPr>
          <p:cNvPr id="7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2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F9A216-4A07-4017-A05D-1310653D877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685800" y="1143000"/>
            <a:ext cx="5486040" cy="3085920"/>
          </a:xfrm>
          <a:prstGeom prst="rect">
            <a:avLst/>
          </a:prstGeom>
          <a:ln w="0">
            <a:noFill/>
          </a:ln>
        </p:spPr>
      </p:sp>
      <p:sp>
        <p:nvSpPr>
          <p:cNvPr id="7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2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C2FBAA1-247F-45E2-91EE-6D90706C36D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685800" y="1143000"/>
            <a:ext cx="5486040" cy="3085920"/>
          </a:xfrm>
          <a:prstGeom prst="rect">
            <a:avLst/>
          </a:prstGeom>
          <a:ln w="0">
            <a:noFill/>
          </a:ln>
        </p:spPr>
      </p:sp>
      <p:sp>
        <p:nvSpPr>
          <p:cNvPr id="7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2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4D59AB3-8BFB-44B3-B704-A8C4D584CAF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685800" y="1143000"/>
            <a:ext cx="5486040" cy="3085920"/>
          </a:xfrm>
          <a:prstGeom prst="rect">
            <a:avLst/>
          </a:prstGeom>
          <a:ln w="0">
            <a:noFill/>
          </a:ln>
        </p:spPr>
      </p:sp>
      <p:sp>
        <p:nvSpPr>
          <p:cNvPr id="7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3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69ACD09-C1BA-41D5-BCFD-7C599F10C5B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685800" y="1143000"/>
            <a:ext cx="5486040" cy="3085920"/>
          </a:xfrm>
          <a:prstGeom prst="rect">
            <a:avLst/>
          </a:prstGeom>
          <a:ln w="0">
            <a:noFill/>
          </a:ln>
        </p:spPr>
      </p:sp>
      <p:sp>
        <p:nvSpPr>
          <p:cNvPr id="7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3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0048D7E-31A0-4C3A-9B6D-F134E30E132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685800" y="1143000"/>
            <a:ext cx="5486040" cy="3085920"/>
          </a:xfrm>
          <a:prstGeom prst="rect">
            <a:avLst/>
          </a:prstGeom>
          <a:ln w="0">
            <a:noFill/>
          </a:ln>
        </p:spPr>
      </p:sp>
      <p:sp>
        <p:nvSpPr>
          <p:cNvPr id="7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3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089C47F-021C-4BAF-9AE0-36128585F2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685800" y="1143000"/>
            <a:ext cx="5486040" cy="3085920"/>
          </a:xfrm>
          <a:prstGeom prst="rect">
            <a:avLst/>
          </a:prstGeom>
          <a:ln w="0">
            <a:noFill/>
          </a:ln>
        </p:spPr>
      </p:sp>
      <p:sp>
        <p:nvSpPr>
          <p:cNvPr id="7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3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D3524E9-FFE4-46F7-888F-ABCEBAA8E9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685800" y="1143000"/>
            <a:ext cx="5486040" cy="3085920"/>
          </a:xfrm>
          <a:prstGeom prst="rect">
            <a:avLst/>
          </a:prstGeom>
          <a:ln w="0">
            <a:noFill/>
          </a:ln>
        </p:spPr>
      </p:sp>
      <p:sp>
        <p:nvSpPr>
          <p:cNvPr id="7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4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5C897A-184E-430F-BCFF-D29E7B88D15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685800" y="1143000"/>
            <a:ext cx="5486040" cy="3085920"/>
          </a:xfrm>
          <a:prstGeom prst="rect">
            <a:avLst/>
          </a:prstGeom>
          <a:ln w="0">
            <a:noFill/>
          </a:ln>
        </p:spPr>
      </p:sp>
      <p:sp>
        <p:nvSpPr>
          <p:cNvPr id="7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4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02EB58D-729F-428D-8250-74C3817BC97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685800" y="1143000"/>
            <a:ext cx="5486040" cy="3085920"/>
          </a:xfrm>
          <a:prstGeom prst="rect">
            <a:avLst/>
          </a:prstGeom>
          <a:ln w="0">
            <a:noFill/>
          </a:ln>
        </p:spPr>
      </p:sp>
      <p:sp>
        <p:nvSpPr>
          <p:cNvPr id="7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48"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6D5368-C721-450A-AB0C-A2278FA0111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685800" y="1143000"/>
            <a:ext cx="5486040" cy="3085920"/>
          </a:xfrm>
          <a:prstGeom prst="rect">
            <a:avLst/>
          </a:prstGeom>
          <a:ln w="0">
            <a:noFill/>
          </a:ln>
        </p:spPr>
      </p:sp>
      <p:sp>
        <p:nvSpPr>
          <p:cNvPr id="7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51"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53C7947-DA57-4873-8635-C72224D6D53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685800" y="1143000"/>
            <a:ext cx="5486040" cy="3085920"/>
          </a:xfrm>
          <a:prstGeom prst="rect">
            <a:avLst/>
          </a:prstGeom>
          <a:ln w="0">
            <a:noFill/>
          </a:ln>
        </p:spPr>
      </p:sp>
      <p:sp>
        <p:nvSpPr>
          <p:cNvPr id="7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54"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FBA793A-4334-4580-B28D-8447A86F664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685800" y="1143000"/>
            <a:ext cx="5486040" cy="3085920"/>
          </a:xfrm>
          <a:prstGeom prst="rect">
            <a:avLst/>
          </a:prstGeom>
          <a:ln w="0">
            <a:noFill/>
          </a:ln>
        </p:spPr>
      </p:sp>
      <p:sp>
        <p:nvSpPr>
          <p:cNvPr id="7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57"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1F6D96C-B208-472E-998A-59081D51CA8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685800" y="1143000"/>
            <a:ext cx="5486040" cy="3085920"/>
          </a:xfrm>
          <a:prstGeom prst="rect">
            <a:avLst/>
          </a:prstGeom>
          <a:ln w="0">
            <a:noFill/>
          </a:ln>
        </p:spPr>
      </p:sp>
      <p:sp>
        <p:nvSpPr>
          <p:cNvPr id="7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60"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DF5352F-D59B-4EFB-AF93-426D866D6AE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Img"/>
          </p:nvPr>
        </p:nvSpPr>
        <p:spPr>
          <a:xfrm>
            <a:off x="685800" y="1143000"/>
            <a:ext cx="5486040" cy="3085920"/>
          </a:xfrm>
          <a:prstGeom prst="rect">
            <a:avLst/>
          </a:prstGeom>
          <a:ln w="0">
            <a:noFill/>
          </a:ln>
        </p:spPr>
      </p:sp>
      <p:sp>
        <p:nvSpPr>
          <p:cNvPr id="7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63"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FBA56C5-F754-466A-A183-7714012E0B9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Img"/>
          </p:nvPr>
        </p:nvSpPr>
        <p:spPr>
          <a:xfrm>
            <a:off x="685800" y="1143000"/>
            <a:ext cx="5486040" cy="3085920"/>
          </a:xfrm>
          <a:prstGeom prst="rect">
            <a:avLst/>
          </a:prstGeom>
          <a:ln w="0">
            <a:noFill/>
          </a:ln>
        </p:spPr>
      </p:sp>
      <p:sp>
        <p:nvSpPr>
          <p:cNvPr id="7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66"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FD39863-18AC-4E8F-AD42-6179128906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685800" y="1143000"/>
            <a:ext cx="5486040" cy="3085920"/>
          </a:xfrm>
          <a:prstGeom prst="rect">
            <a:avLst/>
          </a:prstGeom>
          <a:ln w="0">
            <a:noFill/>
          </a:ln>
        </p:spPr>
      </p:sp>
      <p:sp>
        <p:nvSpPr>
          <p:cNvPr id="7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69"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6EC1A7B-25AF-45E5-AA49-F90B1AD22CD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685800" y="1143000"/>
            <a:ext cx="5486040" cy="3085920"/>
          </a:xfrm>
          <a:prstGeom prst="rect">
            <a:avLst/>
          </a:prstGeom>
          <a:ln w="0">
            <a:noFill/>
          </a:ln>
        </p:spPr>
      </p:sp>
      <p:sp>
        <p:nvSpPr>
          <p:cNvPr id="7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72"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943CFD8-BBBA-459E-AFF9-53EE23D540D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685800" y="1143000"/>
            <a:ext cx="5486040" cy="3085920"/>
          </a:xfrm>
          <a:prstGeom prst="rect">
            <a:avLst/>
          </a:prstGeom>
          <a:ln w="0">
            <a:noFill/>
          </a:ln>
        </p:spPr>
      </p:sp>
      <p:sp>
        <p:nvSpPr>
          <p:cNvPr id="7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75"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23F4518-FCE9-4E8E-99D4-08EFC4A677A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685800" y="1143000"/>
            <a:ext cx="5486040" cy="3085920"/>
          </a:xfrm>
          <a:prstGeom prst="rect">
            <a:avLst/>
          </a:prstGeom>
          <a:ln w="0">
            <a:noFill/>
          </a:ln>
        </p:spPr>
      </p:sp>
      <p:sp>
        <p:nvSpPr>
          <p:cNvPr id="7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78"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573F78A-4561-4BA8-82AB-4DF2621B83A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9" name="PlaceHolder 1"/>
          <p:cNvSpPr>
            <a:spLocks noGrp="1"/>
          </p:cNvSpPr>
          <p:nvPr>
            <p:ph type="sldImg"/>
          </p:nvPr>
        </p:nvSpPr>
        <p:spPr>
          <a:xfrm>
            <a:off x="685800" y="1143000"/>
            <a:ext cx="5486040" cy="3085920"/>
          </a:xfrm>
          <a:prstGeom prst="rect">
            <a:avLst/>
          </a:prstGeom>
          <a:ln w="0">
            <a:noFill/>
          </a:ln>
        </p:spPr>
      </p:sp>
      <p:sp>
        <p:nvSpPr>
          <p:cNvPr id="7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81"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16F8363-66A4-4BBE-B7A8-A9F8A4E3EAD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type="sldImg"/>
          </p:nvPr>
        </p:nvSpPr>
        <p:spPr>
          <a:xfrm>
            <a:off x="685800" y="1143000"/>
            <a:ext cx="5486040" cy="3085920"/>
          </a:xfrm>
          <a:prstGeom prst="rect">
            <a:avLst/>
          </a:prstGeom>
          <a:ln w="0">
            <a:noFill/>
          </a:ln>
        </p:spPr>
      </p:sp>
      <p:sp>
        <p:nvSpPr>
          <p:cNvPr id="7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84"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1E9C140-5773-432F-8AB7-674A99510B5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sldImg"/>
          </p:nvPr>
        </p:nvSpPr>
        <p:spPr>
          <a:xfrm>
            <a:off x="685800" y="1143000"/>
            <a:ext cx="5486040" cy="3085920"/>
          </a:xfrm>
          <a:prstGeom prst="rect">
            <a:avLst/>
          </a:prstGeom>
          <a:ln w="0">
            <a:noFill/>
          </a:ln>
        </p:spPr>
      </p:sp>
      <p:sp>
        <p:nvSpPr>
          <p:cNvPr id="7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87"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DD26F0D-8466-4503-B82F-1B0096DA48E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sldImg"/>
          </p:nvPr>
        </p:nvSpPr>
        <p:spPr>
          <a:xfrm>
            <a:off x="685800" y="1143000"/>
            <a:ext cx="5486040" cy="3085920"/>
          </a:xfrm>
          <a:prstGeom prst="rect">
            <a:avLst/>
          </a:prstGeom>
          <a:ln w="0">
            <a:noFill/>
          </a:ln>
        </p:spPr>
      </p:sp>
      <p:sp>
        <p:nvSpPr>
          <p:cNvPr id="7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90"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AFE239B-13AA-447A-A18E-9345A8348E9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sldImg"/>
          </p:nvPr>
        </p:nvSpPr>
        <p:spPr>
          <a:xfrm>
            <a:off x="685800" y="1143000"/>
            <a:ext cx="5486040" cy="3085920"/>
          </a:xfrm>
          <a:prstGeom prst="rect">
            <a:avLst/>
          </a:prstGeom>
          <a:ln w="0">
            <a:noFill/>
          </a:ln>
        </p:spPr>
      </p:sp>
      <p:sp>
        <p:nvSpPr>
          <p:cNvPr id="7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93"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502B1BC-7525-4B5C-9883-3A03BF79210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PlaceHolder 1"/>
          <p:cNvSpPr>
            <a:spLocks noGrp="1"/>
          </p:cNvSpPr>
          <p:nvPr>
            <p:ph type="sldImg"/>
          </p:nvPr>
        </p:nvSpPr>
        <p:spPr>
          <a:xfrm>
            <a:off x="685800" y="1143000"/>
            <a:ext cx="5486040" cy="3085920"/>
          </a:xfrm>
          <a:prstGeom prst="rect">
            <a:avLst/>
          </a:prstGeom>
          <a:ln w="0">
            <a:noFill/>
          </a:ln>
        </p:spPr>
      </p:sp>
      <p:sp>
        <p:nvSpPr>
          <p:cNvPr id="7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96"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17CA0E5-E23C-4684-A7D3-06A8F722A8F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sldImg"/>
          </p:nvPr>
        </p:nvSpPr>
        <p:spPr>
          <a:xfrm>
            <a:off x="685800" y="1143000"/>
            <a:ext cx="5486040" cy="3085920"/>
          </a:xfrm>
          <a:prstGeom prst="rect">
            <a:avLst/>
          </a:prstGeom>
          <a:ln w="0">
            <a:noFill/>
          </a:ln>
        </p:spPr>
      </p:sp>
      <p:sp>
        <p:nvSpPr>
          <p:cNvPr id="7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799"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D29E3F7-A8A9-4184-8826-57B126615DC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 name="PlaceHolder 1"/>
          <p:cNvSpPr>
            <a:spLocks noGrp="1"/>
          </p:cNvSpPr>
          <p:nvPr>
            <p:ph type="sldImg"/>
          </p:nvPr>
        </p:nvSpPr>
        <p:spPr>
          <a:xfrm>
            <a:off x="685800" y="1143000"/>
            <a:ext cx="5486040" cy="3085920"/>
          </a:xfrm>
          <a:prstGeom prst="rect">
            <a:avLst/>
          </a:prstGeom>
          <a:ln w="0">
            <a:noFill/>
          </a:ln>
        </p:spPr>
      </p:sp>
      <p:sp>
        <p:nvSpPr>
          <p:cNvPr id="8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02"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EC787DA-550E-49DF-AFEB-9E2A00C6AE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type="sldImg"/>
          </p:nvPr>
        </p:nvSpPr>
        <p:spPr>
          <a:xfrm>
            <a:off x="685800" y="1143000"/>
            <a:ext cx="5486040" cy="3085920"/>
          </a:xfrm>
          <a:prstGeom prst="rect">
            <a:avLst/>
          </a:prstGeom>
          <a:ln w="0">
            <a:noFill/>
          </a:ln>
        </p:spPr>
      </p:sp>
      <p:sp>
        <p:nvSpPr>
          <p:cNvPr id="8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05"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3FA1F4D-FA6D-4D4E-BB93-938896AE5C0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sldImg"/>
          </p:nvPr>
        </p:nvSpPr>
        <p:spPr>
          <a:xfrm>
            <a:off x="685800" y="1143000"/>
            <a:ext cx="5486040" cy="3085920"/>
          </a:xfrm>
          <a:prstGeom prst="rect">
            <a:avLst/>
          </a:prstGeom>
          <a:ln w="0">
            <a:noFill/>
          </a:ln>
        </p:spPr>
      </p:sp>
      <p:sp>
        <p:nvSpPr>
          <p:cNvPr id="8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08"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9F95F1C-5866-442F-855D-B232F016646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sldImg"/>
          </p:nvPr>
        </p:nvSpPr>
        <p:spPr>
          <a:xfrm>
            <a:off x="685800" y="1143000"/>
            <a:ext cx="5486040" cy="3085920"/>
          </a:xfrm>
          <a:prstGeom prst="rect">
            <a:avLst/>
          </a:prstGeom>
          <a:ln w="0">
            <a:noFill/>
          </a:ln>
        </p:spPr>
      </p:sp>
      <p:sp>
        <p:nvSpPr>
          <p:cNvPr id="8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11"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7110982-DD35-4A6A-A5BA-28082558176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PlaceHolder 1"/>
          <p:cNvSpPr>
            <a:spLocks noGrp="1"/>
          </p:cNvSpPr>
          <p:nvPr>
            <p:ph type="sldImg"/>
          </p:nvPr>
        </p:nvSpPr>
        <p:spPr>
          <a:xfrm>
            <a:off x="685800" y="1143000"/>
            <a:ext cx="5486040" cy="3085920"/>
          </a:xfrm>
          <a:prstGeom prst="rect">
            <a:avLst/>
          </a:prstGeom>
          <a:ln w="0">
            <a:noFill/>
          </a:ln>
        </p:spPr>
      </p:sp>
      <p:sp>
        <p:nvSpPr>
          <p:cNvPr id="8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14"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1D29168-4B40-4207-BC14-45B5E30857E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sldImg"/>
          </p:nvPr>
        </p:nvSpPr>
        <p:spPr>
          <a:xfrm>
            <a:off x="685800" y="1143000"/>
            <a:ext cx="5486040" cy="3085920"/>
          </a:xfrm>
          <a:prstGeom prst="rect">
            <a:avLst/>
          </a:prstGeom>
          <a:ln w="0">
            <a:noFill/>
          </a:ln>
        </p:spPr>
      </p:sp>
      <p:sp>
        <p:nvSpPr>
          <p:cNvPr id="8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17"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D3EC8D7-E606-4629-9D71-CDA86B0B574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8" name="PlaceHolder 1"/>
          <p:cNvSpPr>
            <a:spLocks noGrp="1"/>
          </p:cNvSpPr>
          <p:nvPr>
            <p:ph type="sldImg"/>
          </p:nvPr>
        </p:nvSpPr>
        <p:spPr>
          <a:xfrm>
            <a:off x="685800" y="1143000"/>
            <a:ext cx="5486040" cy="3085920"/>
          </a:xfrm>
          <a:prstGeom prst="rect">
            <a:avLst/>
          </a:prstGeom>
          <a:ln w="0">
            <a:noFill/>
          </a:ln>
        </p:spPr>
      </p:sp>
      <p:sp>
        <p:nvSpPr>
          <p:cNvPr id="8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20"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F8F03AF-386F-4BB0-8D7B-7D0892B492B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1" name="PlaceHolder 1"/>
          <p:cNvSpPr>
            <a:spLocks noGrp="1"/>
          </p:cNvSpPr>
          <p:nvPr>
            <p:ph type="sldImg"/>
          </p:nvPr>
        </p:nvSpPr>
        <p:spPr>
          <a:xfrm>
            <a:off x="685800" y="1143000"/>
            <a:ext cx="5486040" cy="3085920"/>
          </a:xfrm>
          <a:prstGeom prst="rect">
            <a:avLst/>
          </a:prstGeom>
          <a:ln w="0">
            <a:noFill/>
          </a:ln>
        </p:spPr>
      </p:sp>
      <p:sp>
        <p:nvSpPr>
          <p:cNvPr id="8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23"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AE29D40-BC31-4C39-9B2F-C2802554BD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PlaceHolder 1"/>
          <p:cNvSpPr>
            <a:spLocks noGrp="1"/>
          </p:cNvSpPr>
          <p:nvPr>
            <p:ph type="sldImg"/>
          </p:nvPr>
        </p:nvSpPr>
        <p:spPr>
          <a:xfrm>
            <a:off x="685800" y="1143000"/>
            <a:ext cx="5486040" cy="3085920"/>
          </a:xfrm>
          <a:prstGeom prst="rect">
            <a:avLst/>
          </a:prstGeom>
          <a:ln w="0">
            <a:noFill/>
          </a:ln>
        </p:spPr>
      </p:sp>
      <p:sp>
        <p:nvSpPr>
          <p:cNvPr id="8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26"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A4D10F1-C0DB-4416-AE3E-24B92A909AF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sldImg"/>
          </p:nvPr>
        </p:nvSpPr>
        <p:spPr>
          <a:xfrm>
            <a:off x="685800" y="1143000"/>
            <a:ext cx="5486040" cy="3085920"/>
          </a:xfrm>
          <a:prstGeom prst="rect">
            <a:avLst/>
          </a:prstGeom>
          <a:ln w="0">
            <a:noFill/>
          </a:ln>
        </p:spPr>
      </p:sp>
      <p:sp>
        <p:nvSpPr>
          <p:cNvPr id="8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29"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B95A8ED-E3AF-42E8-95E6-594793D4DB4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PlaceHolder 1"/>
          <p:cNvSpPr>
            <a:spLocks noGrp="1"/>
          </p:cNvSpPr>
          <p:nvPr>
            <p:ph type="sldImg"/>
          </p:nvPr>
        </p:nvSpPr>
        <p:spPr>
          <a:xfrm>
            <a:off x="685800" y="1143000"/>
            <a:ext cx="5486040" cy="3085920"/>
          </a:xfrm>
          <a:prstGeom prst="rect">
            <a:avLst/>
          </a:prstGeom>
          <a:ln w="0">
            <a:noFill/>
          </a:ln>
        </p:spPr>
      </p:sp>
      <p:sp>
        <p:nvSpPr>
          <p:cNvPr id="8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32"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52C0A2-7E2F-473E-9944-9670A09A491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 name="PlaceHolder 1"/>
          <p:cNvSpPr>
            <a:spLocks noGrp="1"/>
          </p:cNvSpPr>
          <p:nvPr>
            <p:ph type="sldImg"/>
          </p:nvPr>
        </p:nvSpPr>
        <p:spPr>
          <a:xfrm>
            <a:off x="685800" y="1143000"/>
            <a:ext cx="5486040" cy="3085920"/>
          </a:xfrm>
          <a:prstGeom prst="rect">
            <a:avLst/>
          </a:prstGeom>
          <a:ln w="0">
            <a:noFill/>
          </a:ln>
        </p:spPr>
      </p:sp>
      <p:sp>
        <p:nvSpPr>
          <p:cNvPr id="8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35"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50AEB37-D25B-42D9-8645-AE19DB09E52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sldImg"/>
          </p:nvPr>
        </p:nvSpPr>
        <p:spPr>
          <a:xfrm>
            <a:off x="685800" y="1143000"/>
            <a:ext cx="5486040" cy="3085920"/>
          </a:xfrm>
          <a:prstGeom prst="rect">
            <a:avLst/>
          </a:prstGeom>
          <a:ln w="0">
            <a:noFill/>
          </a:ln>
        </p:spPr>
      </p:sp>
      <p:sp>
        <p:nvSpPr>
          <p:cNvPr id="8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38"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5FD1B0-0B2A-436C-BA1E-8286B01E30A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type="sldImg"/>
          </p:nvPr>
        </p:nvSpPr>
        <p:spPr>
          <a:xfrm>
            <a:off x="685800" y="1143000"/>
            <a:ext cx="5486040" cy="3085920"/>
          </a:xfrm>
          <a:prstGeom prst="rect">
            <a:avLst/>
          </a:prstGeom>
          <a:ln w="0">
            <a:noFill/>
          </a:ln>
        </p:spPr>
      </p:sp>
      <p:sp>
        <p:nvSpPr>
          <p:cNvPr id="8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41"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8B010AA-C325-4A7B-9DCA-6B58020F10D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8" name="Shape 0"/>
          <p:cNvSpPr/>
          <p:nvPr/>
        </p:nvSpPr>
        <p:spPr>
          <a:xfrm>
            <a:off x="9997200" y="548640"/>
            <a:ext cx="914040" cy="914040"/>
          </a:xfrm>
          <a:prstGeom prst="rect">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11048760" y="548640"/>
            <a:ext cx="914040" cy="502560"/>
          </a:xfrm>
          <a:prstGeom prst="rect">
            <a:avLst/>
          </a:prstGeom>
          <a:solidFill>
            <a:srgbClr val="2e9cca">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Shape 2"/>
          <p:cNvSpPr/>
          <p:nvPr/>
        </p:nvSpPr>
        <p:spPr>
          <a:xfrm>
            <a:off x="11048760" y="1143000"/>
            <a:ext cx="914040" cy="411120"/>
          </a:xfrm>
          <a:prstGeom prst="rect">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Shape 3"/>
          <p:cNvSpPr/>
          <p:nvPr/>
        </p:nvSpPr>
        <p:spPr>
          <a:xfrm>
            <a:off x="9997200" y="1600200"/>
            <a:ext cx="502560" cy="914040"/>
          </a:xfrm>
          <a:prstGeom prst="rect">
            <a:avLst/>
          </a:prstGeom>
          <a:solidFill>
            <a:srgbClr val="2e9cca">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Shape 4"/>
          <p:cNvSpPr/>
          <p:nvPr/>
        </p:nvSpPr>
        <p:spPr>
          <a:xfrm>
            <a:off x="10591560" y="1600200"/>
            <a:ext cx="411120" cy="914040"/>
          </a:xfrm>
          <a:prstGeom prst="rect">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Text 5"/>
          <p:cNvSpPr/>
          <p:nvPr/>
        </p:nvSpPr>
        <p:spPr>
          <a:xfrm>
            <a:off x="548640" y="1188720"/>
            <a:ext cx="8686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99" strike="noStrike">
                <a:solidFill>
                  <a:srgbClr val="2e9cca"/>
                </a:solidFill>
                <a:latin typeface="Arial"/>
                <a:ea typeface="Arial"/>
              </a:rPr>
              <a:t>CQP CHARGÉ(E) D'ACCUEIL EN ENTREPRISE</a:t>
            </a:r>
            <a:endParaRPr b="0" lang="en-US" sz="1600" spc="-1" strike="noStrike">
              <a:solidFill>
                <a:srgbClr val="ffffff"/>
              </a:solidFill>
              <a:latin typeface="Arial"/>
            </a:endParaRPr>
          </a:p>
        </p:txBody>
      </p:sp>
      <p:sp>
        <p:nvSpPr>
          <p:cNvPr id="14" name="Text 6"/>
          <p:cNvSpPr/>
          <p:nvPr/>
        </p:nvSpPr>
        <p:spPr>
          <a:xfrm>
            <a:off x="548640" y="1691640"/>
            <a:ext cx="8686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cadcfc"/>
                </a:solidFill>
                <a:latin typeface="Arial"/>
                <a:ea typeface="Arial"/>
              </a:rPr>
              <a:t>Module M20</a:t>
            </a:r>
            <a:endParaRPr b="0" lang="en-US" sz="1800" spc="-1" strike="noStrike">
              <a:solidFill>
                <a:srgbClr val="ffffff"/>
              </a:solidFill>
              <a:latin typeface="Arial"/>
            </a:endParaRPr>
          </a:p>
        </p:txBody>
      </p:sp>
      <p:sp>
        <p:nvSpPr>
          <p:cNvPr id="15" name="Text 7"/>
          <p:cNvSpPr/>
          <p:nvPr/>
        </p:nvSpPr>
        <p:spPr>
          <a:xfrm>
            <a:off x="548640" y="2148840"/>
            <a:ext cx="960084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4400" spc="-1" strike="noStrike">
                <a:solidFill>
                  <a:srgbClr val="ffffff"/>
                </a:solidFill>
                <a:latin typeface="Arial"/>
                <a:ea typeface="Arial"/>
              </a:rPr>
              <a:t>Coordination et suivi opérationnel</a:t>
            </a:r>
            <a:endParaRPr b="0" lang="en-US" sz="4400" spc="-1" strike="noStrike">
              <a:solidFill>
                <a:srgbClr val="ffffff"/>
              </a:solidFill>
              <a:latin typeface="Arial"/>
            </a:endParaRPr>
          </a:p>
        </p:txBody>
      </p:sp>
      <p:sp>
        <p:nvSpPr>
          <p:cNvPr id="16" name="Shape 8"/>
          <p:cNvSpPr/>
          <p:nvPr/>
        </p:nvSpPr>
        <p:spPr>
          <a:xfrm>
            <a:off x="548640" y="3794760"/>
            <a:ext cx="5120280" cy="502560"/>
          </a:xfrm>
          <a:prstGeom prst="roundRect">
            <a:avLst>
              <a:gd name="adj" fmla="val 18182"/>
            </a:avLst>
          </a:prstGeom>
          <a:solidFill>
            <a:srgbClr val="1f4368"/>
          </a:solidFill>
          <a:ln w="12700">
            <a:solidFill>
              <a:srgbClr val="2e9cc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Text 9"/>
          <p:cNvSpPr/>
          <p:nvPr/>
        </p:nvSpPr>
        <p:spPr>
          <a:xfrm>
            <a:off x="685800" y="3794760"/>
            <a:ext cx="48459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2e9cca"/>
                </a:solidFill>
                <a:latin typeface="Arial"/>
                <a:ea typeface="Arial"/>
              </a:rPr>
              <a:t>Durée totale : </a:t>
            </a:r>
            <a:r>
              <a:rPr b="0" lang="en-US" sz="1400" spc="-1" strike="noStrike">
                <a:solidFill>
                  <a:srgbClr val="ffffff"/>
                </a:solidFill>
                <a:latin typeface="Arial"/>
                <a:ea typeface="Arial"/>
              </a:rPr>
              <a:t>3 heures 30</a:t>
            </a:r>
            <a:endParaRPr b="0" lang="en-US" sz="1400" spc="-1" strike="noStrike">
              <a:solidFill>
                <a:srgbClr val="ffffff"/>
              </a:solidFill>
              <a:latin typeface="Arial"/>
            </a:endParaRPr>
          </a:p>
        </p:txBody>
      </p:sp>
      <p:sp>
        <p:nvSpPr>
          <p:cNvPr id="18" name="Text 10"/>
          <p:cNvSpPr/>
          <p:nvPr/>
        </p:nvSpPr>
        <p:spPr>
          <a:xfrm>
            <a:off x="548640" y="5989320"/>
            <a:ext cx="9143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9fb8cc"/>
                </a:solidFill>
                <a:latin typeface="Arial"/>
                <a:ea typeface="Arial"/>
              </a:rPr>
              <a:t>Support de formation – Apprenants du CQP Chargé(e) d'Accueil en Entreprise (CAE)</a:t>
            </a:r>
            <a:endParaRPr b="0" lang="en-US" sz="1200" spc="-1" strike="noStrike">
              <a:solidFill>
                <a:srgbClr val="ffffff"/>
              </a:solidFill>
              <a:latin typeface="Arial"/>
            </a:endParaRPr>
          </a:p>
        </p:txBody>
      </p:sp>
      <p:sp>
        <p:nvSpPr>
          <p:cNvPr id="19" name="Text 11"/>
          <p:cNvSpPr/>
          <p:nvPr/>
        </p:nvSpPr>
        <p:spPr>
          <a:xfrm>
            <a:off x="548640" y="630936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0a0bc"/>
                </a:solidFill>
                <a:latin typeface="Arial"/>
                <a:ea typeface="Arial"/>
              </a:rPr>
              <a:t>Référentiel d'activités : C3.4 – C3.5 – C3.6</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Text 0"/>
          <p:cNvSpPr/>
          <p:nvPr/>
        </p:nvSpPr>
        <p:spPr>
          <a:xfrm>
            <a:off x="548640" y="457200"/>
            <a:ext cx="9143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6324f"/>
                </a:solidFill>
                <a:latin typeface="Arial"/>
                <a:ea typeface="Arial"/>
              </a:rPr>
              <a:t>Sommaire de la formation</a:t>
            </a:r>
            <a:endParaRPr b="0" lang="en-US" sz="3000" spc="-1" strike="noStrike">
              <a:solidFill>
                <a:srgbClr val="000000"/>
              </a:solidFill>
              <a:latin typeface="Arial"/>
            </a:endParaRPr>
          </a:p>
        </p:txBody>
      </p:sp>
      <p:sp>
        <p:nvSpPr>
          <p:cNvPr id="21" name="Text 1"/>
          <p:cNvSpPr/>
          <p:nvPr/>
        </p:nvSpPr>
        <p:spPr>
          <a:xfrm>
            <a:off x="548640" y="1051560"/>
            <a:ext cx="9143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400" spc="-1" strike="noStrike">
                <a:solidFill>
                  <a:srgbClr val="51606e"/>
                </a:solidFill>
                <a:latin typeface="Arial"/>
                <a:ea typeface="Arial"/>
              </a:rPr>
              <a:t>Trois blocs de compétences, dans l'ordre du plan d'enseignement</a:t>
            </a:r>
            <a:endParaRPr b="0" lang="en-US" sz="1400" spc="-1" strike="noStrike">
              <a:solidFill>
                <a:srgbClr val="000000"/>
              </a:solidFill>
              <a:latin typeface="Arial"/>
            </a:endParaRPr>
          </a:p>
        </p:txBody>
      </p:sp>
      <p:sp>
        <p:nvSpPr>
          <p:cNvPr id="22" name="Shape 2"/>
          <p:cNvSpPr/>
          <p:nvPr/>
        </p:nvSpPr>
        <p:spPr>
          <a:xfrm>
            <a:off x="548640" y="1691640"/>
            <a:ext cx="11094120" cy="1234080"/>
          </a:xfrm>
          <a:prstGeom prst="roundRect">
            <a:avLst>
              <a:gd name="adj" fmla="val 5926"/>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 name="Shape 3"/>
          <p:cNvSpPr/>
          <p:nvPr/>
        </p:nvSpPr>
        <p:spPr>
          <a:xfrm>
            <a:off x="822960" y="1943280"/>
            <a:ext cx="731160" cy="73116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Text 4"/>
          <p:cNvSpPr/>
          <p:nvPr/>
        </p:nvSpPr>
        <p:spPr>
          <a:xfrm>
            <a:off x="822960" y="194328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Arial"/>
                <a:ea typeface="Arial"/>
              </a:rPr>
              <a:t>1</a:t>
            </a:r>
            <a:endParaRPr b="0" lang="en-US" sz="2600" spc="-1" strike="noStrike">
              <a:solidFill>
                <a:srgbClr val="000000"/>
              </a:solidFill>
              <a:latin typeface="Arial"/>
            </a:endParaRPr>
          </a:p>
        </p:txBody>
      </p:sp>
      <p:sp>
        <p:nvSpPr>
          <p:cNvPr id="25" name="Text 5"/>
          <p:cNvSpPr/>
          <p:nvPr/>
        </p:nvSpPr>
        <p:spPr>
          <a:xfrm>
            <a:off x="1783080" y="1801440"/>
            <a:ext cx="786348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6324f"/>
                </a:solidFill>
                <a:latin typeface="Arial"/>
                <a:ea typeface="Arial"/>
              </a:rPr>
              <a:t>Planifier l'utilisation des ressources</a:t>
            </a:r>
            <a:endParaRPr b="0" lang="en-US" sz="1800" spc="-1" strike="noStrike">
              <a:solidFill>
                <a:srgbClr val="000000"/>
              </a:solidFill>
              <a:latin typeface="Arial"/>
            </a:endParaRPr>
          </a:p>
        </p:txBody>
      </p:sp>
      <p:sp>
        <p:nvSpPr>
          <p:cNvPr id="26" name="Text 6"/>
          <p:cNvSpPr/>
          <p:nvPr/>
        </p:nvSpPr>
        <p:spPr>
          <a:xfrm>
            <a:off x="1783080" y="2221920"/>
            <a:ext cx="78634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51606e"/>
                </a:solidFill>
                <a:latin typeface="Arial"/>
                <a:ea typeface="Arial"/>
              </a:rPr>
              <a:t>Analyse des besoins • Aménagement des espaces (PMR) • Traçabilité des ressources</a:t>
            </a:r>
            <a:endParaRPr b="0" lang="en-US" sz="1250" spc="-1" strike="noStrike">
              <a:solidFill>
                <a:srgbClr val="000000"/>
              </a:solidFill>
              <a:latin typeface="Arial"/>
            </a:endParaRPr>
          </a:p>
        </p:txBody>
      </p:sp>
      <p:sp>
        <p:nvSpPr>
          <p:cNvPr id="27" name="Shape 7"/>
          <p:cNvSpPr/>
          <p:nvPr/>
        </p:nvSpPr>
        <p:spPr>
          <a:xfrm>
            <a:off x="10271520" y="2080440"/>
            <a:ext cx="1188360" cy="456840"/>
          </a:xfrm>
          <a:prstGeom prst="roundRect">
            <a:avLst>
              <a:gd name="adj" fmla="val 18000"/>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 name="Text 8"/>
          <p:cNvSpPr/>
          <p:nvPr/>
        </p:nvSpPr>
        <p:spPr>
          <a:xfrm>
            <a:off x="10271520" y="2080440"/>
            <a:ext cx="11883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Arial"/>
                <a:ea typeface="Arial"/>
              </a:rPr>
              <a:t>75 min</a:t>
            </a:r>
            <a:endParaRPr b="0" lang="en-US" sz="1300" spc="-1" strike="noStrike">
              <a:solidFill>
                <a:srgbClr val="000000"/>
              </a:solidFill>
              <a:latin typeface="Arial"/>
            </a:endParaRPr>
          </a:p>
        </p:txBody>
      </p:sp>
      <p:sp>
        <p:nvSpPr>
          <p:cNvPr id="29" name="Shape 9"/>
          <p:cNvSpPr/>
          <p:nvPr/>
        </p:nvSpPr>
        <p:spPr>
          <a:xfrm>
            <a:off x="548640" y="3108960"/>
            <a:ext cx="11094120" cy="1234080"/>
          </a:xfrm>
          <a:prstGeom prst="roundRect">
            <a:avLst>
              <a:gd name="adj" fmla="val 5926"/>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 name="Shape 10"/>
          <p:cNvSpPr/>
          <p:nvPr/>
        </p:nvSpPr>
        <p:spPr>
          <a:xfrm>
            <a:off x="822960" y="3360600"/>
            <a:ext cx="731160" cy="73116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Text 11"/>
          <p:cNvSpPr/>
          <p:nvPr/>
        </p:nvSpPr>
        <p:spPr>
          <a:xfrm>
            <a:off x="822960" y="336060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Arial"/>
                <a:ea typeface="Arial"/>
              </a:rPr>
              <a:t>2</a:t>
            </a:r>
            <a:endParaRPr b="0" lang="en-US" sz="2600" spc="-1" strike="noStrike">
              <a:solidFill>
                <a:srgbClr val="000000"/>
              </a:solidFill>
              <a:latin typeface="Arial"/>
            </a:endParaRPr>
          </a:p>
        </p:txBody>
      </p:sp>
      <p:sp>
        <p:nvSpPr>
          <p:cNvPr id="32" name="Text 12"/>
          <p:cNvSpPr/>
          <p:nvPr/>
        </p:nvSpPr>
        <p:spPr>
          <a:xfrm>
            <a:off x="1783080" y="3218760"/>
            <a:ext cx="786348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6324f"/>
                </a:solidFill>
                <a:latin typeface="Arial"/>
                <a:ea typeface="Arial"/>
              </a:rPr>
              <a:t>Approvisionner en fournitures</a:t>
            </a:r>
            <a:endParaRPr b="0" lang="en-US" sz="1800" spc="-1" strike="noStrike">
              <a:solidFill>
                <a:srgbClr val="000000"/>
              </a:solidFill>
              <a:latin typeface="Arial"/>
            </a:endParaRPr>
          </a:p>
        </p:txBody>
      </p:sp>
      <p:sp>
        <p:nvSpPr>
          <p:cNvPr id="33" name="Text 13"/>
          <p:cNvSpPr/>
          <p:nvPr/>
        </p:nvSpPr>
        <p:spPr>
          <a:xfrm>
            <a:off x="1783080" y="3639240"/>
            <a:ext cx="78634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51606e"/>
                </a:solidFill>
                <a:latin typeface="Arial"/>
                <a:ea typeface="Arial"/>
              </a:rPr>
              <a:t>Processus d'approvisionnement • Suivi des stocks et Transition Écologique et Énergétique</a:t>
            </a:r>
            <a:endParaRPr b="0" lang="en-US" sz="1250" spc="-1" strike="noStrike">
              <a:solidFill>
                <a:srgbClr val="000000"/>
              </a:solidFill>
              <a:latin typeface="Arial"/>
            </a:endParaRPr>
          </a:p>
        </p:txBody>
      </p:sp>
      <p:sp>
        <p:nvSpPr>
          <p:cNvPr id="34" name="Shape 14"/>
          <p:cNvSpPr/>
          <p:nvPr/>
        </p:nvSpPr>
        <p:spPr>
          <a:xfrm>
            <a:off x="10271520" y="3497760"/>
            <a:ext cx="1188360" cy="456840"/>
          </a:xfrm>
          <a:prstGeom prst="roundRect">
            <a:avLst>
              <a:gd name="adj" fmla="val 18000"/>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 name="Text 15"/>
          <p:cNvSpPr/>
          <p:nvPr/>
        </p:nvSpPr>
        <p:spPr>
          <a:xfrm>
            <a:off x="10271520" y="3497760"/>
            <a:ext cx="11883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Arial"/>
                <a:ea typeface="Arial"/>
              </a:rPr>
              <a:t>60 min</a:t>
            </a:r>
            <a:endParaRPr b="0" lang="en-US" sz="1300" spc="-1" strike="noStrike">
              <a:solidFill>
                <a:srgbClr val="000000"/>
              </a:solidFill>
              <a:latin typeface="Arial"/>
            </a:endParaRPr>
          </a:p>
        </p:txBody>
      </p:sp>
      <p:sp>
        <p:nvSpPr>
          <p:cNvPr id="36" name="Shape 16"/>
          <p:cNvSpPr/>
          <p:nvPr/>
        </p:nvSpPr>
        <p:spPr>
          <a:xfrm>
            <a:off x="548640" y="4526280"/>
            <a:ext cx="11094120" cy="1234080"/>
          </a:xfrm>
          <a:prstGeom prst="roundRect">
            <a:avLst>
              <a:gd name="adj" fmla="val 5926"/>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 name="Shape 17"/>
          <p:cNvSpPr/>
          <p:nvPr/>
        </p:nvSpPr>
        <p:spPr>
          <a:xfrm>
            <a:off x="822960" y="4777920"/>
            <a:ext cx="731160" cy="73116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Text 18"/>
          <p:cNvSpPr/>
          <p:nvPr/>
        </p:nvSpPr>
        <p:spPr>
          <a:xfrm>
            <a:off x="822960" y="477792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Arial"/>
                <a:ea typeface="Arial"/>
              </a:rPr>
              <a:t>3</a:t>
            </a:r>
            <a:endParaRPr b="0" lang="en-US" sz="2600" spc="-1" strike="noStrike">
              <a:solidFill>
                <a:srgbClr val="000000"/>
              </a:solidFill>
              <a:latin typeface="Arial"/>
            </a:endParaRPr>
          </a:p>
        </p:txBody>
      </p:sp>
      <p:sp>
        <p:nvSpPr>
          <p:cNvPr id="39" name="Text 19"/>
          <p:cNvSpPr/>
          <p:nvPr/>
        </p:nvSpPr>
        <p:spPr>
          <a:xfrm>
            <a:off x="1783080" y="4636080"/>
            <a:ext cx="786348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6324f"/>
                </a:solidFill>
                <a:latin typeface="Arial"/>
                <a:ea typeface="Arial"/>
              </a:rPr>
              <a:t>Suivre les interventions des prestataires</a:t>
            </a:r>
            <a:endParaRPr b="0" lang="en-US" sz="1800" spc="-1" strike="noStrike">
              <a:solidFill>
                <a:srgbClr val="000000"/>
              </a:solidFill>
              <a:latin typeface="Arial"/>
            </a:endParaRPr>
          </a:p>
        </p:txBody>
      </p:sp>
      <p:sp>
        <p:nvSpPr>
          <p:cNvPr id="40" name="Text 20"/>
          <p:cNvSpPr/>
          <p:nvPr/>
        </p:nvSpPr>
        <p:spPr>
          <a:xfrm>
            <a:off x="1783080" y="5056560"/>
            <a:ext cx="78634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51606e"/>
                </a:solidFill>
                <a:latin typeface="Arial"/>
                <a:ea typeface="Arial"/>
              </a:rPr>
              <a:t>Enregistrement et priorisation • Contrôle du cahier des charges • Traçabilité jusqu'à clôture</a:t>
            </a:r>
            <a:endParaRPr b="0" lang="en-US" sz="1250" spc="-1" strike="noStrike">
              <a:solidFill>
                <a:srgbClr val="000000"/>
              </a:solidFill>
              <a:latin typeface="Arial"/>
            </a:endParaRPr>
          </a:p>
        </p:txBody>
      </p:sp>
      <p:sp>
        <p:nvSpPr>
          <p:cNvPr id="41" name="Shape 21"/>
          <p:cNvSpPr/>
          <p:nvPr/>
        </p:nvSpPr>
        <p:spPr>
          <a:xfrm>
            <a:off x="10271520" y="4915080"/>
            <a:ext cx="1188360" cy="456840"/>
          </a:xfrm>
          <a:prstGeom prst="roundRect">
            <a:avLst>
              <a:gd name="adj" fmla="val 18000"/>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Text 22"/>
          <p:cNvSpPr/>
          <p:nvPr/>
        </p:nvSpPr>
        <p:spPr>
          <a:xfrm>
            <a:off x="10271520" y="4915080"/>
            <a:ext cx="11883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Arial"/>
                <a:ea typeface="Arial"/>
              </a:rPr>
              <a:t>75 min</a:t>
            </a:r>
            <a:endParaRPr b="0" lang="en-US" sz="1300" spc="-1" strike="noStrike">
              <a:solidFill>
                <a:srgbClr val="000000"/>
              </a:solidFill>
              <a:latin typeface="Arial"/>
            </a:endParaRPr>
          </a:p>
        </p:txBody>
      </p:sp>
      <p:sp>
        <p:nvSpPr>
          <p:cNvPr id="43" name="Text 2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44" name="Text 2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Text 0"/>
          <p:cNvSpPr/>
          <p:nvPr/>
        </p:nvSpPr>
        <p:spPr>
          <a:xfrm>
            <a:off x="548640" y="457200"/>
            <a:ext cx="9143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6324f"/>
                </a:solidFill>
                <a:latin typeface="Arial"/>
                <a:ea typeface="Arial"/>
              </a:rPr>
              <a:t>Repères du module</a:t>
            </a:r>
            <a:endParaRPr b="0" lang="en-US" sz="3000" spc="-1" strike="noStrike">
              <a:solidFill>
                <a:srgbClr val="000000"/>
              </a:solidFill>
              <a:latin typeface="Arial"/>
            </a:endParaRPr>
          </a:p>
        </p:txBody>
      </p:sp>
      <p:sp>
        <p:nvSpPr>
          <p:cNvPr id="46" name="Shape 1"/>
          <p:cNvSpPr/>
          <p:nvPr/>
        </p:nvSpPr>
        <p:spPr>
          <a:xfrm>
            <a:off x="548640" y="1234440"/>
            <a:ext cx="5364000" cy="1599840"/>
          </a:xfrm>
          <a:prstGeom prst="roundRect">
            <a:avLst>
              <a:gd name="adj" fmla="val 571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 name="Shape 2"/>
          <p:cNvSpPr/>
          <p:nvPr/>
        </p:nvSpPr>
        <p:spPr>
          <a:xfrm>
            <a:off x="777240" y="1463040"/>
            <a:ext cx="639720" cy="63972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 name="Text 3"/>
          <p:cNvSpPr/>
          <p:nvPr/>
        </p:nvSpPr>
        <p:spPr>
          <a:xfrm>
            <a:off x="777240" y="146304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pc="-1" strike="noStrike">
                <a:solidFill>
                  <a:srgbClr val="ffffff"/>
                </a:solidFill>
                <a:latin typeface="Arial"/>
                <a:ea typeface="Arial"/>
              </a:rPr>
              <a:t>⏱</a:t>
            </a:r>
            <a:endParaRPr b="0" lang="en-US" sz="2200" spc="-1" strike="noStrike">
              <a:solidFill>
                <a:srgbClr val="000000"/>
              </a:solidFill>
              <a:latin typeface="Arial"/>
            </a:endParaRPr>
          </a:p>
        </p:txBody>
      </p:sp>
      <p:sp>
        <p:nvSpPr>
          <p:cNvPr id="49" name="Text 4"/>
          <p:cNvSpPr/>
          <p:nvPr/>
        </p:nvSpPr>
        <p:spPr>
          <a:xfrm>
            <a:off x="1554480" y="1435680"/>
            <a:ext cx="4175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DURÉE</a:t>
            </a:r>
            <a:endParaRPr b="0" lang="en-US" sz="1200" spc="-1" strike="noStrike">
              <a:solidFill>
                <a:srgbClr val="000000"/>
              </a:solidFill>
              <a:latin typeface="Arial"/>
            </a:endParaRPr>
          </a:p>
        </p:txBody>
      </p:sp>
      <p:sp>
        <p:nvSpPr>
          <p:cNvPr id="50" name="Text 5"/>
          <p:cNvSpPr/>
          <p:nvPr/>
        </p:nvSpPr>
        <p:spPr>
          <a:xfrm>
            <a:off x="1554480" y="1737360"/>
            <a:ext cx="4175280" cy="959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b2430"/>
                </a:solidFill>
                <a:latin typeface="Arial"/>
                <a:ea typeface="Arial"/>
              </a:rPr>
              <a:t>3 heures 30</a:t>
            </a:r>
            <a:endParaRPr b="0" lang="en-US" sz="1250" spc="-1" strike="noStrike">
              <a:solidFill>
                <a:srgbClr val="000000"/>
              </a:solidFill>
              <a:latin typeface="Arial"/>
            </a:endParaRPr>
          </a:p>
        </p:txBody>
      </p:sp>
      <p:sp>
        <p:nvSpPr>
          <p:cNvPr id="51" name="Shape 6"/>
          <p:cNvSpPr/>
          <p:nvPr/>
        </p:nvSpPr>
        <p:spPr>
          <a:xfrm>
            <a:off x="6278760" y="1234440"/>
            <a:ext cx="5364000" cy="1599840"/>
          </a:xfrm>
          <a:prstGeom prst="roundRect">
            <a:avLst>
              <a:gd name="adj" fmla="val 571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 name="Shape 7"/>
          <p:cNvSpPr/>
          <p:nvPr/>
        </p:nvSpPr>
        <p:spPr>
          <a:xfrm>
            <a:off x="6507360" y="1463040"/>
            <a:ext cx="639720" cy="63972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Text 8"/>
          <p:cNvSpPr/>
          <p:nvPr/>
        </p:nvSpPr>
        <p:spPr>
          <a:xfrm>
            <a:off x="6507360" y="146304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pc="-1" strike="noStrike">
                <a:solidFill>
                  <a:srgbClr val="ffffff"/>
                </a:solidFill>
                <a:latin typeface="Arial"/>
                <a:ea typeface="Arial"/>
              </a:rPr>
              <a:t>👥</a:t>
            </a:r>
            <a:endParaRPr b="0" lang="en-US" sz="2200" spc="-1" strike="noStrike">
              <a:solidFill>
                <a:srgbClr val="000000"/>
              </a:solidFill>
              <a:latin typeface="Arial"/>
            </a:endParaRPr>
          </a:p>
        </p:txBody>
      </p:sp>
      <p:sp>
        <p:nvSpPr>
          <p:cNvPr id="54" name="Text 9"/>
          <p:cNvSpPr/>
          <p:nvPr/>
        </p:nvSpPr>
        <p:spPr>
          <a:xfrm>
            <a:off x="7284600" y="1435680"/>
            <a:ext cx="4175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PUBLIC</a:t>
            </a:r>
            <a:endParaRPr b="0" lang="en-US" sz="1200" spc="-1" strike="noStrike">
              <a:solidFill>
                <a:srgbClr val="000000"/>
              </a:solidFill>
              <a:latin typeface="Arial"/>
            </a:endParaRPr>
          </a:p>
        </p:txBody>
      </p:sp>
      <p:sp>
        <p:nvSpPr>
          <p:cNvPr id="55" name="Text 10"/>
          <p:cNvSpPr/>
          <p:nvPr/>
        </p:nvSpPr>
        <p:spPr>
          <a:xfrm>
            <a:off x="7284600" y="1737360"/>
            <a:ext cx="4175280" cy="959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b2430"/>
                </a:solidFill>
                <a:latin typeface="Arial"/>
                <a:ea typeface="Arial"/>
              </a:rPr>
              <a:t>Apprenants du CQP Chargé(e) d'Accueil en Entreprise (15 max.)</a:t>
            </a:r>
            <a:endParaRPr b="0" lang="en-US" sz="1250" spc="-1" strike="noStrike">
              <a:solidFill>
                <a:srgbClr val="000000"/>
              </a:solidFill>
              <a:latin typeface="Arial"/>
            </a:endParaRPr>
          </a:p>
        </p:txBody>
      </p:sp>
      <p:sp>
        <p:nvSpPr>
          <p:cNvPr id="56" name="Shape 11"/>
          <p:cNvSpPr/>
          <p:nvPr/>
        </p:nvSpPr>
        <p:spPr>
          <a:xfrm>
            <a:off x="548640" y="3108960"/>
            <a:ext cx="5364000" cy="1599840"/>
          </a:xfrm>
          <a:prstGeom prst="roundRect">
            <a:avLst>
              <a:gd name="adj" fmla="val 571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 name="Shape 12"/>
          <p:cNvSpPr/>
          <p:nvPr/>
        </p:nvSpPr>
        <p:spPr>
          <a:xfrm>
            <a:off x="777240" y="3337560"/>
            <a:ext cx="639720" cy="63972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Text 13"/>
          <p:cNvSpPr/>
          <p:nvPr/>
        </p:nvSpPr>
        <p:spPr>
          <a:xfrm>
            <a:off x="777240" y="333756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pc="-1" strike="noStrike">
                <a:solidFill>
                  <a:srgbClr val="ffffff"/>
                </a:solidFill>
                <a:latin typeface="Arial"/>
                <a:ea typeface="Arial"/>
              </a:rPr>
              <a:t>✅</a:t>
            </a:r>
            <a:endParaRPr b="0" lang="en-US" sz="2200" spc="-1" strike="noStrike">
              <a:solidFill>
                <a:srgbClr val="000000"/>
              </a:solidFill>
              <a:latin typeface="Arial"/>
            </a:endParaRPr>
          </a:p>
        </p:txBody>
      </p:sp>
      <p:sp>
        <p:nvSpPr>
          <p:cNvPr id="59" name="Text 14"/>
          <p:cNvSpPr/>
          <p:nvPr/>
        </p:nvSpPr>
        <p:spPr>
          <a:xfrm>
            <a:off x="1554480" y="3310200"/>
            <a:ext cx="4175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PRÉREQUIS</a:t>
            </a:r>
            <a:endParaRPr b="0" lang="en-US" sz="1200" spc="-1" strike="noStrike">
              <a:solidFill>
                <a:srgbClr val="000000"/>
              </a:solidFill>
              <a:latin typeface="Arial"/>
            </a:endParaRPr>
          </a:p>
        </p:txBody>
      </p:sp>
      <p:sp>
        <p:nvSpPr>
          <p:cNvPr id="60" name="Text 15"/>
          <p:cNvSpPr/>
          <p:nvPr/>
        </p:nvSpPr>
        <p:spPr>
          <a:xfrm>
            <a:off x="1554480" y="3611880"/>
            <a:ext cx="4175280" cy="959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b2430"/>
                </a:solidFill>
                <a:latin typeface="Arial"/>
                <a:ea typeface="Arial"/>
              </a:rPr>
              <a:t>Français lu/écrit/parlé • Anglais A1 • Casier judiciaire vierge • Permis B recommandé</a:t>
            </a:r>
            <a:endParaRPr b="0" lang="en-US" sz="1250" spc="-1" strike="noStrike">
              <a:solidFill>
                <a:srgbClr val="000000"/>
              </a:solidFill>
              <a:latin typeface="Arial"/>
            </a:endParaRPr>
          </a:p>
        </p:txBody>
      </p:sp>
      <p:sp>
        <p:nvSpPr>
          <p:cNvPr id="61" name="Shape 16"/>
          <p:cNvSpPr/>
          <p:nvPr/>
        </p:nvSpPr>
        <p:spPr>
          <a:xfrm>
            <a:off x="6278760" y="3108960"/>
            <a:ext cx="5364000" cy="1599840"/>
          </a:xfrm>
          <a:prstGeom prst="roundRect">
            <a:avLst>
              <a:gd name="adj" fmla="val 571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2" name="Shape 17"/>
          <p:cNvSpPr/>
          <p:nvPr/>
        </p:nvSpPr>
        <p:spPr>
          <a:xfrm>
            <a:off x="6507360" y="3337560"/>
            <a:ext cx="639720" cy="63972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 name="Text 18"/>
          <p:cNvSpPr/>
          <p:nvPr/>
        </p:nvSpPr>
        <p:spPr>
          <a:xfrm>
            <a:off x="6507360" y="333756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pc="-1" strike="noStrike">
                <a:solidFill>
                  <a:srgbClr val="ffffff"/>
                </a:solidFill>
                <a:latin typeface="Arial"/>
                <a:ea typeface="Arial"/>
              </a:rPr>
              <a:t>📝</a:t>
            </a:r>
            <a:endParaRPr b="0" lang="en-US" sz="2200" spc="-1" strike="noStrike">
              <a:solidFill>
                <a:srgbClr val="000000"/>
              </a:solidFill>
              <a:latin typeface="Arial"/>
            </a:endParaRPr>
          </a:p>
        </p:txBody>
      </p:sp>
      <p:sp>
        <p:nvSpPr>
          <p:cNvPr id="64" name="Text 19"/>
          <p:cNvSpPr/>
          <p:nvPr/>
        </p:nvSpPr>
        <p:spPr>
          <a:xfrm>
            <a:off x="7284600" y="3310200"/>
            <a:ext cx="4175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ÉVALUATION</a:t>
            </a:r>
            <a:endParaRPr b="0" lang="en-US" sz="1200" spc="-1" strike="noStrike">
              <a:solidFill>
                <a:srgbClr val="000000"/>
              </a:solidFill>
              <a:latin typeface="Arial"/>
            </a:endParaRPr>
          </a:p>
        </p:txBody>
      </p:sp>
      <p:sp>
        <p:nvSpPr>
          <p:cNvPr id="65" name="Text 20"/>
          <p:cNvSpPr/>
          <p:nvPr/>
        </p:nvSpPr>
        <p:spPr>
          <a:xfrm>
            <a:off x="7284600" y="3611880"/>
            <a:ext cx="4175280" cy="959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b2430"/>
                </a:solidFill>
                <a:latin typeface="Arial"/>
                <a:ea typeface="Arial"/>
              </a:rPr>
              <a:t>Contrôle continu – 1 QCM sommatif en fin de module</a:t>
            </a:r>
            <a:endParaRPr b="0" lang="en-US" sz="1250" spc="-1" strike="noStrike">
              <a:solidFill>
                <a:srgbClr val="000000"/>
              </a:solidFill>
              <a:latin typeface="Arial"/>
            </a:endParaRPr>
          </a:p>
        </p:txBody>
      </p:sp>
      <p:sp>
        <p:nvSpPr>
          <p:cNvPr id="66" name="Text 21"/>
          <p:cNvSpPr/>
          <p:nvPr/>
        </p:nvSpPr>
        <p:spPr>
          <a:xfrm>
            <a:off x="548640" y="5029200"/>
            <a:ext cx="11094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51606e"/>
                </a:solidFill>
                <a:latin typeface="Arial"/>
                <a:ea typeface="Arial"/>
              </a:rPr>
              <a:t>Moyens andragogiques : supports théoriques PowerPoint • brainstorming • exercices et mises en situation</a:t>
            </a:r>
            <a:endParaRPr b="0" lang="en-US" sz="1200" spc="-1" strike="noStrike">
              <a:solidFill>
                <a:srgbClr val="000000"/>
              </a:solidFill>
              <a:latin typeface="Arial"/>
            </a:endParaRPr>
          </a:p>
        </p:txBody>
      </p:sp>
      <p:sp>
        <p:nvSpPr>
          <p:cNvPr id="67" name="Text 22"/>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68" name="Text 23"/>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69" name="Shape 0"/>
          <p:cNvSpPr/>
          <p:nvPr/>
        </p:nvSpPr>
        <p:spPr>
          <a:xfrm>
            <a:off x="8899920" y="-731520"/>
            <a:ext cx="2925720" cy="2925720"/>
          </a:xfrm>
          <a:prstGeom prst="roundRect">
            <a:avLst>
              <a:gd name="adj" fmla="val 50000"/>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Shape 1"/>
          <p:cNvSpPr/>
          <p:nvPr/>
        </p:nvSpPr>
        <p:spPr>
          <a:xfrm>
            <a:off x="10180080" y="4937760"/>
            <a:ext cx="2377080" cy="2377080"/>
          </a:xfrm>
          <a:prstGeom prst="roundRect">
            <a:avLst>
              <a:gd name="adj" fmla="val 50000"/>
            </a:avLst>
          </a:prstGeom>
          <a:solidFill>
            <a:srgbClr val="2e9cca">
              <a:alpha val="30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Shape 2"/>
          <p:cNvSpPr/>
          <p:nvPr/>
        </p:nvSpPr>
        <p:spPr>
          <a:xfrm>
            <a:off x="548640" y="457200"/>
            <a:ext cx="255996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Text 3"/>
          <p:cNvSpPr/>
          <p:nvPr/>
        </p:nvSpPr>
        <p:spPr>
          <a:xfrm>
            <a:off x="548640" y="457200"/>
            <a:ext cx="25599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OBJECTIF GÉNÉRAL</a:t>
            </a:r>
            <a:endParaRPr b="0" lang="en-US" sz="1200" spc="-1" strike="noStrike">
              <a:solidFill>
                <a:srgbClr val="ffffff"/>
              </a:solidFill>
              <a:latin typeface="Arial"/>
            </a:endParaRPr>
          </a:p>
        </p:txBody>
      </p:sp>
      <p:sp>
        <p:nvSpPr>
          <p:cNvPr id="73" name="Text 4"/>
          <p:cNvSpPr/>
          <p:nvPr/>
        </p:nvSpPr>
        <p:spPr>
          <a:xfrm>
            <a:off x="548640" y="1188720"/>
            <a:ext cx="8686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400" spc="-1" strike="noStrike">
                <a:solidFill>
                  <a:srgbClr val="9fb8cc"/>
                </a:solidFill>
                <a:latin typeface="Arial"/>
                <a:ea typeface="Arial"/>
              </a:rPr>
              <a:t>À l'issue de la formation, les apprenants seront capables de…</a:t>
            </a:r>
            <a:endParaRPr b="0" lang="en-US" sz="1400" spc="-1" strike="noStrike">
              <a:solidFill>
                <a:srgbClr val="ffffff"/>
              </a:solidFill>
              <a:latin typeface="Arial"/>
            </a:endParaRPr>
          </a:p>
        </p:txBody>
      </p:sp>
      <p:sp>
        <p:nvSpPr>
          <p:cNvPr id="74" name="Text 5"/>
          <p:cNvSpPr/>
          <p:nvPr/>
        </p:nvSpPr>
        <p:spPr>
          <a:xfrm>
            <a:off x="548640" y="1737360"/>
            <a:ext cx="9326520" cy="292572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1" lang="en-US" sz="2600" spc="-1" strike="noStrike">
                <a:solidFill>
                  <a:srgbClr val="ffffff"/>
                </a:solidFill>
                <a:latin typeface="Arial"/>
                <a:ea typeface="Arial"/>
              </a:rPr>
              <a:t>Coordonner les ressources, les fournitures et les interventions des prestataires en assurant leur suivi et leur traçabilité, afin de garantir un service continu, fonctionnel et conforme aux exigences de l'entreprise ou de la structure cliente.</a:t>
            </a:r>
            <a:endParaRPr b="0" lang="en-US" sz="2600" spc="-1" strike="noStrike">
              <a:solidFill>
                <a:srgbClr val="ffffff"/>
              </a:solidFill>
              <a:latin typeface="Arial"/>
            </a:endParaRPr>
          </a:p>
        </p:txBody>
      </p:sp>
      <p:sp>
        <p:nvSpPr>
          <p:cNvPr id="75" name="Text 6"/>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76" name="Text 7"/>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3</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Text 0"/>
          <p:cNvSpPr/>
          <p:nvPr/>
        </p:nvSpPr>
        <p:spPr>
          <a:xfrm>
            <a:off x="548640" y="457200"/>
            <a:ext cx="7314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6324f"/>
                </a:solidFill>
                <a:latin typeface="Arial"/>
                <a:ea typeface="Arial"/>
              </a:rPr>
              <a:t>Objectifs intermédiaires</a:t>
            </a:r>
            <a:endParaRPr b="0" lang="en-US" sz="3000" spc="-1" strike="noStrike">
              <a:solidFill>
                <a:srgbClr val="000000"/>
              </a:solidFill>
              <a:latin typeface="Arial"/>
            </a:endParaRPr>
          </a:p>
        </p:txBody>
      </p:sp>
      <p:sp>
        <p:nvSpPr>
          <p:cNvPr id="78" name="Text 1"/>
          <p:cNvSpPr/>
          <p:nvPr/>
        </p:nvSpPr>
        <p:spPr>
          <a:xfrm>
            <a:off x="10545840" y="502920"/>
            <a:ext cx="1096920" cy="4568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400" spc="-1" strike="noStrike">
                <a:solidFill>
                  <a:srgbClr val="51606e"/>
                </a:solidFill>
                <a:latin typeface="Arial"/>
                <a:ea typeface="Arial"/>
              </a:rPr>
              <a:t>1 / 2</a:t>
            </a:r>
            <a:endParaRPr b="0" lang="en-US" sz="1400" spc="-1" strike="noStrike">
              <a:solidFill>
                <a:srgbClr val="000000"/>
              </a:solidFill>
              <a:latin typeface="Arial"/>
            </a:endParaRPr>
          </a:p>
        </p:txBody>
      </p:sp>
      <p:sp>
        <p:nvSpPr>
          <p:cNvPr id="79" name="Shape 2"/>
          <p:cNvSpPr/>
          <p:nvPr/>
        </p:nvSpPr>
        <p:spPr>
          <a:xfrm>
            <a:off x="548640" y="137160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Text 3"/>
          <p:cNvSpPr/>
          <p:nvPr/>
        </p:nvSpPr>
        <p:spPr>
          <a:xfrm>
            <a:off x="548640" y="13716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1</a:t>
            </a:r>
            <a:endParaRPr b="0" lang="en-US" sz="1800" spc="-1" strike="noStrike">
              <a:solidFill>
                <a:srgbClr val="000000"/>
              </a:solidFill>
              <a:latin typeface="Arial"/>
            </a:endParaRPr>
          </a:p>
        </p:txBody>
      </p:sp>
      <p:sp>
        <p:nvSpPr>
          <p:cNvPr id="81" name="Text 4"/>
          <p:cNvSpPr/>
          <p:nvPr/>
        </p:nvSpPr>
        <p:spPr>
          <a:xfrm>
            <a:off x="1280160" y="132588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Analyser les besoins en ressources afin d'en planifier l'utilisation selon les priorités définies.</a:t>
            </a:r>
            <a:endParaRPr b="0" lang="en-US" sz="1500" spc="-1" strike="noStrike">
              <a:solidFill>
                <a:srgbClr val="000000"/>
              </a:solidFill>
              <a:latin typeface="Arial"/>
            </a:endParaRPr>
          </a:p>
        </p:txBody>
      </p:sp>
      <p:sp>
        <p:nvSpPr>
          <p:cNvPr id="82" name="Shape 5"/>
          <p:cNvSpPr/>
          <p:nvPr/>
        </p:nvSpPr>
        <p:spPr>
          <a:xfrm>
            <a:off x="548640" y="2432160"/>
            <a:ext cx="11094120" cy="360"/>
          </a:xfrm>
          <a:prstGeom prst="line">
            <a:avLst/>
          </a:prstGeom>
          <a:ln w="12700">
            <a:solidFill>
              <a:srgbClr val="d7e3e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83" name="Shape 6"/>
          <p:cNvSpPr/>
          <p:nvPr/>
        </p:nvSpPr>
        <p:spPr>
          <a:xfrm>
            <a:off x="548640" y="254196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Text 7"/>
          <p:cNvSpPr/>
          <p:nvPr/>
        </p:nvSpPr>
        <p:spPr>
          <a:xfrm>
            <a:off x="548640" y="254196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2</a:t>
            </a:r>
            <a:endParaRPr b="0" lang="en-US" sz="1800" spc="-1" strike="noStrike">
              <a:solidFill>
                <a:srgbClr val="000000"/>
              </a:solidFill>
              <a:latin typeface="Arial"/>
            </a:endParaRPr>
          </a:p>
        </p:txBody>
      </p:sp>
      <p:sp>
        <p:nvSpPr>
          <p:cNvPr id="85" name="Text 8"/>
          <p:cNvSpPr/>
          <p:nvPr/>
        </p:nvSpPr>
        <p:spPr>
          <a:xfrm>
            <a:off x="1280160" y="249624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Appliquer les consignes d'aménagement des espaces en tenant compte des exigences d'accessibilité pour les personnes à mobilité réduite.</a:t>
            </a:r>
            <a:endParaRPr b="0" lang="en-US" sz="1500" spc="-1" strike="noStrike">
              <a:solidFill>
                <a:srgbClr val="000000"/>
              </a:solidFill>
              <a:latin typeface="Arial"/>
            </a:endParaRPr>
          </a:p>
        </p:txBody>
      </p:sp>
      <p:sp>
        <p:nvSpPr>
          <p:cNvPr id="86" name="Shape 9"/>
          <p:cNvSpPr/>
          <p:nvPr/>
        </p:nvSpPr>
        <p:spPr>
          <a:xfrm>
            <a:off x="548640" y="3602520"/>
            <a:ext cx="11094120" cy="360"/>
          </a:xfrm>
          <a:prstGeom prst="line">
            <a:avLst/>
          </a:prstGeom>
          <a:ln w="12700">
            <a:solidFill>
              <a:srgbClr val="d7e3e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87" name="Shape 10"/>
          <p:cNvSpPr/>
          <p:nvPr/>
        </p:nvSpPr>
        <p:spPr>
          <a:xfrm>
            <a:off x="548640" y="371232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Text 11"/>
          <p:cNvSpPr/>
          <p:nvPr/>
        </p:nvSpPr>
        <p:spPr>
          <a:xfrm>
            <a:off x="548640" y="371232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3</a:t>
            </a:r>
            <a:endParaRPr b="0" lang="en-US" sz="1800" spc="-1" strike="noStrike">
              <a:solidFill>
                <a:srgbClr val="000000"/>
              </a:solidFill>
              <a:latin typeface="Arial"/>
            </a:endParaRPr>
          </a:p>
        </p:txBody>
      </p:sp>
      <p:sp>
        <p:nvSpPr>
          <p:cNvPr id="89" name="Text 12"/>
          <p:cNvSpPr/>
          <p:nvPr/>
        </p:nvSpPr>
        <p:spPr>
          <a:xfrm>
            <a:off x="1280160" y="366660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Utiliser les outils de suivi pour assurer la traçabilité de l'utilisation des ressources et des équipements.</a:t>
            </a:r>
            <a:endParaRPr b="0" lang="en-US" sz="1500" spc="-1" strike="noStrike">
              <a:solidFill>
                <a:srgbClr val="000000"/>
              </a:solidFill>
              <a:latin typeface="Arial"/>
            </a:endParaRPr>
          </a:p>
        </p:txBody>
      </p:sp>
      <p:sp>
        <p:nvSpPr>
          <p:cNvPr id="90" name="Shape 13"/>
          <p:cNvSpPr/>
          <p:nvPr/>
        </p:nvSpPr>
        <p:spPr>
          <a:xfrm>
            <a:off x="548640" y="4772880"/>
            <a:ext cx="11094120" cy="360"/>
          </a:xfrm>
          <a:prstGeom prst="line">
            <a:avLst/>
          </a:prstGeom>
          <a:ln w="12700">
            <a:solidFill>
              <a:srgbClr val="d7e3e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91" name="Shape 14"/>
          <p:cNvSpPr/>
          <p:nvPr/>
        </p:nvSpPr>
        <p:spPr>
          <a:xfrm>
            <a:off x="548640" y="488304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Text 15"/>
          <p:cNvSpPr/>
          <p:nvPr/>
        </p:nvSpPr>
        <p:spPr>
          <a:xfrm>
            <a:off x="548640" y="488304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4</a:t>
            </a:r>
            <a:endParaRPr b="0" lang="en-US" sz="1800" spc="-1" strike="noStrike">
              <a:solidFill>
                <a:srgbClr val="000000"/>
              </a:solidFill>
              <a:latin typeface="Arial"/>
            </a:endParaRPr>
          </a:p>
        </p:txBody>
      </p:sp>
      <p:sp>
        <p:nvSpPr>
          <p:cNvPr id="93" name="Text 16"/>
          <p:cNvSpPr/>
          <p:nvPr/>
        </p:nvSpPr>
        <p:spPr>
          <a:xfrm>
            <a:off x="1280160" y="483732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Appliquer le processus d'approvisionnement des fournitures en fonction des consommations et des besoins identifiés.</a:t>
            </a:r>
            <a:endParaRPr b="0" lang="en-US" sz="1500" spc="-1" strike="noStrike">
              <a:solidFill>
                <a:srgbClr val="000000"/>
              </a:solidFill>
              <a:latin typeface="Arial"/>
            </a:endParaRPr>
          </a:p>
        </p:txBody>
      </p:sp>
      <p:sp>
        <p:nvSpPr>
          <p:cNvPr id="94" name="Text 17"/>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95" name="Text 18"/>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4</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Text 0"/>
          <p:cNvSpPr/>
          <p:nvPr/>
        </p:nvSpPr>
        <p:spPr>
          <a:xfrm>
            <a:off x="548640" y="457200"/>
            <a:ext cx="7314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6324f"/>
                </a:solidFill>
                <a:latin typeface="Arial"/>
                <a:ea typeface="Arial"/>
              </a:rPr>
              <a:t>Objectifs intermédiaires</a:t>
            </a:r>
            <a:endParaRPr b="0" lang="en-US" sz="3000" spc="-1" strike="noStrike">
              <a:solidFill>
                <a:srgbClr val="000000"/>
              </a:solidFill>
              <a:latin typeface="Arial"/>
            </a:endParaRPr>
          </a:p>
        </p:txBody>
      </p:sp>
      <p:sp>
        <p:nvSpPr>
          <p:cNvPr id="97" name="Text 1"/>
          <p:cNvSpPr/>
          <p:nvPr/>
        </p:nvSpPr>
        <p:spPr>
          <a:xfrm>
            <a:off x="10545840" y="502920"/>
            <a:ext cx="1096920" cy="4568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400" spc="-1" strike="noStrike">
                <a:solidFill>
                  <a:srgbClr val="51606e"/>
                </a:solidFill>
                <a:latin typeface="Arial"/>
                <a:ea typeface="Arial"/>
              </a:rPr>
              <a:t>2 / 2</a:t>
            </a:r>
            <a:endParaRPr b="0" lang="en-US" sz="1400" spc="-1" strike="noStrike">
              <a:solidFill>
                <a:srgbClr val="000000"/>
              </a:solidFill>
              <a:latin typeface="Arial"/>
            </a:endParaRPr>
          </a:p>
        </p:txBody>
      </p:sp>
      <p:sp>
        <p:nvSpPr>
          <p:cNvPr id="98" name="Shape 2"/>
          <p:cNvSpPr/>
          <p:nvPr/>
        </p:nvSpPr>
        <p:spPr>
          <a:xfrm>
            <a:off x="548640" y="137160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9" name="Text 3"/>
          <p:cNvSpPr/>
          <p:nvPr/>
        </p:nvSpPr>
        <p:spPr>
          <a:xfrm>
            <a:off x="548640" y="13716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5</a:t>
            </a:r>
            <a:endParaRPr b="0" lang="en-US" sz="1800" spc="-1" strike="noStrike">
              <a:solidFill>
                <a:srgbClr val="000000"/>
              </a:solidFill>
              <a:latin typeface="Arial"/>
            </a:endParaRPr>
          </a:p>
        </p:txBody>
      </p:sp>
      <p:sp>
        <p:nvSpPr>
          <p:cNvPr id="100" name="Text 4"/>
          <p:cNvSpPr/>
          <p:nvPr/>
        </p:nvSpPr>
        <p:spPr>
          <a:xfrm>
            <a:off x="1280160" y="132588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Mettre en œuvre le suivi des stocks et des consommations de fournitures en intégrant les exigences de gestion raisonnée liées à la Transition Écologique et Énergétique.</a:t>
            </a:r>
            <a:endParaRPr b="0" lang="en-US" sz="1500" spc="-1" strike="noStrike">
              <a:solidFill>
                <a:srgbClr val="000000"/>
              </a:solidFill>
              <a:latin typeface="Arial"/>
            </a:endParaRPr>
          </a:p>
        </p:txBody>
      </p:sp>
      <p:sp>
        <p:nvSpPr>
          <p:cNvPr id="101" name="Shape 5"/>
          <p:cNvSpPr/>
          <p:nvPr/>
        </p:nvSpPr>
        <p:spPr>
          <a:xfrm>
            <a:off x="548640" y="2432160"/>
            <a:ext cx="11094120" cy="360"/>
          </a:xfrm>
          <a:prstGeom prst="line">
            <a:avLst/>
          </a:prstGeom>
          <a:ln w="12700">
            <a:solidFill>
              <a:srgbClr val="d7e3e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02" name="Shape 6"/>
          <p:cNvSpPr/>
          <p:nvPr/>
        </p:nvSpPr>
        <p:spPr>
          <a:xfrm>
            <a:off x="548640" y="254196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 name="Text 7"/>
          <p:cNvSpPr/>
          <p:nvPr/>
        </p:nvSpPr>
        <p:spPr>
          <a:xfrm>
            <a:off x="548640" y="254196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6</a:t>
            </a:r>
            <a:endParaRPr b="0" lang="en-US" sz="1800" spc="-1" strike="noStrike">
              <a:solidFill>
                <a:srgbClr val="000000"/>
              </a:solidFill>
              <a:latin typeface="Arial"/>
            </a:endParaRPr>
          </a:p>
        </p:txBody>
      </p:sp>
      <p:sp>
        <p:nvSpPr>
          <p:cNvPr id="104" name="Text 8"/>
          <p:cNvSpPr/>
          <p:nvPr/>
        </p:nvSpPr>
        <p:spPr>
          <a:xfrm>
            <a:off x="1280160" y="249624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Appliquer les modalités d'enregistrement et de planification des demandes d'intervention selon les priorités définies.</a:t>
            </a:r>
            <a:endParaRPr b="0" lang="en-US" sz="1500" spc="-1" strike="noStrike">
              <a:solidFill>
                <a:srgbClr val="000000"/>
              </a:solidFill>
              <a:latin typeface="Arial"/>
            </a:endParaRPr>
          </a:p>
        </p:txBody>
      </p:sp>
      <p:sp>
        <p:nvSpPr>
          <p:cNvPr id="105" name="Shape 9"/>
          <p:cNvSpPr/>
          <p:nvPr/>
        </p:nvSpPr>
        <p:spPr>
          <a:xfrm>
            <a:off x="548640" y="3602520"/>
            <a:ext cx="11094120" cy="360"/>
          </a:xfrm>
          <a:prstGeom prst="line">
            <a:avLst/>
          </a:prstGeom>
          <a:ln w="12700">
            <a:solidFill>
              <a:srgbClr val="d7e3e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06" name="Shape 10"/>
          <p:cNvSpPr/>
          <p:nvPr/>
        </p:nvSpPr>
        <p:spPr>
          <a:xfrm>
            <a:off x="548640" y="371232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Text 11"/>
          <p:cNvSpPr/>
          <p:nvPr/>
        </p:nvSpPr>
        <p:spPr>
          <a:xfrm>
            <a:off x="548640" y="371232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7</a:t>
            </a:r>
            <a:endParaRPr b="0" lang="en-US" sz="1800" spc="-1" strike="noStrike">
              <a:solidFill>
                <a:srgbClr val="000000"/>
              </a:solidFill>
              <a:latin typeface="Arial"/>
            </a:endParaRPr>
          </a:p>
        </p:txBody>
      </p:sp>
      <p:sp>
        <p:nvSpPr>
          <p:cNvPr id="108" name="Text 12"/>
          <p:cNvSpPr/>
          <p:nvPr/>
        </p:nvSpPr>
        <p:spPr>
          <a:xfrm>
            <a:off x="1280160" y="366660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Comparer les interventions réalisées aux exigences du cahier des charges afin d'identifier les écarts éventuels.</a:t>
            </a:r>
            <a:endParaRPr b="0" lang="en-US" sz="1500" spc="-1" strike="noStrike">
              <a:solidFill>
                <a:srgbClr val="000000"/>
              </a:solidFill>
              <a:latin typeface="Arial"/>
            </a:endParaRPr>
          </a:p>
        </p:txBody>
      </p:sp>
      <p:sp>
        <p:nvSpPr>
          <p:cNvPr id="109" name="Shape 13"/>
          <p:cNvSpPr/>
          <p:nvPr/>
        </p:nvSpPr>
        <p:spPr>
          <a:xfrm>
            <a:off x="548640" y="4772880"/>
            <a:ext cx="11094120" cy="360"/>
          </a:xfrm>
          <a:prstGeom prst="line">
            <a:avLst/>
          </a:prstGeom>
          <a:ln w="12700">
            <a:solidFill>
              <a:srgbClr val="d7e3e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0" name="Shape 14"/>
          <p:cNvSpPr/>
          <p:nvPr/>
        </p:nvSpPr>
        <p:spPr>
          <a:xfrm>
            <a:off x="548640" y="4883040"/>
            <a:ext cx="502560" cy="502560"/>
          </a:xfrm>
          <a:prstGeom prst="roundRect">
            <a:avLst>
              <a:gd name="adj" fmla="val 18182"/>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Text 15"/>
          <p:cNvSpPr/>
          <p:nvPr/>
        </p:nvSpPr>
        <p:spPr>
          <a:xfrm>
            <a:off x="548640" y="488304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Arial"/>
                <a:ea typeface="Arial"/>
              </a:rPr>
              <a:t>8</a:t>
            </a:r>
            <a:endParaRPr b="0" lang="en-US" sz="1800" spc="-1" strike="noStrike">
              <a:solidFill>
                <a:srgbClr val="000000"/>
              </a:solidFill>
              <a:latin typeface="Arial"/>
            </a:endParaRPr>
          </a:p>
        </p:txBody>
      </p:sp>
      <p:sp>
        <p:nvSpPr>
          <p:cNvPr id="112" name="Text 16"/>
          <p:cNvSpPr/>
          <p:nvPr/>
        </p:nvSpPr>
        <p:spPr>
          <a:xfrm>
            <a:off x="1280160" y="4837320"/>
            <a:ext cx="10362600" cy="10785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500" spc="-1" strike="noStrike">
                <a:solidFill>
                  <a:srgbClr val="1b2430"/>
                </a:solidFill>
                <a:latin typeface="Arial"/>
                <a:ea typeface="Arial"/>
              </a:rPr>
              <a:t>Utiliser les outils de suivi pour assurer la traçabilité des interventions jusqu'à leur clôture.</a:t>
            </a:r>
            <a:endParaRPr b="0" lang="en-US" sz="1500" spc="-1" strike="noStrike">
              <a:solidFill>
                <a:srgbClr val="000000"/>
              </a:solidFill>
              <a:latin typeface="Arial"/>
            </a:endParaRPr>
          </a:p>
        </p:txBody>
      </p:sp>
      <p:sp>
        <p:nvSpPr>
          <p:cNvPr id="113" name="Text 17"/>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114" name="Text 18"/>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5</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115" name="Shape 0"/>
          <p:cNvSpPr/>
          <p:nvPr/>
        </p:nvSpPr>
        <p:spPr>
          <a:xfrm>
            <a:off x="0" y="0"/>
            <a:ext cx="12191400" cy="6857640"/>
          </a:xfrm>
          <a:prstGeom prst="rect">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Shape 1"/>
          <p:cNvSpPr/>
          <p:nvPr/>
        </p:nvSpPr>
        <p:spPr>
          <a:xfrm>
            <a:off x="8076960" y="-1828800"/>
            <a:ext cx="5486040" cy="5486040"/>
          </a:xfrm>
          <a:prstGeom prst="ellipse">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7" name="Shape 2"/>
          <p:cNvSpPr/>
          <p:nvPr/>
        </p:nvSpPr>
        <p:spPr>
          <a:xfrm>
            <a:off x="9265680" y="-731520"/>
            <a:ext cx="3291480" cy="3291480"/>
          </a:xfrm>
          <a:prstGeom prst="ellipse">
            <a:avLst/>
          </a:prstGeom>
          <a:solidFill>
            <a:srgbClr val="2e9cca">
              <a:alpha val="4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8" name="Text 3"/>
          <p:cNvSpPr/>
          <p:nvPr/>
        </p:nvSpPr>
        <p:spPr>
          <a:xfrm>
            <a:off x="548640" y="2286000"/>
            <a:ext cx="3657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299" strike="noStrike">
                <a:solidFill>
                  <a:srgbClr val="2e9cca"/>
                </a:solidFill>
                <a:latin typeface="Arial"/>
                <a:ea typeface="Arial"/>
              </a:rPr>
              <a:t>BLOC 1</a:t>
            </a:r>
            <a:endParaRPr b="0" lang="en-US" sz="1600" spc="-1" strike="noStrike">
              <a:solidFill>
                <a:srgbClr val="ffffff"/>
              </a:solidFill>
              <a:latin typeface="Arial"/>
            </a:endParaRPr>
          </a:p>
        </p:txBody>
      </p:sp>
      <p:sp>
        <p:nvSpPr>
          <p:cNvPr id="119" name="Text 4"/>
          <p:cNvSpPr/>
          <p:nvPr/>
        </p:nvSpPr>
        <p:spPr>
          <a:xfrm>
            <a:off x="548640" y="2743200"/>
            <a:ext cx="9600840" cy="1554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3800" spc="-1" strike="noStrike">
                <a:solidFill>
                  <a:srgbClr val="ffffff"/>
                </a:solidFill>
                <a:latin typeface="Arial"/>
                <a:ea typeface="Arial"/>
              </a:rPr>
              <a:t>Planifier l'utilisation des ressources</a:t>
            </a:r>
            <a:endParaRPr b="0" lang="en-US" sz="3800" spc="-1" strike="noStrike">
              <a:solidFill>
                <a:srgbClr val="ffffff"/>
              </a:solidFill>
              <a:latin typeface="Arial"/>
            </a:endParaRPr>
          </a:p>
        </p:txBody>
      </p:sp>
      <p:sp>
        <p:nvSpPr>
          <p:cNvPr id="120" name="Text 5"/>
          <p:cNvSpPr/>
          <p:nvPr/>
        </p:nvSpPr>
        <p:spPr>
          <a:xfrm>
            <a:off x="548640" y="4343400"/>
            <a:ext cx="91436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00" spc="-1" strike="noStrike">
                <a:solidFill>
                  <a:srgbClr val="afc8dc"/>
                </a:solidFill>
                <a:latin typeface="Arial"/>
                <a:ea typeface="Arial"/>
              </a:rPr>
              <a:t>Analyser les besoins, arbitrer les priorités et aménager les espaces</a:t>
            </a:r>
            <a:endParaRPr b="0" lang="en-US" sz="1500" spc="-1" strike="noStrike">
              <a:solidFill>
                <a:srgbClr val="ffffff"/>
              </a:solidFill>
              <a:latin typeface="Arial"/>
            </a:endParaRPr>
          </a:p>
        </p:txBody>
      </p:sp>
      <p:sp>
        <p:nvSpPr>
          <p:cNvPr id="121" name="Text 6"/>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122" name="Text 7"/>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6</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Shape 0"/>
          <p:cNvSpPr/>
          <p:nvPr/>
        </p:nvSpPr>
        <p:spPr>
          <a:xfrm>
            <a:off x="548640" y="457200"/>
            <a:ext cx="1462680" cy="383760"/>
          </a:xfrm>
          <a:prstGeom prst="roundRect">
            <a:avLst>
              <a:gd name="adj" fmla="val 1904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Text 1"/>
          <p:cNvSpPr/>
          <p:nvPr/>
        </p:nvSpPr>
        <p:spPr>
          <a:xfrm>
            <a:off x="548640" y="457200"/>
            <a:ext cx="14626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BLOC 1</a:t>
            </a:r>
            <a:endParaRPr b="0" lang="en-US" sz="1200" spc="-1" strike="noStrike">
              <a:solidFill>
                <a:srgbClr val="000000"/>
              </a:solidFill>
              <a:latin typeface="Arial"/>
            </a:endParaRPr>
          </a:p>
        </p:txBody>
      </p:sp>
      <p:sp>
        <p:nvSpPr>
          <p:cNvPr id="125" name="Text 2"/>
          <p:cNvSpPr/>
          <p:nvPr/>
        </p:nvSpPr>
        <p:spPr>
          <a:xfrm>
            <a:off x="2286000" y="457200"/>
            <a:ext cx="7772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6324f"/>
                </a:solidFill>
                <a:latin typeface="Arial"/>
                <a:ea typeface="Arial"/>
              </a:rPr>
              <a:t>Compétence visée et critères d'évaluation</a:t>
            </a:r>
            <a:endParaRPr b="0" lang="en-US" sz="1600" spc="-1" strike="noStrike">
              <a:solidFill>
                <a:srgbClr val="000000"/>
              </a:solidFill>
              <a:latin typeface="Arial"/>
            </a:endParaRPr>
          </a:p>
        </p:txBody>
      </p:sp>
      <p:sp>
        <p:nvSpPr>
          <p:cNvPr id="126" name="Shape 3"/>
          <p:cNvSpPr/>
          <p:nvPr/>
        </p:nvSpPr>
        <p:spPr>
          <a:xfrm>
            <a:off x="548640" y="1051560"/>
            <a:ext cx="11094120" cy="1051200"/>
          </a:xfrm>
          <a:prstGeom prst="roundRect">
            <a:avLst>
              <a:gd name="adj" fmla="val 6957"/>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Text 4"/>
          <p:cNvSpPr/>
          <p:nvPr/>
        </p:nvSpPr>
        <p:spPr>
          <a:xfrm>
            <a:off x="822960" y="1051560"/>
            <a:ext cx="10545480" cy="105120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350" spc="-1" strike="noStrike">
                <a:solidFill>
                  <a:srgbClr val="ffffff"/>
                </a:solidFill>
                <a:latin typeface="Arial"/>
                <a:ea typeface="Arial"/>
              </a:rPr>
              <a:t>Planifier l'utilisation des ressources en analysant les besoins, en arbitrant les priorités si nécessaire, et en aménageant les espaces selon les consignes prescrites, tout en veillant à l'accessibilité pour les personnes à mobilité réduite et en traçant rigoureusement les opérations afin d'optimiser l'organisation des espaces et de garantir un environnement fonctionnel et inclusif.</a:t>
            </a:r>
            <a:endParaRPr b="0" lang="en-US" sz="1350" spc="-1" strike="noStrike">
              <a:solidFill>
                <a:srgbClr val="000000"/>
              </a:solidFill>
              <a:latin typeface="Arial"/>
            </a:endParaRPr>
          </a:p>
        </p:txBody>
      </p:sp>
      <p:sp>
        <p:nvSpPr>
          <p:cNvPr id="128" name="Text 5"/>
          <p:cNvSpPr/>
          <p:nvPr/>
        </p:nvSpPr>
        <p:spPr>
          <a:xfrm>
            <a:off x="548640" y="233172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CRITÈRES D'ÉVALUATION ASSOCIÉS</a:t>
            </a:r>
            <a:endParaRPr b="0" lang="en-US" sz="1200" spc="-1" strike="noStrike">
              <a:solidFill>
                <a:srgbClr val="000000"/>
              </a:solidFill>
              <a:latin typeface="Arial"/>
            </a:endParaRPr>
          </a:p>
        </p:txBody>
      </p:sp>
      <p:sp>
        <p:nvSpPr>
          <p:cNvPr id="129" name="Shape 6"/>
          <p:cNvSpPr/>
          <p:nvPr/>
        </p:nvSpPr>
        <p:spPr>
          <a:xfrm>
            <a:off x="548640" y="2743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0" name="Text 7"/>
          <p:cNvSpPr/>
          <p:nvPr/>
        </p:nvSpPr>
        <p:spPr>
          <a:xfrm>
            <a:off x="868680" y="262440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L'aménagement des espaces est réalisé selon les consignes et en garantissant l'accessibilité.</a:t>
            </a:r>
            <a:endParaRPr b="0" lang="en-US" sz="1200" spc="-1" strike="noStrike">
              <a:solidFill>
                <a:srgbClr val="000000"/>
              </a:solidFill>
              <a:latin typeface="Arial"/>
            </a:endParaRPr>
          </a:p>
        </p:txBody>
      </p:sp>
      <p:sp>
        <p:nvSpPr>
          <p:cNvPr id="131" name="Shape 8"/>
          <p:cNvSpPr/>
          <p:nvPr/>
        </p:nvSpPr>
        <p:spPr>
          <a:xfrm>
            <a:off x="548640" y="3310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Text 9"/>
          <p:cNvSpPr/>
          <p:nvPr/>
        </p:nvSpPr>
        <p:spPr>
          <a:xfrm>
            <a:off x="868680" y="319140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La planification et l'aménagement des salles de réunion et autres ressources sont effectives.</a:t>
            </a:r>
            <a:endParaRPr b="0" lang="en-US" sz="1200" spc="-1" strike="noStrike">
              <a:solidFill>
                <a:srgbClr val="000000"/>
              </a:solidFill>
              <a:latin typeface="Arial"/>
            </a:endParaRPr>
          </a:p>
        </p:txBody>
      </p:sp>
      <p:sp>
        <p:nvSpPr>
          <p:cNvPr id="133" name="Shape 10"/>
          <p:cNvSpPr/>
          <p:nvPr/>
        </p:nvSpPr>
        <p:spPr>
          <a:xfrm>
            <a:off x="548640" y="3877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Text 11"/>
          <p:cNvSpPr/>
          <p:nvPr/>
        </p:nvSpPr>
        <p:spPr>
          <a:xfrm>
            <a:off x="868680" y="375804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Le suivi de l'utilisation des ressources, incluant la traçabilité et la responsabilité des équipements, est rigoureux.</a:t>
            </a:r>
            <a:endParaRPr b="0" lang="en-US" sz="1200" spc="-1" strike="noStrike">
              <a:solidFill>
                <a:srgbClr val="000000"/>
              </a:solidFill>
              <a:latin typeface="Arial"/>
            </a:endParaRPr>
          </a:p>
        </p:txBody>
      </p:sp>
      <p:sp>
        <p:nvSpPr>
          <p:cNvPr id="135" name="Text 12"/>
          <p:cNvSpPr/>
          <p:nvPr/>
        </p:nvSpPr>
        <p:spPr>
          <a:xfrm>
            <a:off x="548640" y="6035040"/>
            <a:ext cx="11094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50" spc="-1" strike="noStrike">
                <a:solidFill>
                  <a:srgbClr val="51606e"/>
                </a:solidFill>
                <a:latin typeface="Arial"/>
                <a:ea typeface="Arial"/>
              </a:rPr>
              <a:t>Séquences de ce bloc : 1. Analyse des besoins – 2. Aménagement des espaces (PMR) – 3. Traçabilité des ressources</a:t>
            </a:r>
            <a:endParaRPr b="0" lang="en-US" sz="1150" spc="-1" strike="noStrike">
              <a:solidFill>
                <a:srgbClr val="000000"/>
              </a:solidFill>
              <a:latin typeface="Arial"/>
            </a:endParaRPr>
          </a:p>
        </p:txBody>
      </p:sp>
      <p:sp>
        <p:nvSpPr>
          <p:cNvPr id="136" name="Text 1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137" name="Text 1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7</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1</a:t>
            </a:r>
            <a:endParaRPr b="0" lang="en-US" sz="1200" spc="-1" strike="noStrike">
              <a:solidFill>
                <a:srgbClr val="000000"/>
              </a:solidFill>
              <a:latin typeface="Arial"/>
            </a:endParaRPr>
          </a:p>
        </p:txBody>
      </p:sp>
      <p:sp>
        <p:nvSpPr>
          <p:cNvPr id="140"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142"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Analyser les besoins en ressources</a:t>
            </a:r>
            <a:endParaRPr b="0" lang="en-US" sz="2400" spc="-1" strike="noStrike">
              <a:solidFill>
                <a:srgbClr val="000000"/>
              </a:solidFill>
              <a:latin typeface="Arial"/>
            </a:endParaRPr>
          </a:p>
        </p:txBody>
      </p:sp>
      <p:sp>
        <p:nvSpPr>
          <p:cNvPr id="143"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Analyser les besoins en ressources afin d'en planifier l'utilisation selon les priorités définies.</a:t>
            </a:r>
            <a:endParaRPr b="0" lang="en-US" sz="1250" spc="-1" strike="noStrike">
              <a:solidFill>
                <a:srgbClr val="000000"/>
              </a:solidFill>
              <a:latin typeface="Arial"/>
            </a:endParaRPr>
          </a:p>
        </p:txBody>
      </p:sp>
      <p:sp>
        <p:nvSpPr>
          <p:cNvPr id="144"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146" name="Text 8"/>
          <p:cNvSpPr/>
          <p:nvPr/>
        </p:nvSpPr>
        <p:spPr>
          <a:xfrm>
            <a:off x="1051560" y="23500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Identifier les différents types de ressources à mobiliser : salles, matériels, intervenants.</a:t>
            </a:r>
            <a:endParaRPr b="0" lang="en-US" sz="1400" spc="-1" strike="noStrike">
              <a:solidFill>
                <a:srgbClr val="000000"/>
              </a:solidFill>
              <a:latin typeface="Arial"/>
            </a:endParaRPr>
          </a:p>
        </p:txBody>
      </p:sp>
      <p:sp>
        <p:nvSpPr>
          <p:cNvPr id="147" name="Shape 9"/>
          <p:cNvSpPr/>
          <p:nvPr/>
        </p:nvSpPr>
        <p:spPr>
          <a:xfrm>
            <a:off x="548640" y="2932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8" name="Text 10"/>
          <p:cNvSpPr/>
          <p:nvPr/>
        </p:nvSpPr>
        <p:spPr>
          <a:xfrm>
            <a:off x="548640" y="2932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149" name="Text 11"/>
          <p:cNvSpPr/>
          <p:nvPr/>
        </p:nvSpPr>
        <p:spPr>
          <a:xfrm>
            <a:off x="1051560" y="28414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Recenser et qualifier les besoins exprimés par les occupants ou les services.</a:t>
            </a:r>
            <a:endParaRPr b="0" lang="en-US" sz="1400" spc="-1" strike="noStrike">
              <a:solidFill>
                <a:srgbClr val="000000"/>
              </a:solidFill>
              <a:latin typeface="Arial"/>
            </a:endParaRPr>
          </a:p>
        </p:txBody>
      </p:sp>
      <p:sp>
        <p:nvSpPr>
          <p:cNvPr id="150" name="Shape 12"/>
          <p:cNvSpPr/>
          <p:nvPr/>
        </p:nvSpPr>
        <p:spPr>
          <a:xfrm>
            <a:off x="548640" y="34243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1" name="Text 13"/>
          <p:cNvSpPr/>
          <p:nvPr/>
        </p:nvSpPr>
        <p:spPr>
          <a:xfrm>
            <a:off x="548640" y="34243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152" name="Text 14"/>
          <p:cNvSpPr/>
          <p:nvPr/>
        </p:nvSpPr>
        <p:spPr>
          <a:xfrm>
            <a:off x="1051560" y="33328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Distinguer besoin réel, urgence et priorité pour éviter les arbitrages hasardeux.</a:t>
            </a:r>
            <a:endParaRPr b="0" lang="en-US" sz="1400" spc="-1" strike="noStrike">
              <a:solidFill>
                <a:srgbClr val="000000"/>
              </a:solidFill>
              <a:latin typeface="Arial"/>
            </a:endParaRPr>
          </a:p>
        </p:txBody>
      </p:sp>
      <p:sp>
        <p:nvSpPr>
          <p:cNvPr id="153" name="Shape 15"/>
          <p:cNvSpPr/>
          <p:nvPr/>
        </p:nvSpPr>
        <p:spPr>
          <a:xfrm>
            <a:off x="548640" y="391608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Text 16"/>
          <p:cNvSpPr/>
          <p:nvPr/>
        </p:nvSpPr>
        <p:spPr>
          <a:xfrm>
            <a:off x="548640" y="39160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155" name="Text 17"/>
          <p:cNvSpPr/>
          <p:nvPr/>
        </p:nvSpPr>
        <p:spPr>
          <a:xfrm>
            <a:off x="1051560" y="382464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Utiliser une matrice de priorisation pour arbitrer entre besoins concurrents.</a:t>
            </a:r>
            <a:endParaRPr b="0" lang="en-US" sz="1400" spc="-1" strike="noStrike">
              <a:solidFill>
                <a:srgbClr val="000000"/>
              </a:solidFill>
              <a:latin typeface="Arial"/>
            </a:endParaRPr>
          </a:p>
        </p:txBody>
      </p:sp>
      <p:sp>
        <p:nvSpPr>
          <p:cNvPr id="156" name="Shape 18"/>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7" name="Text 19"/>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PowerPoint du module ; tableau de planification ; étude de cas ; brainstorming guidé.</a:t>
            </a:r>
            <a:endParaRPr b="0" lang="en-US" sz="1100" spc="-1" strike="noStrike">
              <a:solidFill>
                <a:srgbClr val="000000"/>
              </a:solidFill>
              <a:latin typeface="Arial"/>
            </a:endParaRPr>
          </a:p>
        </p:txBody>
      </p:sp>
      <p:sp>
        <p:nvSpPr>
          <p:cNvPr id="158" name="Text 20"/>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159" name="Text 21"/>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160"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162"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1</a:t>
            </a:r>
            <a:endParaRPr b="0" lang="en-US" sz="1300" spc="-1" strike="noStrike">
              <a:solidFill>
                <a:srgbClr val="000000"/>
              </a:solidFill>
              <a:latin typeface="Arial"/>
            </a:endParaRPr>
          </a:p>
        </p:txBody>
      </p:sp>
      <p:sp>
        <p:nvSpPr>
          <p:cNvPr id="163"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Étude de cas : identifier et prioriser les besoins</a:t>
            </a:r>
            <a:endParaRPr b="0" lang="en-US" sz="1900" spc="-1" strike="noStrike">
              <a:solidFill>
                <a:srgbClr val="000000"/>
              </a:solidFill>
              <a:latin typeface="Arial"/>
            </a:endParaRPr>
          </a:p>
        </p:txBody>
      </p:sp>
      <p:sp>
        <p:nvSpPr>
          <p:cNvPr id="164"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5"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166"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7"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168"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9"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170"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À partir d'un cas client donné, identifier les ressources nécessaires (salles, matériel, intervenants).</a:t>
            </a:r>
            <a:endParaRPr b="0" lang="en-US" sz="1300" spc="-1" strike="noStrike">
              <a:solidFill>
                <a:srgbClr val="000000"/>
              </a:solidFill>
              <a:latin typeface="Arial"/>
            </a:endParaRPr>
          </a:p>
        </p:txBody>
      </p:sp>
      <p:sp>
        <p:nvSpPr>
          <p:cNvPr id="171"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2"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173"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Qualifier les contraintes associées à chaque besoin identifié.</a:t>
            </a:r>
            <a:endParaRPr b="0" lang="en-US" sz="1300" spc="-1" strike="noStrike">
              <a:solidFill>
                <a:srgbClr val="000000"/>
              </a:solidFill>
              <a:latin typeface="Arial"/>
            </a:endParaRPr>
          </a:p>
        </p:txBody>
      </p:sp>
      <p:sp>
        <p:nvSpPr>
          <p:cNvPr id="174"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176"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Classer les besoins par ordre de priorité à l'aide de critères objectifs.</a:t>
            </a:r>
            <a:endParaRPr b="0" lang="en-US" sz="1300" spc="-1" strike="noStrike">
              <a:solidFill>
                <a:srgbClr val="000000"/>
              </a:solidFill>
              <a:latin typeface="Arial"/>
            </a:endParaRPr>
          </a:p>
        </p:txBody>
      </p:sp>
      <p:sp>
        <p:nvSpPr>
          <p:cNvPr id="177" name="Shape 17"/>
          <p:cNvSpPr/>
          <p:nvPr/>
        </p:nvSpPr>
        <p:spPr>
          <a:xfrm>
            <a:off x="914400" y="433440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Text 18"/>
          <p:cNvSpPr/>
          <p:nvPr/>
        </p:nvSpPr>
        <p:spPr>
          <a:xfrm>
            <a:off x="914400" y="433440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4</a:t>
            </a:r>
            <a:endParaRPr b="0" lang="en-US" sz="1500" spc="-1" strike="noStrike">
              <a:solidFill>
                <a:srgbClr val="000000"/>
              </a:solidFill>
              <a:latin typeface="Arial"/>
            </a:endParaRPr>
          </a:p>
        </p:txBody>
      </p:sp>
      <p:sp>
        <p:nvSpPr>
          <p:cNvPr id="179" name="Text 19"/>
          <p:cNvSpPr/>
          <p:nvPr/>
        </p:nvSpPr>
        <p:spPr>
          <a:xfrm>
            <a:off x="1463040" y="426096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Construire collectivement un planning simple intégrant les arbitrages retenus.</a:t>
            </a:r>
            <a:endParaRPr b="0" lang="en-US" sz="1300" spc="-1" strike="noStrike">
              <a:solidFill>
                <a:srgbClr val="000000"/>
              </a:solidFill>
              <a:latin typeface="Arial"/>
            </a:endParaRPr>
          </a:p>
        </p:txBody>
      </p:sp>
      <p:sp>
        <p:nvSpPr>
          <p:cNvPr id="180" name="Shape 20"/>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1" name="Text 21"/>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collectif, à partir d'un cas client – 15 minutes.</a:t>
            </a:r>
            <a:endParaRPr b="0" lang="en-US" sz="1150" spc="-1" strike="noStrike">
              <a:solidFill>
                <a:srgbClr val="000000"/>
              </a:solidFill>
              <a:latin typeface="Arial"/>
            </a:endParaRPr>
          </a:p>
        </p:txBody>
      </p:sp>
      <p:sp>
        <p:nvSpPr>
          <p:cNvPr id="182" name="Text 22"/>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183" name="Text 23"/>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9</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184"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186"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1</a:t>
            </a:r>
            <a:endParaRPr b="0" lang="en-US" sz="1300" spc="-1" strike="noStrike">
              <a:solidFill>
                <a:srgbClr val="000000"/>
              </a:solidFill>
              <a:latin typeface="Arial"/>
            </a:endParaRPr>
          </a:p>
        </p:txBody>
      </p:sp>
      <p:sp>
        <p:nvSpPr>
          <p:cNvPr id="187"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Debrief sur les arbitrages de priorisation</a:t>
            </a:r>
            <a:endParaRPr b="0" lang="en-US" sz="1900" spc="-1" strike="noStrike">
              <a:solidFill>
                <a:srgbClr val="000000"/>
              </a:solidFill>
              <a:latin typeface="Arial"/>
            </a:endParaRPr>
          </a:p>
        </p:txBody>
      </p:sp>
      <p:sp>
        <p:nvSpPr>
          <p:cNvPr id="188"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189"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Retour collectif sur les ressources identifiées et les contraintes qualifiées.</a:t>
            </a:r>
            <a:endParaRPr b="0" lang="en-US" sz="1300" spc="-1" strike="noStrike">
              <a:solidFill>
                <a:srgbClr val="000000"/>
              </a:solidFill>
              <a:latin typeface="Arial"/>
            </a:endParaRPr>
          </a:p>
        </p:txBody>
      </p:sp>
      <p:sp>
        <p:nvSpPr>
          <p:cNvPr id="191"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Justification orale des choix de priorisation retenus dans le planning.</a:t>
            </a:r>
            <a:endParaRPr b="0" lang="en-US" sz="1300" spc="-1" strike="noStrike">
              <a:solidFill>
                <a:srgbClr val="000000"/>
              </a:solidFill>
              <a:latin typeface="Arial"/>
            </a:endParaRPr>
          </a:p>
        </p:txBody>
      </p:sp>
      <p:sp>
        <p:nvSpPr>
          <p:cNvPr id="193"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4"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196"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une priorisation intuitive, avec confusion entre besoin et urgence.</a:t>
            </a:r>
            <a:endParaRPr b="0" lang="en-US" sz="1250" spc="-1" strike="noStrike">
              <a:solidFill>
                <a:srgbClr val="000000"/>
              </a:solidFill>
              <a:latin typeface="Arial"/>
            </a:endParaRPr>
          </a:p>
        </p:txBody>
      </p:sp>
      <p:sp>
        <p:nvSpPr>
          <p:cNvPr id="197"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s'appuyer sur des critères explicites, des exemples contrastés et une matrice de priorisation formalisée.</a:t>
            </a:r>
            <a:endParaRPr b="0" lang="en-US" sz="1250" spc="-1" strike="noStrike">
              <a:solidFill>
                <a:srgbClr val="000000"/>
              </a:solidFill>
              <a:latin typeface="Arial"/>
            </a:endParaRPr>
          </a:p>
        </p:txBody>
      </p:sp>
      <p:sp>
        <p:nvSpPr>
          <p:cNvPr id="198"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199"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10</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1"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2</a:t>
            </a:r>
            <a:endParaRPr b="0" lang="en-US" sz="1200" spc="-1" strike="noStrike">
              <a:solidFill>
                <a:srgbClr val="000000"/>
              </a:solidFill>
              <a:latin typeface="Arial"/>
            </a:endParaRPr>
          </a:p>
        </p:txBody>
      </p:sp>
      <p:sp>
        <p:nvSpPr>
          <p:cNvPr id="202"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3"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204"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Aménager les espaces dans le respect de l'accessibilité</a:t>
            </a:r>
            <a:endParaRPr b="0" lang="en-US" sz="2400" spc="-1" strike="noStrike">
              <a:solidFill>
                <a:srgbClr val="000000"/>
              </a:solidFill>
              <a:latin typeface="Arial"/>
            </a:endParaRPr>
          </a:p>
        </p:txBody>
      </p:sp>
      <p:sp>
        <p:nvSpPr>
          <p:cNvPr id="205"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Appliquer les consignes d'aménagement des espaces en tenant compte des exigences d'accessibilité pour les personnes à mobilité réduite (PMR).</a:t>
            </a:r>
            <a:endParaRPr b="0" lang="en-US" sz="1250" spc="-1" strike="noStrike">
              <a:solidFill>
                <a:srgbClr val="000000"/>
              </a:solidFill>
              <a:latin typeface="Arial"/>
            </a:endParaRPr>
          </a:p>
        </p:txBody>
      </p:sp>
      <p:sp>
        <p:nvSpPr>
          <p:cNvPr id="206"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7"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08" name="Text 8"/>
          <p:cNvSpPr/>
          <p:nvPr/>
        </p:nvSpPr>
        <p:spPr>
          <a:xfrm>
            <a:off x="1051560" y="23500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Connaître les consignes d'aménagement des espaces et leur cadre de référence.</a:t>
            </a:r>
            <a:endParaRPr b="0" lang="en-US" sz="1400" spc="-1" strike="noStrike">
              <a:solidFill>
                <a:srgbClr val="000000"/>
              </a:solidFill>
              <a:latin typeface="Arial"/>
            </a:endParaRPr>
          </a:p>
        </p:txBody>
      </p:sp>
      <p:sp>
        <p:nvSpPr>
          <p:cNvPr id="209" name="Shape 9"/>
          <p:cNvSpPr/>
          <p:nvPr/>
        </p:nvSpPr>
        <p:spPr>
          <a:xfrm>
            <a:off x="548640" y="2932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Text 10"/>
          <p:cNvSpPr/>
          <p:nvPr/>
        </p:nvSpPr>
        <p:spPr>
          <a:xfrm>
            <a:off x="548640" y="2932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11" name="Text 11"/>
          <p:cNvSpPr/>
          <p:nvPr/>
        </p:nvSpPr>
        <p:spPr>
          <a:xfrm>
            <a:off x="1051560" y="28414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Identifier les exigences d'accessibilité pour les personnes à mobilité réduite.</a:t>
            </a:r>
            <a:endParaRPr b="0" lang="en-US" sz="1400" spc="-1" strike="noStrike">
              <a:solidFill>
                <a:srgbClr val="000000"/>
              </a:solidFill>
              <a:latin typeface="Arial"/>
            </a:endParaRPr>
          </a:p>
        </p:txBody>
      </p:sp>
      <p:sp>
        <p:nvSpPr>
          <p:cNvPr id="212" name="Shape 12"/>
          <p:cNvSpPr/>
          <p:nvPr/>
        </p:nvSpPr>
        <p:spPr>
          <a:xfrm>
            <a:off x="548640" y="34243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Text 13"/>
          <p:cNvSpPr/>
          <p:nvPr/>
        </p:nvSpPr>
        <p:spPr>
          <a:xfrm>
            <a:off x="548640" y="34243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14" name="Text 14"/>
          <p:cNvSpPr/>
          <p:nvPr/>
        </p:nvSpPr>
        <p:spPr>
          <a:xfrm>
            <a:off x="1051560" y="33328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Vérifier les circulations, les largeurs de passage et les points d'accès.</a:t>
            </a:r>
            <a:endParaRPr b="0" lang="en-US" sz="1400" spc="-1" strike="noStrike">
              <a:solidFill>
                <a:srgbClr val="000000"/>
              </a:solidFill>
              <a:latin typeface="Arial"/>
            </a:endParaRPr>
          </a:p>
        </p:txBody>
      </p:sp>
      <p:sp>
        <p:nvSpPr>
          <p:cNvPr id="215" name="Shape 15"/>
          <p:cNvSpPr/>
          <p:nvPr/>
        </p:nvSpPr>
        <p:spPr>
          <a:xfrm>
            <a:off x="548640" y="391608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Text 16"/>
          <p:cNvSpPr/>
          <p:nvPr/>
        </p:nvSpPr>
        <p:spPr>
          <a:xfrm>
            <a:off x="548640" y="39160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17" name="Text 17"/>
          <p:cNvSpPr/>
          <p:nvPr/>
        </p:nvSpPr>
        <p:spPr>
          <a:xfrm>
            <a:off x="1051560" y="382464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Objectiver le contrôle à l'aide d'une grille d'observation dédiée.</a:t>
            </a:r>
            <a:endParaRPr b="0" lang="en-US" sz="1400" spc="-1" strike="noStrike">
              <a:solidFill>
                <a:srgbClr val="000000"/>
              </a:solidFill>
              <a:latin typeface="Arial"/>
            </a:endParaRPr>
          </a:p>
        </p:txBody>
      </p:sp>
      <p:sp>
        <p:nvSpPr>
          <p:cNvPr id="218" name="Shape 18"/>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9" name="Text 19"/>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Plan d'espace / fiche de consignes ; grille d'observation PMR ; mise en situation d'aménagement.</a:t>
            </a:r>
            <a:endParaRPr b="0" lang="en-US" sz="1100" spc="-1" strike="noStrike">
              <a:solidFill>
                <a:srgbClr val="000000"/>
              </a:solidFill>
              <a:latin typeface="Arial"/>
            </a:endParaRPr>
          </a:p>
        </p:txBody>
      </p:sp>
      <p:sp>
        <p:nvSpPr>
          <p:cNvPr id="220" name="Text 20"/>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221" name="Text 21"/>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11</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222"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224"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2</a:t>
            </a:r>
            <a:endParaRPr b="0" lang="en-US" sz="1300" spc="-1" strike="noStrike">
              <a:solidFill>
                <a:srgbClr val="000000"/>
              </a:solidFill>
              <a:latin typeface="Arial"/>
            </a:endParaRPr>
          </a:p>
        </p:txBody>
      </p:sp>
      <p:sp>
        <p:nvSpPr>
          <p:cNvPr id="225"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Mise en situation d'aménagement d'un espace</a:t>
            </a:r>
            <a:endParaRPr b="0" lang="en-US" sz="1900" spc="-1" strike="noStrike">
              <a:solidFill>
                <a:srgbClr val="000000"/>
              </a:solidFill>
              <a:latin typeface="Arial"/>
            </a:endParaRPr>
          </a:p>
        </p:txBody>
      </p:sp>
      <p:sp>
        <p:nvSpPr>
          <p:cNvPr id="226"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228"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9"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230"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232"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En sous-groupes, analyser un plan d'espace fourni.</a:t>
            </a:r>
            <a:endParaRPr b="0" lang="en-US" sz="1300" spc="-1" strike="noStrike">
              <a:solidFill>
                <a:srgbClr val="000000"/>
              </a:solidFill>
              <a:latin typeface="Arial"/>
            </a:endParaRPr>
          </a:p>
        </p:txBody>
      </p:sp>
      <p:sp>
        <p:nvSpPr>
          <p:cNvPr id="233"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235"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Proposer une implantation répondant aux consignes d'aménagement.</a:t>
            </a:r>
            <a:endParaRPr b="0" lang="en-US" sz="1300" spc="-1" strike="noStrike">
              <a:solidFill>
                <a:srgbClr val="000000"/>
              </a:solidFill>
              <a:latin typeface="Arial"/>
            </a:endParaRPr>
          </a:p>
        </p:txBody>
      </p:sp>
      <p:sp>
        <p:nvSpPr>
          <p:cNvPr id="236"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7"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238"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Vérifier les circulations et les accès au regard de la grille d'observation PMR.</a:t>
            </a:r>
            <a:endParaRPr b="0" lang="en-US" sz="1300" spc="-1" strike="noStrike">
              <a:solidFill>
                <a:srgbClr val="000000"/>
              </a:solidFill>
              <a:latin typeface="Arial"/>
            </a:endParaRPr>
          </a:p>
        </p:txBody>
      </p:sp>
      <p:sp>
        <p:nvSpPr>
          <p:cNvPr id="239"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0"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en sous-groupes – 15 minutes, restitution comprise.</a:t>
            </a:r>
            <a:endParaRPr b="0" lang="en-US" sz="1150" spc="-1" strike="noStrike">
              <a:solidFill>
                <a:srgbClr val="000000"/>
              </a:solidFill>
              <a:latin typeface="Arial"/>
            </a:endParaRPr>
          </a:p>
        </p:txBody>
      </p:sp>
      <p:sp>
        <p:nvSpPr>
          <p:cNvPr id="241"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242"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243"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245"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2</a:t>
            </a:r>
            <a:endParaRPr b="0" lang="en-US" sz="1300" spc="-1" strike="noStrike">
              <a:solidFill>
                <a:srgbClr val="000000"/>
              </a:solidFill>
              <a:latin typeface="Arial"/>
            </a:endParaRPr>
          </a:p>
        </p:txBody>
      </p:sp>
      <p:sp>
        <p:nvSpPr>
          <p:cNvPr id="246"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Correction collective argumentée</a:t>
            </a:r>
            <a:endParaRPr b="0" lang="en-US" sz="1900" spc="-1" strike="noStrike">
              <a:solidFill>
                <a:srgbClr val="000000"/>
              </a:solidFill>
              <a:latin typeface="Arial"/>
            </a:endParaRPr>
          </a:p>
        </p:txBody>
      </p:sp>
      <p:sp>
        <p:nvSpPr>
          <p:cNvPr id="247"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248"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Présentation des propositions d'implantation par chaque sous-groupe.</a:t>
            </a:r>
            <a:endParaRPr b="0" lang="en-US" sz="1300" spc="-1" strike="noStrike">
              <a:solidFill>
                <a:srgbClr val="000000"/>
              </a:solidFill>
              <a:latin typeface="Arial"/>
            </a:endParaRPr>
          </a:p>
        </p:txBody>
      </p:sp>
      <p:sp>
        <p:nvSpPr>
          <p:cNvPr id="250"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Argumentation collective sur la conformité des choix aux exigences d'accessibilité.</a:t>
            </a:r>
            <a:endParaRPr b="0" lang="en-US" sz="1300" spc="-1" strike="noStrike">
              <a:solidFill>
                <a:srgbClr val="000000"/>
              </a:solidFill>
              <a:latin typeface="Arial"/>
            </a:endParaRPr>
          </a:p>
        </p:txBody>
      </p:sp>
      <p:sp>
        <p:nvSpPr>
          <p:cNvPr id="252"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3"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4"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255"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une focalisation sur l'esthétique de l'aménagement au détriment de l'accessibilité.</a:t>
            </a:r>
            <a:endParaRPr b="0" lang="en-US" sz="1250" spc="-1" strike="noStrike">
              <a:solidFill>
                <a:srgbClr val="000000"/>
              </a:solidFill>
              <a:latin typeface="Arial"/>
            </a:endParaRPr>
          </a:p>
        </p:txBody>
      </p:sp>
      <p:sp>
        <p:nvSpPr>
          <p:cNvPr id="256"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systématiser la vérification des contraintes PMR à l'aide de la grille de contrôle.</a:t>
            </a:r>
            <a:endParaRPr b="0" lang="en-US" sz="1250" spc="-1" strike="noStrike">
              <a:solidFill>
                <a:srgbClr val="000000"/>
              </a:solidFill>
              <a:latin typeface="Arial"/>
            </a:endParaRPr>
          </a:p>
        </p:txBody>
      </p:sp>
      <p:sp>
        <p:nvSpPr>
          <p:cNvPr id="257"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258"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13</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9"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3</a:t>
            </a:r>
            <a:endParaRPr b="0" lang="en-US" sz="1200" spc="-1" strike="noStrike">
              <a:solidFill>
                <a:srgbClr val="000000"/>
              </a:solidFill>
              <a:latin typeface="Arial"/>
            </a:endParaRPr>
          </a:p>
        </p:txBody>
      </p:sp>
      <p:sp>
        <p:nvSpPr>
          <p:cNvPr id="261"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263"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Assurer la traçabilité des ressources et équipements</a:t>
            </a:r>
            <a:endParaRPr b="0" lang="en-US" sz="2400" spc="-1" strike="noStrike">
              <a:solidFill>
                <a:srgbClr val="000000"/>
              </a:solidFill>
              <a:latin typeface="Arial"/>
            </a:endParaRPr>
          </a:p>
        </p:txBody>
      </p:sp>
      <p:sp>
        <p:nvSpPr>
          <p:cNvPr id="264"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Utiliser les outils de suivi pour assurer la traçabilité de l'utilisation des ressources et des équipements.</a:t>
            </a:r>
            <a:endParaRPr b="0" lang="en-US" sz="1250" spc="-1" strike="noStrike">
              <a:solidFill>
                <a:srgbClr val="000000"/>
              </a:solidFill>
              <a:latin typeface="Arial"/>
            </a:endParaRPr>
          </a:p>
        </p:txBody>
      </p:sp>
      <p:sp>
        <p:nvSpPr>
          <p:cNvPr id="265"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6"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67" name="Text 8"/>
          <p:cNvSpPr/>
          <p:nvPr/>
        </p:nvSpPr>
        <p:spPr>
          <a:xfrm>
            <a:off x="1051560" y="23500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Présenter les outils de suivi de l'utilisation des ressources : registre, tableau de suivi.</a:t>
            </a:r>
            <a:endParaRPr b="0" lang="en-US" sz="1400" spc="-1" strike="noStrike">
              <a:solidFill>
                <a:srgbClr val="000000"/>
              </a:solidFill>
              <a:latin typeface="Arial"/>
            </a:endParaRPr>
          </a:p>
        </p:txBody>
      </p:sp>
      <p:sp>
        <p:nvSpPr>
          <p:cNvPr id="268" name="Shape 9"/>
          <p:cNvSpPr/>
          <p:nvPr/>
        </p:nvSpPr>
        <p:spPr>
          <a:xfrm>
            <a:off x="548640" y="30967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9" name="Text 10"/>
          <p:cNvSpPr/>
          <p:nvPr/>
        </p:nvSpPr>
        <p:spPr>
          <a:xfrm>
            <a:off x="548640" y="30967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70" name="Text 11"/>
          <p:cNvSpPr/>
          <p:nvPr/>
        </p:nvSpPr>
        <p:spPr>
          <a:xfrm>
            <a:off x="1051560" y="30052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Identifier les informations indispensables à tracer : affectation, utilisation, retour, responsable.</a:t>
            </a:r>
            <a:endParaRPr b="0" lang="en-US" sz="1400" spc="-1" strike="noStrike">
              <a:solidFill>
                <a:srgbClr val="000000"/>
              </a:solidFill>
              <a:latin typeface="Arial"/>
            </a:endParaRPr>
          </a:p>
        </p:txBody>
      </p:sp>
      <p:sp>
        <p:nvSpPr>
          <p:cNvPr id="271" name="Shape 12"/>
          <p:cNvSpPr/>
          <p:nvPr/>
        </p:nvSpPr>
        <p:spPr>
          <a:xfrm>
            <a:off x="548640" y="3751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Text 13"/>
          <p:cNvSpPr/>
          <p:nvPr/>
        </p:nvSpPr>
        <p:spPr>
          <a:xfrm>
            <a:off x="548640" y="3751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273" name="Text 14"/>
          <p:cNvSpPr/>
          <p:nvPr/>
        </p:nvSpPr>
        <p:spPr>
          <a:xfrm>
            <a:off x="1051560" y="36604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Garantir la responsabilité et la traçabilité tout au long du cycle d'utilisation.</a:t>
            </a:r>
            <a:endParaRPr b="0" lang="en-US" sz="1400" spc="-1" strike="noStrike">
              <a:solidFill>
                <a:srgbClr val="000000"/>
              </a:solidFill>
              <a:latin typeface="Arial"/>
            </a:endParaRPr>
          </a:p>
        </p:txBody>
      </p:sp>
      <p:sp>
        <p:nvSpPr>
          <p:cNvPr id="274" name="Shape 15"/>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5" name="Text 16"/>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Tableau ou registre de suivi ; fiche ressource / équipement ; exercice de traçabilité.</a:t>
            </a:r>
            <a:endParaRPr b="0" lang="en-US" sz="1100" spc="-1" strike="noStrike">
              <a:solidFill>
                <a:srgbClr val="000000"/>
              </a:solidFill>
              <a:latin typeface="Arial"/>
            </a:endParaRPr>
          </a:p>
        </p:txBody>
      </p:sp>
      <p:sp>
        <p:nvSpPr>
          <p:cNvPr id="276" name="Text 17"/>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277" name="Text 18"/>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14</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278"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280"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3</a:t>
            </a:r>
            <a:endParaRPr b="0" lang="en-US" sz="1300" spc="-1" strike="noStrike">
              <a:solidFill>
                <a:srgbClr val="000000"/>
              </a:solidFill>
              <a:latin typeface="Arial"/>
            </a:endParaRPr>
          </a:p>
        </p:txBody>
      </p:sp>
      <p:sp>
        <p:nvSpPr>
          <p:cNvPr id="281"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Renseigner et contrôler un outil de suivi</a:t>
            </a:r>
            <a:endParaRPr b="0" lang="en-US" sz="1900" spc="-1" strike="noStrike">
              <a:solidFill>
                <a:srgbClr val="000000"/>
              </a:solidFill>
              <a:latin typeface="Arial"/>
            </a:endParaRPr>
          </a:p>
        </p:txBody>
      </p:sp>
      <p:sp>
        <p:nvSpPr>
          <p:cNvPr id="282"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284"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5"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286"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7"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288"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Renseigner l'affectation, l'utilisation et le retour d'une ressource ou d'un équipement.</a:t>
            </a:r>
            <a:endParaRPr b="0" lang="en-US" sz="1300" spc="-1" strike="noStrike">
              <a:solidFill>
                <a:srgbClr val="000000"/>
              </a:solidFill>
              <a:latin typeface="Arial"/>
            </a:endParaRPr>
          </a:p>
        </p:txBody>
      </p:sp>
      <p:sp>
        <p:nvSpPr>
          <p:cNvPr id="289"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291"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Rechercher, en binôme, une anomalie de traçabilité dans un exemple fourni.</a:t>
            </a:r>
            <a:endParaRPr b="0" lang="en-US" sz="1300" spc="-1" strike="noStrike">
              <a:solidFill>
                <a:srgbClr val="000000"/>
              </a:solidFill>
              <a:latin typeface="Arial"/>
            </a:endParaRPr>
          </a:p>
        </p:txBody>
      </p:sp>
      <p:sp>
        <p:nvSpPr>
          <p:cNvPr id="292"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294"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Identifier les informations manquantes nécessaires à une traçabilité complète.</a:t>
            </a:r>
            <a:endParaRPr b="0" lang="en-US" sz="1300" spc="-1" strike="noStrike">
              <a:solidFill>
                <a:srgbClr val="000000"/>
              </a:solidFill>
              <a:latin typeface="Arial"/>
            </a:endParaRPr>
          </a:p>
        </p:txBody>
      </p:sp>
      <p:sp>
        <p:nvSpPr>
          <p:cNvPr id="295"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6"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en binôme, avec contrôle croisé – 15 minutes.</a:t>
            </a:r>
            <a:endParaRPr b="0" lang="en-US" sz="1150" spc="-1" strike="noStrike">
              <a:solidFill>
                <a:srgbClr val="000000"/>
              </a:solidFill>
              <a:latin typeface="Arial"/>
            </a:endParaRPr>
          </a:p>
        </p:txBody>
      </p:sp>
      <p:sp>
        <p:nvSpPr>
          <p:cNvPr id="297"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298"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15</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299"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0"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301"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3</a:t>
            </a:r>
            <a:endParaRPr b="0" lang="en-US" sz="1300" spc="-1" strike="noStrike">
              <a:solidFill>
                <a:srgbClr val="000000"/>
              </a:solidFill>
              <a:latin typeface="Arial"/>
            </a:endParaRPr>
          </a:p>
        </p:txBody>
      </p:sp>
      <p:sp>
        <p:nvSpPr>
          <p:cNvPr id="302"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Correction guidée sur les informations indispensables</a:t>
            </a:r>
            <a:endParaRPr b="0" lang="en-US" sz="1900" spc="-1" strike="noStrike">
              <a:solidFill>
                <a:srgbClr val="000000"/>
              </a:solidFill>
              <a:latin typeface="Arial"/>
            </a:endParaRPr>
          </a:p>
        </p:txBody>
      </p:sp>
      <p:sp>
        <p:nvSpPr>
          <p:cNvPr id="303"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304"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5"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Rappel collectif des informations indispensables à toute fiche de suivi.</a:t>
            </a:r>
            <a:endParaRPr b="0" lang="en-US" sz="1300" spc="-1" strike="noStrike">
              <a:solidFill>
                <a:srgbClr val="000000"/>
              </a:solidFill>
              <a:latin typeface="Arial"/>
            </a:endParaRPr>
          </a:p>
        </p:txBody>
      </p:sp>
      <p:sp>
        <p:nvSpPr>
          <p:cNvPr id="306"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Mise en commun des anomalies repérées par les binômes.</a:t>
            </a:r>
            <a:endParaRPr b="0" lang="en-US" sz="1300" spc="-1" strike="noStrike">
              <a:solidFill>
                <a:srgbClr val="000000"/>
              </a:solidFill>
              <a:latin typeface="Arial"/>
            </a:endParaRPr>
          </a:p>
        </p:txBody>
      </p:sp>
      <p:sp>
        <p:nvSpPr>
          <p:cNvPr id="308"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9"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311"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des saisies incomplètes ou une chronologie non respectée dans le suivi.</a:t>
            </a:r>
            <a:endParaRPr b="0" lang="en-US" sz="1250" spc="-1" strike="noStrike">
              <a:solidFill>
                <a:srgbClr val="000000"/>
              </a:solidFill>
              <a:latin typeface="Arial"/>
            </a:endParaRPr>
          </a:p>
        </p:txBody>
      </p:sp>
      <p:sp>
        <p:nvSpPr>
          <p:cNvPr id="312"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utiliser un modèle de fiche standardisé, démontré pas à pas, avec contrôle croisé systématique.</a:t>
            </a:r>
            <a:endParaRPr b="0" lang="en-US" sz="1250" spc="-1" strike="noStrike">
              <a:solidFill>
                <a:srgbClr val="000000"/>
              </a:solidFill>
              <a:latin typeface="Arial"/>
            </a:endParaRPr>
          </a:p>
        </p:txBody>
      </p:sp>
      <p:sp>
        <p:nvSpPr>
          <p:cNvPr id="313"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314"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16</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315" name="Text 0"/>
          <p:cNvSpPr/>
          <p:nvPr/>
        </p:nvSpPr>
        <p:spPr>
          <a:xfrm>
            <a:off x="548640" y="50292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2e9cca"/>
                </a:solidFill>
                <a:latin typeface="Arial"/>
                <a:ea typeface="Arial"/>
              </a:rPr>
              <a:t>SYNTHÈSE – BLOC 1</a:t>
            </a:r>
            <a:endParaRPr b="0" lang="en-US" sz="1400" spc="-1" strike="noStrike">
              <a:solidFill>
                <a:srgbClr val="ffffff"/>
              </a:solidFill>
              <a:latin typeface="Arial"/>
            </a:endParaRPr>
          </a:p>
        </p:txBody>
      </p:sp>
      <p:sp>
        <p:nvSpPr>
          <p:cNvPr id="316" name="Text 1"/>
          <p:cNvSpPr/>
          <p:nvPr/>
        </p:nvSpPr>
        <p:spPr>
          <a:xfrm>
            <a:off x="548640" y="914400"/>
            <a:ext cx="9600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ffffff"/>
                </a:solidFill>
                <a:latin typeface="Arial"/>
                <a:ea typeface="Arial"/>
              </a:rPr>
              <a:t>Planifier l'utilisation des ressources</a:t>
            </a:r>
            <a:endParaRPr b="0" lang="en-US" sz="2400" spc="-1" strike="noStrike">
              <a:solidFill>
                <a:srgbClr val="ffffff"/>
              </a:solidFill>
              <a:latin typeface="Arial"/>
            </a:endParaRPr>
          </a:p>
        </p:txBody>
      </p:sp>
      <p:sp>
        <p:nvSpPr>
          <p:cNvPr id="317" name="Text 2"/>
          <p:cNvSpPr/>
          <p:nvPr/>
        </p:nvSpPr>
        <p:spPr>
          <a:xfrm>
            <a:off x="548640" y="169164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afc8dc"/>
                </a:solidFill>
                <a:latin typeface="Arial"/>
                <a:ea typeface="Arial"/>
              </a:rPr>
              <a:t>Ce qui doit être acquis à ce stade :</a:t>
            </a:r>
            <a:endParaRPr b="0" lang="en-US" sz="1300" spc="-1" strike="noStrike">
              <a:solidFill>
                <a:srgbClr val="ffffff"/>
              </a:solidFill>
              <a:latin typeface="Arial"/>
            </a:endParaRPr>
          </a:p>
        </p:txBody>
      </p:sp>
      <p:sp>
        <p:nvSpPr>
          <p:cNvPr id="318" name="Shape 3"/>
          <p:cNvSpPr/>
          <p:nvPr/>
        </p:nvSpPr>
        <p:spPr>
          <a:xfrm>
            <a:off x="548640" y="20574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9" name="Shape 4"/>
          <p:cNvSpPr/>
          <p:nvPr/>
        </p:nvSpPr>
        <p:spPr>
          <a:xfrm>
            <a:off x="777240" y="23500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Text 5"/>
          <p:cNvSpPr/>
          <p:nvPr/>
        </p:nvSpPr>
        <p:spPr>
          <a:xfrm>
            <a:off x="1143000" y="21304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L'aménagement des espaces est réalisé selon les consignes et en garantissant l'accessibilité.</a:t>
            </a:r>
            <a:endParaRPr b="0" lang="en-US" sz="1250" spc="-1" strike="noStrike">
              <a:solidFill>
                <a:srgbClr val="ffffff"/>
              </a:solidFill>
              <a:latin typeface="Arial"/>
            </a:endParaRPr>
          </a:p>
        </p:txBody>
      </p:sp>
      <p:sp>
        <p:nvSpPr>
          <p:cNvPr id="321" name="Shape 6"/>
          <p:cNvSpPr/>
          <p:nvPr/>
        </p:nvSpPr>
        <p:spPr>
          <a:xfrm>
            <a:off x="548640" y="29718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Shape 7"/>
          <p:cNvSpPr/>
          <p:nvPr/>
        </p:nvSpPr>
        <p:spPr>
          <a:xfrm>
            <a:off x="777240" y="32644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Text 8"/>
          <p:cNvSpPr/>
          <p:nvPr/>
        </p:nvSpPr>
        <p:spPr>
          <a:xfrm>
            <a:off x="1143000" y="30448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La planification et l'aménagement des salles de réunion et autres ressources sont effectives.</a:t>
            </a:r>
            <a:endParaRPr b="0" lang="en-US" sz="1250" spc="-1" strike="noStrike">
              <a:solidFill>
                <a:srgbClr val="ffffff"/>
              </a:solidFill>
              <a:latin typeface="Arial"/>
            </a:endParaRPr>
          </a:p>
        </p:txBody>
      </p:sp>
      <p:sp>
        <p:nvSpPr>
          <p:cNvPr id="324" name="Shape 9"/>
          <p:cNvSpPr/>
          <p:nvPr/>
        </p:nvSpPr>
        <p:spPr>
          <a:xfrm>
            <a:off x="548640" y="38862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Shape 10"/>
          <p:cNvSpPr/>
          <p:nvPr/>
        </p:nvSpPr>
        <p:spPr>
          <a:xfrm>
            <a:off x="777240" y="41788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6" name="Text 11"/>
          <p:cNvSpPr/>
          <p:nvPr/>
        </p:nvSpPr>
        <p:spPr>
          <a:xfrm>
            <a:off x="1143000" y="39592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Le suivi de l'utilisation des ressources, incluant la traçabilité et la responsabilité des équipements, est rigoureux.</a:t>
            </a:r>
            <a:endParaRPr b="0" lang="en-US" sz="1250" spc="-1" strike="noStrike">
              <a:solidFill>
                <a:srgbClr val="ffffff"/>
              </a:solidFill>
              <a:latin typeface="Arial"/>
            </a:endParaRPr>
          </a:p>
        </p:txBody>
      </p:sp>
      <p:sp>
        <p:nvSpPr>
          <p:cNvPr id="327" name="Text 12"/>
          <p:cNvSpPr/>
          <p:nvPr/>
        </p:nvSpPr>
        <p:spPr>
          <a:xfrm>
            <a:off x="548640" y="4892040"/>
            <a:ext cx="110941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2e9cca"/>
                </a:solidFill>
                <a:latin typeface="Arial"/>
                <a:ea typeface="Arial"/>
              </a:rPr>
              <a:t>Passons maintenant à l'approvisionnement des fournitures nécessaires aux activités des occupants.</a:t>
            </a:r>
            <a:endParaRPr b="0" lang="en-US" sz="1300" spc="-1" strike="noStrike">
              <a:solidFill>
                <a:srgbClr val="ffffff"/>
              </a:solidFill>
              <a:latin typeface="Arial"/>
            </a:endParaRPr>
          </a:p>
        </p:txBody>
      </p:sp>
      <p:sp>
        <p:nvSpPr>
          <p:cNvPr id="328" name="Text 1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329" name="Text 1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17</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330" name="Shape 0"/>
          <p:cNvSpPr/>
          <p:nvPr/>
        </p:nvSpPr>
        <p:spPr>
          <a:xfrm>
            <a:off x="0" y="0"/>
            <a:ext cx="12191400" cy="6857640"/>
          </a:xfrm>
          <a:prstGeom prst="rect">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1" name="Shape 1"/>
          <p:cNvSpPr/>
          <p:nvPr/>
        </p:nvSpPr>
        <p:spPr>
          <a:xfrm>
            <a:off x="8076960" y="-1828800"/>
            <a:ext cx="5486040" cy="5486040"/>
          </a:xfrm>
          <a:prstGeom prst="ellipse">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2" name="Shape 2"/>
          <p:cNvSpPr/>
          <p:nvPr/>
        </p:nvSpPr>
        <p:spPr>
          <a:xfrm>
            <a:off x="9265680" y="-731520"/>
            <a:ext cx="3291480" cy="3291480"/>
          </a:xfrm>
          <a:prstGeom prst="ellipse">
            <a:avLst/>
          </a:prstGeom>
          <a:solidFill>
            <a:srgbClr val="2e9cca">
              <a:alpha val="4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3" name="Text 3"/>
          <p:cNvSpPr/>
          <p:nvPr/>
        </p:nvSpPr>
        <p:spPr>
          <a:xfrm>
            <a:off x="548640" y="2286000"/>
            <a:ext cx="3657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299" strike="noStrike">
                <a:solidFill>
                  <a:srgbClr val="2e9cca"/>
                </a:solidFill>
                <a:latin typeface="Arial"/>
                <a:ea typeface="Arial"/>
              </a:rPr>
              <a:t>BLOC 2</a:t>
            </a:r>
            <a:endParaRPr b="0" lang="en-US" sz="1600" spc="-1" strike="noStrike">
              <a:solidFill>
                <a:srgbClr val="ffffff"/>
              </a:solidFill>
              <a:latin typeface="Arial"/>
            </a:endParaRPr>
          </a:p>
        </p:txBody>
      </p:sp>
      <p:sp>
        <p:nvSpPr>
          <p:cNvPr id="334" name="Text 4"/>
          <p:cNvSpPr/>
          <p:nvPr/>
        </p:nvSpPr>
        <p:spPr>
          <a:xfrm>
            <a:off x="548640" y="2743200"/>
            <a:ext cx="9600840" cy="1554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3800" spc="-1" strike="noStrike">
                <a:solidFill>
                  <a:srgbClr val="ffffff"/>
                </a:solidFill>
                <a:latin typeface="Arial"/>
                <a:ea typeface="Arial"/>
              </a:rPr>
              <a:t>Approvisionner en fournitures</a:t>
            </a:r>
            <a:endParaRPr b="0" lang="en-US" sz="3800" spc="-1" strike="noStrike">
              <a:solidFill>
                <a:srgbClr val="ffffff"/>
              </a:solidFill>
              <a:latin typeface="Arial"/>
            </a:endParaRPr>
          </a:p>
        </p:txBody>
      </p:sp>
      <p:sp>
        <p:nvSpPr>
          <p:cNvPr id="335" name="Text 5"/>
          <p:cNvSpPr/>
          <p:nvPr/>
        </p:nvSpPr>
        <p:spPr>
          <a:xfrm>
            <a:off x="548640" y="4343400"/>
            <a:ext cx="91436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00" spc="-1" strike="noStrike">
                <a:solidFill>
                  <a:srgbClr val="afc8dc"/>
                </a:solidFill>
                <a:latin typeface="Arial"/>
                <a:ea typeface="Arial"/>
              </a:rPr>
              <a:t>Suivre les consommations, respecter les délais et intégrer la Transition Écologique et Énergétique</a:t>
            </a:r>
            <a:endParaRPr b="0" lang="en-US" sz="1500" spc="-1" strike="noStrike">
              <a:solidFill>
                <a:srgbClr val="ffffff"/>
              </a:solidFill>
              <a:latin typeface="Arial"/>
            </a:endParaRPr>
          </a:p>
        </p:txBody>
      </p:sp>
      <p:sp>
        <p:nvSpPr>
          <p:cNvPr id="336" name="Text 6"/>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337" name="Text 7"/>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18</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8" name="Shape 0"/>
          <p:cNvSpPr/>
          <p:nvPr/>
        </p:nvSpPr>
        <p:spPr>
          <a:xfrm>
            <a:off x="548640" y="457200"/>
            <a:ext cx="1462680" cy="383760"/>
          </a:xfrm>
          <a:prstGeom prst="roundRect">
            <a:avLst>
              <a:gd name="adj" fmla="val 1904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9" name="Text 1"/>
          <p:cNvSpPr/>
          <p:nvPr/>
        </p:nvSpPr>
        <p:spPr>
          <a:xfrm>
            <a:off x="548640" y="457200"/>
            <a:ext cx="14626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BLOC 2</a:t>
            </a:r>
            <a:endParaRPr b="0" lang="en-US" sz="1200" spc="-1" strike="noStrike">
              <a:solidFill>
                <a:srgbClr val="000000"/>
              </a:solidFill>
              <a:latin typeface="Arial"/>
            </a:endParaRPr>
          </a:p>
        </p:txBody>
      </p:sp>
      <p:sp>
        <p:nvSpPr>
          <p:cNvPr id="340" name="Text 2"/>
          <p:cNvSpPr/>
          <p:nvPr/>
        </p:nvSpPr>
        <p:spPr>
          <a:xfrm>
            <a:off x="2286000" y="457200"/>
            <a:ext cx="7772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6324f"/>
                </a:solidFill>
                <a:latin typeface="Arial"/>
                <a:ea typeface="Arial"/>
              </a:rPr>
              <a:t>Compétence visée et critères d'évaluation</a:t>
            </a:r>
            <a:endParaRPr b="0" lang="en-US" sz="1600" spc="-1" strike="noStrike">
              <a:solidFill>
                <a:srgbClr val="000000"/>
              </a:solidFill>
              <a:latin typeface="Arial"/>
            </a:endParaRPr>
          </a:p>
        </p:txBody>
      </p:sp>
      <p:sp>
        <p:nvSpPr>
          <p:cNvPr id="341" name="Shape 3"/>
          <p:cNvSpPr/>
          <p:nvPr/>
        </p:nvSpPr>
        <p:spPr>
          <a:xfrm>
            <a:off x="548640" y="1051560"/>
            <a:ext cx="11094120" cy="1051200"/>
          </a:xfrm>
          <a:prstGeom prst="roundRect">
            <a:avLst>
              <a:gd name="adj" fmla="val 6957"/>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Text 4"/>
          <p:cNvSpPr/>
          <p:nvPr/>
        </p:nvSpPr>
        <p:spPr>
          <a:xfrm>
            <a:off x="822960" y="1051560"/>
            <a:ext cx="10545480" cy="105120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350" spc="-1" strike="noStrike">
                <a:solidFill>
                  <a:srgbClr val="ffffff"/>
                </a:solidFill>
                <a:latin typeface="Arial"/>
                <a:ea typeface="Arial"/>
              </a:rPr>
              <a:t>Approvisionner en fournitures nécessaires aux activités des occupants, en suivant les consommations, en respectant les délais de livraison et en archivant les documents administratifs, afin de maintenir la continuité des activités et optimiser l'organisation du travail.</a:t>
            </a:r>
            <a:endParaRPr b="0" lang="en-US" sz="1350" spc="-1" strike="noStrike">
              <a:solidFill>
                <a:srgbClr val="000000"/>
              </a:solidFill>
              <a:latin typeface="Arial"/>
            </a:endParaRPr>
          </a:p>
        </p:txBody>
      </p:sp>
      <p:sp>
        <p:nvSpPr>
          <p:cNvPr id="343" name="Text 5"/>
          <p:cNvSpPr/>
          <p:nvPr/>
        </p:nvSpPr>
        <p:spPr>
          <a:xfrm>
            <a:off x="548640" y="233172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CRITÈRES D'ÉVALUATION ASSOCIÉS</a:t>
            </a:r>
            <a:endParaRPr b="0" lang="en-US" sz="1200" spc="-1" strike="noStrike">
              <a:solidFill>
                <a:srgbClr val="000000"/>
              </a:solidFill>
              <a:latin typeface="Arial"/>
            </a:endParaRPr>
          </a:p>
        </p:txBody>
      </p:sp>
      <p:sp>
        <p:nvSpPr>
          <p:cNvPr id="344" name="Shape 6"/>
          <p:cNvSpPr/>
          <p:nvPr/>
        </p:nvSpPr>
        <p:spPr>
          <a:xfrm>
            <a:off x="548640" y="2743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Text 7"/>
          <p:cNvSpPr/>
          <p:nvPr/>
        </p:nvSpPr>
        <p:spPr>
          <a:xfrm>
            <a:off x="868680" y="262440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Les besoins sont anticipés et les commandes sont passées en respectant les délais.</a:t>
            </a:r>
            <a:endParaRPr b="0" lang="en-US" sz="1200" spc="-1" strike="noStrike">
              <a:solidFill>
                <a:srgbClr val="000000"/>
              </a:solidFill>
              <a:latin typeface="Arial"/>
            </a:endParaRPr>
          </a:p>
        </p:txBody>
      </p:sp>
      <p:sp>
        <p:nvSpPr>
          <p:cNvPr id="346" name="Shape 8"/>
          <p:cNvSpPr/>
          <p:nvPr/>
        </p:nvSpPr>
        <p:spPr>
          <a:xfrm>
            <a:off x="548640" y="3310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Text 9"/>
          <p:cNvSpPr/>
          <p:nvPr/>
        </p:nvSpPr>
        <p:spPr>
          <a:xfrm>
            <a:off x="868680" y="319140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L'approvisionnement et la gestion des stocks de fournitures nécessaires sont efficaces.</a:t>
            </a:r>
            <a:endParaRPr b="0" lang="en-US" sz="1200" spc="-1" strike="noStrike">
              <a:solidFill>
                <a:srgbClr val="000000"/>
              </a:solidFill>
              <a:latin typeface="Arial"/>
            </a:endParaRPr>
          </a:p>
        </p:txBody>
      </p:sp>
      <p:sp>
        <p:nvSpPr>
          <p:cNvPr id="348" name="Shape 10"/>
          <p:cNvSpPr/>
          <p:nvPr/>
        </p:nvSpPr>
        <p:spPr>
          <a:xfrm>
            <a:off x="548640" y="3877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9" name="Text 11"/>
          <p:cNvSpPr/>
          <p:nvPr/>
        </p:nvSpPr>
        <p:spPr>
          <a:xfrm>
            <a:off x="868680" y="375804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L'inventaire et la gestion raisonnée dans le cadre de la Transition Écologique et Énergétique des consommations sont maintenus à jour pour éviter les ruptures de stock.</a:t>
            </a:r>
            <a:endParaRPr b="0" lang="en-US" sz="1200" spc="-1" strike="noStrike">
              <a:solidFill>
                <a:srgbClr val="000000"/>
              </a:solidFill>
              <a:latin typeface="Arial"/>
            </a:endParaRPr>
          </a:p>
        </p:txBody>
      </p:sp>
      <p:sp>
        <p:nvSpPr>
          <p:cNvPr id="350" name="Text 12"/>
          <p:cNvSpPr/>
          <p:nvPr/>
        </p:nvSpPr>
        <p:spPr>
          <a:xfrm>
            <a:off x="548640" y="6035040"/>
            <a:ext cx="11094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50" spc="-1" strike="noStrike">
                <a:solidFill>
                  <a:srgbClr val="51606e"/>
                </a:solidFill>
                <a:latin typeface="Arial"/>
                <a:ea typeface="Arial"/>
              </a:rPr>
              <a:t>Séquences de ce bloc : 4. Processus d'approvisionnement – 5. Suivi des stocks et TEE</a:t>
            </a:r>
            <a:endParaRPr b="0" lang="en-US" sz="1150" spc="-1" strike="noStrike">
              <a:solidFill>
                <a:srgbClr val="000000"/>
              </a:solidFill>
              <a:latin typeface="Arial"/>
            </a:endParaRPr>
          </a:p>
        </p:txBody>
      </p:sp>
      <p:sp>
        <p:nvSpPr>
          <p:cNvPr id="351" name="Text 1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352" name="Text 1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19</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3"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4"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4</a:t>
            </a:r>
            <a:endParaRPr b="0" lang="en-US" sz="1200" spc="-1" strike="noStrike">
              <a:solidFill>
                <a:srgbClr val="000000"/>
              </a:solidFill>
              <a:latin typeface="Arial"/>
            </a:endParaRPr>
          </a:p>
        </p:txBody>
      </p:sp>
      <p:sp>
        <p:nvSpPr>
          <p:cNvPr id="355"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30 min</a:t>
            </a:r>
            <a:endParaRPr b="0" lang="en-US" sz="1400" spc="-1" strike="noStrike">
              <a:solidFill>
                <a:srgbClr val="000000"/>
              </a:solidFill>
              <a:latin typeface="Arial"/>
            </a:endParaRPr>
          </a:p>
        </p:txBody>
      </p:sp>
      <p:sp>
        <p:nvSpPr>
          <p:cNvPr id="357"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Appliquer le processus d'approvisionnement</a:t>
            </a:r>
            <a:endParaRPr b="0" lang="en-US" sz="2400" spc="-1" strike="noStrike">
              <a:solidFill>
                <a:srgbClr val="000000"/>
              </a:solidFill>
              <a:latin typeface="Arial"/>
            </a:endParaRPr>
          </a:p>
        </p:txBody>
      </p:sp>
      <p:sp>
        <p:nvSpPr>
          <p:cNvPr id="358"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Appliquer le processus d'approvisionnement des fournitures en fonction des consommations et des besoins identifiés.</a:t>
            </a:r>
            <a:endParaRPr b="0" lang="en-US" sz="1250" spc="-1" strike="noStrike">
              <a:solidFill>
                <a:srgbClr val="000000"/>
              </a:solidFill>
              <a:latin typeface="Arial"/>
            </a:endParaRPr>
          </a:p>
        </p:txBody>
      </p:sp>
      <p:sp>
        <p:nvSpPr>
          <p:cNvPr id="359"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361" name="Text 8"/>
          <p:cNvSpPr/>
          <p:nvPr/>
        </p:nvSpPr>
        <p:spPr>
          <a:xfrm>
            <a:off x="1051560" y="23500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Connaître les étapes du processus d'approvisionnement : recensement du besoin, commande, réception, archivage.</a:t>
            </a:r>
            <a:endParaRPr b="0" lang="en-US" sz="1400" spc="-1" strike="noStrike">
              <a:solidFill>
                <a:srgbClr val="000000"/>
              </a:solidFill>
              <a:latin typeface="Arial"/>
            </a:endParaRPr>
          </a:p>
        </p:txBody>
      </p:sp>
      <p:sp>
        <p:nvSpPr>
          <p:cNvPr id="362" name="Shape 9"/>
          <p:cNvSpPr/>
          <p:nvPr/>
        </p:nvSpPr>
        <p:spPr>
          <a:xfrm>
            <a:off x="548640" y="2932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3" name="Text 10"/>
          <p:cNvSpPr/>
          <p:nvPr/>
        </p:nvSpPr>
        <p:spPr>
          <a:xfrm>
            <a:off x="548640" y="2932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364" name="Text 11"/>
          <p:cNvSpPr/>
          <p:nvPr/>
        </p:nvSpPr>
        <p:spPr>
          <a:xfrm>
            <a:off x="1051560" y="28414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Identifier les informations nécessaires à une demande d'approvisionnement : délais, quantités, fournisseurs.</a:t>
            </a:r>
            <a:endParaRPr b="0" lang="en-US" sz="1400" spc="-1" strike="noStrike">
              <a:solidFill>
                <a:srgbClr val="000000"/>
              </a:solidFill>
              <a:latin typeface="Arial"/>
            </a:endParaRPr>
          </a:p>
        </p:txBody>
      </p:sp>
      <p:sp>
        <p:nvSpPr>
          <p:cNvPr id="365" name="Shape 12"/>
          <p:cNvSpPr/>
          <p:nvPr/>
        </p:nvSpPr>
        <p:spPr>
          <a:xfrm>
            <a:off x="548640" y="34243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6" name="Text 13"/>
          <p:cNvSpPr/>
          <p:nvPr/>
        </p:nvSpPr>
        <p:spPr>
          <a:xfrm>
            <a:off x="548640" y="34243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367" name="Text 14"/>
          <p:cNvSpPr/>
          <p:nvPr/>
        </p:nvSpPr>
        <p:spPr>
          <a:xfrm>
            <a:off x="1051560" y="33328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Distinguer besoin réel, stock disponible et quantité à commander.</a:t>
            </a:r>
            <a:endParaRPr b="0" lang="en-US" sz="1400" spc="-1" strike="noStrike">
              <a:solidFill>
                <a:srgbClr val="000000"/>
              </a:solidFill>
              <a:latin typeface="Arial"/>
            </a:endParaRPr>
          </a:p>
        </p:txBody>
      </p:sp>
      <p:sp>
        <p:nvSpPr>
          <p:cNvPr id="368" name="Shape 15"/>
          <p:cNvSpPr/>
          <p:nvPr/>
        </p:nvSpPr>
        <p:spPr>
          <a:xfrm>
            <a:off x="548640" y="391608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9" name="Text 16"/>
          <p:cNvSpPr/>
          <p:nvPr/>
        </p:nvSpPr>
        <p:spPr>
          <a:xfrm>
            <a:off x="548640" y="39160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370" name="Text 17"/>
          <p:cNvSpPr/>
          <p:nvPr/>
        </p:nvSpPr>
        <p:spPr>
          <a:xfrm>
            <a:off x="1051560" y="382464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Respecter les délais de livraison pour garantir la continuité des activités.</a:t>
            </a:r>
            <a:endParaRPr b="0" lang="en-US" sz="1400" spc="-1" strike="noStrike">
              <a:solidFill>
                <a:srgbClr val="000000"/>
              </a:solidFill>
              <a:latin typeface="Arial"/>
            </a:endParaRPr>
          </a:p>
        </p:txBody>
      </p:sp>
      <p:sp>
        <p:nvSpPr>
          <p:cNvPr id="371" name="Shape 18"/>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2" name="Text 19"/>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Fiche de besoin ; bon de commande / demande d'approvisionnement simulée ; étude de cas sur les consommations.</a:t>
            </a:r>
            <a:endParaRPr b="0" lang="en-US" sz="1100" spc="-1" strike="noStrike">
              <a:solidFill>
                <a:srgbClr val="000000"/>
              </a:solidFill>
              <a:latin typeface="Arial"/>
            </a:endParaRPr>
          </a:p>
        </p:txBody>
      </p:sp>
      <p:sp>
        <p:nvSpPr>
          <p:cNvPr id="373" name="Text 20"/>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374" name="Text 21"/>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20</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375"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6"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377"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4</a:t>
            </a:r>
            <a:endParaRPr b="0" lang="en-US" sz="1300" spc="-1" strike="noStrike">
              <a:solidFill>
                <a:srgbClr val="000000"/>
              </a:solidFill>
              <a:latin typeface="Arial"/>
            </a:endParaRPr>
          </a:p>
        </p:txBody>
      </p:sp>
      <p:sp>
        <p:nvSpPr>
          <p:cNvPr id="378"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Étude de cas : simuler une demande d'approvisionnement</a:t>
            </a:r>
            <a:endParaRPr b="0" lang="en-US" sz="1900" spc="-1" strike="noStrike">
              <a:solidFill>
                <a:srgbClr val="000000"/>
              </a:solidFill>
              <a:latin typeface="Arial"/>
            </a:endParaRPr>
          </a:p>
        </p:txBody>
      </p:sp>
      <p:sp>
        <p:nvSpPr>
          <p:cNvPr id="379"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0"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30 min</a:t>
            </a:r>
            <a:endParaRPr b="0" lang="en-US" sz="1400" spc="-1" strike="noStrike">
              <a:solidFill>
                <a:srgbClr val="000000"/>
              </a:solidFill>
              <a:latin typeface="Arial"/>
            </a:endParaRPr>
          </a:p>
        </p:txBody>
      </p:sp>
      <p:sp>
        <p:nvSpPr>
          <p:cNvPr id="381"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2"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383"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385"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À partir d'un niveau de consommation et d'un besoin à venir, déterminer quoi approvisionner, en quelle quantité et à quel moment.</a:t>
            </a:r>
            <a:endParaRPr b="0" lang="en-US" sz="1300" spc="-1" strike="noStrike">
              <a:solidFill>
                <a:srgbClr val="000000"/>
              </a:solidFill>
              <a:latin typeface="Arial"/>
            </a:endParaRPr>
          </a:p>
        </p:txBody>
      </p:sp>
      <p:sp>
        <p:nvSpPr>
          <p:cNvPr id="386"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7"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388"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Simuler une demande d'approvisionnement en vérifiant les informations nécessaires.</a:t>
            </a:r>
            <a:endParaRPr b="0" lang="en-US" sz="1300" spc="-1" strike="noStrike">
              <a:solidFill>
                <a:srgbClr val="000000"/>
              </a:solidFill>
              <a:latin typeface="Arial"/>
            </a:endParaRPr>
          </a:p>
        </p:txBody>
      </p:sp>
      <p:sp>
        <p:nvSpPr>
          <p:cNvPr id="389"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0"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391"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Ordonner les étapes du processus d'approvisionnement.</a:t>
            </a:r>
            <a:endParaRPr b="0" lang="en-US" sz="1300" spc="-1" strike="noStrike">
              <a:solidFill>
                <a:srgbClr val="000000"/>
              </a:solidFill>
              <a:latin typeface="Arial"/>
            </a:endParaRPr>
          </a:p>
        </p:txBody>
      </p:sp>
      <p:sp>
        <p:nvSpPr>
          <p:cNvPr id="392"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3"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individuel puis mise en commun – 18 minutes.</a:t>
            </a:r>
            <a:endParaRPr b="0" lang="en-US" sz="1150" spc="-1" strike="noStrike">
              <a:solidFill>
                <a:srgbClr val="000000"/>
              </a:solidFill>
              <a:latin typeface="Arial"/>
            </a:endParaRPr>
          </a:p>
        </p:txBody>
      </p:sp>
      <p:sp>
        <p:nvSpPr>
          <p:cNvPr id="394"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395"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21</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396"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398"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4</a:t>
            </a:r>
            <a:endParaRPr b="0" lang="en-US" sz="1300" spc="-1" strike="noStrike">
              <a:solidFill>
                <a:srgbClr val="000000"/>
              </a:solidFill>
              <a:latin typeface="Arial"/>
            </a:endParaRPr>
          </a:p>
        </p:txBody>
      </p:sp>
      <p:sp>
        <p:nvSpPr>
          <p:cNvPr id="399"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Correction du cas chiffré</a:t>
            </a:r>
            <a:endParaRPr b="0" lang="en-US" sz="1900" spc="-1" strike="noStrike">
              <a:solidFill>
                <a:srgbClr val="000000"/>
              </a:solidFill>
              <a:latin typeface="Arial"/>
            </a:endParaRPr>
          </a:p>
        </p:txBody>
      </p:sp>
      <p:sp>
        <p:nvSpPr>
          <p:cNvPr id="400"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401"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2"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Validation collective de la quantité et du délai retenus dans le cas.</a:t>
            </a:r>
            <a:endParaRPr b="0" lang="en-US" sz="1300" spc="-1" strike="noStrike">
              <a:solidFill>
                <a:srgbClr val="000000"/>
              </a:solidFill>
              <a:latin typeface="Arial"/>
            </a:endParaRPr>
          </a:p>
        </p:txBody>
      </p:sp>
      <p:sp>
        <p:nvSpPr>
          <p:cNvPr id="403"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4"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Reprise ordonnée des étapes du processus d'approvisionnement.</a:t>
            </a:r>
            <a:endParaRPr b="0" lang="en-US" sz="1300" spc="-1" strike="noStrike">
              <a:solidFill>
                <a:srgbClr val="000000"/>
              </a:solidFill>
              <a:latin typeface="Arial"/>
            </a:endParaRPr>
          </a:p>
        </p:txBody>
      </p:sp>
      <p:sp>
        <p:nvSpPr>
          <p:cNvPr id="405"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6"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7"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408"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une confusion entre besoin réel, stock disponible et quantité à commander.</a:t>
            </a:r>
            <a:endParaRPr b="0" lang="en-US" sz="1250" spc="-1" strike="noStrike">
              <a:solidFill>
                <a:srgbClr val="000000"/>
              </a:solidFill>
              <a:latin typeface="Arial"/>
            </a:endParaRPr>
          </a:p>
        </p:txBody>
      </p:sp>
      <p:sp>
        <p:nvSpPr>
          <p:cNvPr id="409"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s'appuyer sur un cas chiffré simple et une check-list du processus d'approvisionnement.</a:t>
            </a:r>
            <a:endParaRPr b="0" lang="en-US" sz="1250" spc="-1" strike="noStrike">
              <a:solidFill>
                <a:srgbClr val="000000"/>
              </a:solidFill>
              <a:latin typeface="Arial"/>
            </a:endParaRPr>
          </a:p>
        </p:txBody>
      </p:sp>
      <p:sp>
        <p:nvSpPr>
          <p:cNvPr id="410"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411"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2"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5</a:t>
            </a:r>
            <a:endParaRPr b="0" lang="en-US" sz="1200" spc="-1" strike="noStrike">
              <a:solidFill>
                <a:srgbClr val="000000"/>
              </a:solidFill>
              <a:latin typeface="Arial"/>
            </a:endParaRPr>
          </a:p>
        </p:txBody>
      </p:sp>
      <p:sp>
        <p:nvSpPr>
          <p:cNvPr id="414"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5"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30 min</a:t>
            </a:r>
            <a:endParaRPr b="0" lang="en-US" sz="1400" spc="-1" strike="noStrike">
              <a:solidFill>
                <a:srgbClr val="000000"/>
              </a:solidFill>
              <a:latin typeface="Arial"/>
            </a:endParaRPr>
          </a:p>
        </p:txBody>
      </p:sp>
      <p:sp>
        <p:nvSpPr>
          <p:cNvPr id="416"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Suivre les stocks et intégrer la Transition Écologique et Énergétique</a:t>
            </a:r>
            <a:endParaRPr b="0" lang="en-US" sz="2400" spc="-1" strike="noStrike">
              <a:solidFill>
                <a:srgbClr val="000000"/>
              </a:solidFill>
              <a:latin typeface="Arial"/>
            </a:endParaRPr>
          </a:p>
        </p:txBody>
      </p:sp>
      <p:sp>
        <p:nvSpPr>
          <p:cNvPr id="417"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Mettre en œuvre le suivi des stocks et des consommations de fournitures en intégrant les exigences de gestion raisonnée liées à la Transition Écologique et Énergétique (TEE).</a:t>
            </a:r>
            <a:endParaRPr b="0" lang="en-US" sz="1250" spc="-1" strike="noStrike">
              <a:solidFill>
                <a:srgbClr val="000000"/>
              </a:solidFill>
              <a:latin typeface="Arial"/>
            </a:endParaRPr>
          </a:p>
        </p:txBody>
      </p:sp>
      <p:sp>
        <p:nvSpPr>
          <p:cNvPr id="418"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9"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420" name="Text 8"/>
          <p:cNvSpPr/>
          <p:nvPr/>
        </p:nvSpPr>
        <p:spPr>
          <a:xfrm>
            <a:off x="1051560" y="23500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Réaliser et mettre à jour un inventaire des fournitures.</a:t>
            </a:r>
            <a:endParaRPr b="0" lang="en-US" sz="1400" spc="-1" strike="noStrike">
              <a:solidFill>
                <a:srgbClr val="000000"/>
              </a:solidFill>
              <a:latin typeface="Arial"/>
            </a:endParaRPr>
          </a:p>
        </p:txBody>
      </p:sp>
      <p:sp>
        <p:nvSpPr>
          <p:cNvPr id="421" name="Shape 9"/>
          <p:cNvSpPr/>
          <p:nvPr/>
        </p:nvSpPr>
        <p:spPr>
          <a:xfrm>
            <a:off x="548640" y="2932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2" name="Text 10"/>
          <p:cNvSpPr/>
          <p:nvPr/>
        </p:nvSpPr>
        <p:spPr>
          <a:xfrm>
            <a:off x="548640" y="2932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423" name="Text 11"/>
          <p:cNvSpPr/>
          <p:nvPr/>
        </p:nvSpPr>
        <p:spPr>
          <a:xfrm>
            <a:off x="1051560" y="28414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Suivre les indicateurs de consommation et identifier les seuils d'alerte (risque de rupture de stock).</a:t>
            </a:r>
            <a:endParaRPr b="0" lang="en-US" sz="1400" spc="-1" strike="noStrike">
              <a:solidFill>
                <a:srgbClr val="000000"/>
              </a:solidFill>
              <a:latin typeface="Arial"/>
            </a:endParaRPr>
          </a:p>
        </p:txBody>
      </p:sp>
      <p:sp>
        <p:nvSpPr>
          <p:cNvPr id="424" name="Shape 12"/>
          <p:cNvSpPr/>
          <p:nvPr/>
        </p:nvSpPr>
        <p:spPr>
          <a:xfrm>
            <a:off x="548640" y="34243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Text 13"/>
          <p:cNvSpPr/>
          <p:nvPr/>
        </p:nvSpPr>
        <p:spPr>
          <a:xfrm>
            <a:off x="548640" y="34243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426" name="Text 14"/>
          <p:cNvSpPr/>
          <p:nvPr/>
        </p:nvSpPr>
        <p:spPr>
          <a:xfrm>
            <a:off x="1051560" y="33328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Intégrer les exigences de gestion raisonnée liées à la Transition Écologique et Énergétique.</a:t>
            </a:r>
            <a:endParaRPr b="0" lang="en-US" sz="1400" spc="-1" strike="noStrike">
              <a:solidFill>
                <a:srgbClr val="000000"/>
              </a:solidFill>
              <a:latin typeface="Arial"/>
            </a:endParaRPr>
          </a:p>
        </p:txBody>
      </p:sp>
      <p:sp>
        <p:nvSpPr>
          <p:cNvPr id="427" name="Shape 15"/>
          <p:cNvSpPr/>
          <p:nvPr/>
        </p:nvSpPr>
        <p:spPr>
          <a:xfrm>
            <a:off x="548640" y="391608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8" name="Text 16"/>
          <p:cNvSpPr/>
          <p:nvPr/>
        </p:nvSpPr>
        <p:spPr>
          <a:xfrm>
            <a:off x="548640" y="39160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429" name="Text 17"/>
          <p:cNvSpPr/>
          <p:nvPr/>
        </p:nvSpPr>
        <p:spPr>
          <a:xfrm>
            <a:off x="1051560" y="382464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Limiter le gaspillage, le surstockage et les commandes inutiles.</a:t>
            </a:r>
            <a:endParaRPr b="0" lang="en-US" sz="1400" spc="-1" strike="noStrike">
              <a:solidFill>
                <a:srgbClr val="000000"/>
              </a:solidFill>
              <a:latin typeface="Arial"/>
            </a:endParaRPr>
          </a:p>
        </p:txBody>
      </p:sp>
      <p:sp>
        <p:nvSpPr>
          <p:cNvPr id="430" name="Shape 18"/>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1" name="Text 19"/>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Fiche de stock ; inventaire simulé ; indicateurs de consommation ; exercice de gestion raisonnée et TEE.</a:t>
            </a:r>
            <a:endParaRPr b="0" lang="en-US" sz="1100" spc="-1" strike="noStrike">
              <a:solidFill>
                <a:srgbClr val="000000"/>
              </a:solidFill>
              <a:latin typeface="Arial"/>
            </a:endParaRPr>
          </a:p>
        </p:txBody>
      </p:sp>
      <p:sp>
        <p:nvSpPr>
          <p:cNvPr id="432" name="Text 20"/>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433" name="Text 21"/>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23</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434"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5"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436"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5</a:t>
            </a:r>
            <a:endParaRPr b="0" lang="en-US" sz="1300" spc="-1" strike="noStrike">
              <a:solidFill>
                <a:srgbClr val="000000"/>
              </a:solidFill>
              <a:latin typeface="Arial"/>
            </a:endParaRPr>
          </a:p>
        </p:txBody>
      </p:sp>
      <p:sp>
        <p:nvSpPr>
          <p:cNvPr id="437"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Mini-inventaire et gestion raisonnée</a:t>
            </a:r>
            <a:endParaRPr b="0" lang="en-US" sz="1900" spc="-1" strike="noStrike">
              <a:solidFill>
                <a:srgbClr val="000000"/>
              </a:solidFill>
              <a:latin typeface="Arial"/>
            </a:endParaRPr>
          </a:p>
        </p:txBody>
      </p:sp>
      <p:sp>
        <p:nvSpPr>
          <p:cNvPr id="438"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9"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30 min</a:t>
            </a:r>
            <a:endParaRPr b="0" lang="en-US" sz="1400" spc="-1" strike="noStrike">
              <a:solidFill>
                <a:srgbClr val="000000"/>
              </a:solidFill>
              <a:latin typeface="Arial"/>
            </a:endParaRPr>
          </a:p>
        </p:txBody>
      </p:sp>
      <p:sp>
        <p:nvSpPr>
          <p:cNvPr id="440"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1"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442"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3"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444"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Réaliser un mini-inventaire et calculer / repérer les consommations.</a:t>
            </a:r>
            <a:endParaRPr b="0" lang="en-US" sz="1300" spc="-1" strike="noStrike">
              <a:solidFill>
                <a:srgbClr val="000000"/>
              </a:solidFill>
              <a:latin typeface="Arial"/>
            </a:endParaRPr>
          </a:p>
        </p:txBody>
      </p:sp>
      <p:sp>
        <p:nvSpPr>
          <p:cNvPr id="445"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6"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447"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Identifier les seuils de stock nécessitant une action.</a:t>
            </a:r>
            <a:endParaRPr b="0" lang="en-US" sz="1300" spc="-1" strike="noStrike">
              <a:solidFill>
                <a:srgbClr val="000000"/>
              </a:solidFill>
              <a:latin typeface="Arial"/>
            </a:endParaRPr>
          </a:p>
        </p:txBody>
      </p:sp>
      <p:sp>
        <p:nvSpPr>
          <p:cNvPr id="448"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9"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450"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Proposer des mesures limitant le gaspillage, le surstockage et les commandes inutiles, en lien avec la TEE.</a:t>
            </a:r>
            <a:endParaRPr b="0" lang="en-US" sz="1300" spc="-1" strike="noStrike">
              <a:solidFill>
                <a:srgbClr val="000000"/>
              </a:solidFill>
              <a:latin typeface="Arial"/>
            </a:endParaRPr>
          </a:p>
        </p:txBody>
      </p:sp>
      <p:sp>
        <p:nvSpPr>
          <p:cNvPr id="451"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2"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en sous-groupes – 18 minutes.</a:t>
            </a:r>
            <a:endParaRPr b="0" lang="en-US" sz="1150" spc="-1" strike="noStrike">
              <a:solidFill>
                <a:srgbClr val="000000"/>
              </a:solidFill>
              <a:latin typeface="Arial"/>
            </a:endParaRPr>
          </a:p>
        </p:txBody>
      </p:sp>
      <p:sp>
        <p:nvSpPr>
          <p:cNvPr id="453"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454"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24</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455"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6"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457"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5</a:t>
            </a:r>
            <a:endParaRPr b="0" lang="en-US" sz="1300" spc="-1" strike="noStrike">
              <a:solidFill>
                <a:srgbClr val="000000"/>
              </a:solidFill>
              <a:latin typeface="Arial"/>
            </a:endParaRPr>
          </a:p>
        </p:txBody>
      </p:sp>
      <p:sp>
        <p:nvSpPr>
          <p:cNvPr id="458"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Mise en commun des mesures proposées</a:t>
            </a:r>
            <a:endParaRPr b="0" lang="en-US" sz="1900" spc="-1" strike="noStrike">
              <a:solidFill>
                <a:srgbClr val="000000"/>
              </a:solidFill>
              <a:latin typeface="Arial"/>
            </a:endParaRPr>
          </a:p>
        </p:txBody>
      </p:sp>
      <p:sp>
        <p:nvSpPr>
          <p:cNvPr id="459"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460"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Présentation des mesures proposées par chaque sous-groupe et de leur pertinence.</a:t>
            </a:r>
            <a:endParaRPr b="0" lang="en-US" sz="1300" spc="-1" strike="noStrike">
              <a:solidFill>
                <a:srgbClr val="000000"/>
              </a:solidFill>
              <a:latin typeface="Arial"/>
            </a:endParaRPr>
          </a:p>
        </p:txBody>
      </p:sp>
      <p:sp>
        <p:nvSpPr>
          <p:cNvPr id="462"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Échange sur les leviers de gestion raisonnée des consommations.</a:t>
            </a:r>
            <a:endParaRPr b="0" lang="en-US" sz="1300" spc="-1" strike="noStrike">
              <a:solidFill>
                <a:srgbClr val="000000"/>
              </a:solidFill>
              <a:latin typeface="Arial"/>
            </a:endParaRPr>
          </a:p>
        </p:txBody>
      </p:sp>
      <p:sp>
        <p:nvSpPr>
          <p:cNvPr id="464"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5"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6"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467"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une difficulté à relier concrètement gestion de stock et Transition Écologique et Énergétique.</a:t>
            </a:r>
            <a:endParaRPr b="0" lang="en-US" sz="1250" spc="-1" strike="noStrike">
              <a:solidFill>
                <a:srgbClr val="000000"/>
              </a:solidFill>
              <a:latin typeface="Arial"/>
            </a:endParaRPr>
          </a:p>
        </p:txBody>
      </p:sp>
      <p:sp>
        <p:nvSpPr>
          <p:cNvPr id="468"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illustrer avec des exemples concrets : surconsommation, gaspillage, réemploi, ajustement des seuils.</a:t>
            </a:r>
            <a:endParaRPr b="0" lang="en-US" sz="1250" spc="-1" strike="noStrike">
              <a:solidFill>
                <a:srgbClr val="000000"/>
              </a:solidFill>
              <a:latin typeface="Arial"/>
            </a:endParaRPr>
          </a:p>
        </p:txBody>
      </p:sp>
      <p:sp>
        <p:nvSpPr>
          <p:cNvPr id="469"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470"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25</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471" name="Text 0"/>
          <p:cNvSpPr/>
          <p:nvPr/>
        </p:nvSpPr>
        <p:spPr>
          <a:xfrm>
            <a:off x="548640" y="50292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2e9cca"/>
                </a:solidFill>
                <a:latin typeface="Arial"/>
                <a:ea typeface="Arial"/>
              </a:rPr>
              <a:t>SYNTHÈSE – BLOC 2</a:t>
            </a:r>
            <a:endParaRPr b="0" lang="en-US" sz="1400" spc="-1" strike="noStrike">
              <a:solidFill>
                <a:srgbClr val="ffffff"/>
              </a:solidFill>
              <a:latin typeface="Arial"/>
            </a:endParaRPr>
          </a:p>
        </p:txBody>
      </p:sp>
      <p:sp>
        <p:nvSpPr>
          <p:cNvPr id="472" name="Text 1"/>
          <p:cNvSpPr/>
          <p:nvPr/>
        </p:nvSpPr>
        <p:spPr>
          <a:xfrm>
            <a:off x="548640" y="914400"/>
            <a:ext cx="9600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ffffff"/>
                </a:solidFill>
                <a:latin typeface="Arial"/>
                <a:ea typeface="Arial"/>
              </a:rPr>
              <a:t>Approvisionner en fournitures</a:t>
            </a:r>
            <a:endParaRPr b="0" lang="en-US" sz="2400" spc="-1" strike="noStrike">
              <a:solidFill>
                <a:srgbClr val="ffffff"/>
              </a:solidFill>
              <a:latin typeface="Arial"/>
            </a:endParaRPr>
          </a:p>
        </p:txBody>
      </p:sp>
      <p:sp>
        <p:nvSpPr>
          <p:cNvPr id="473" name="Text 2"/>
          <p:cNvSpPr/>
          <p:nvPr/>
        </p:nvSpPr>
        <p:spPr>
          <a:xfrm>
            <a:off x="548640" y="169164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afc8dc"/>
                </a:solidFill>
                <a:latin typeface="Arial"/>
                <a:ea typeface="Arial"/>
              </a:rPr>
              <a:t>Ce qui doit être acquis à ce stade :</a:t>
            </a:r>
            <a:endParaRPr b="0" lang="en-US" sz="1300" spc="-1" strike="noStrike">
              <a:solidFill>
                <a:srgbClr val="ffffff"/>
              </a:solidFill>
              <a:latin typeface="Arial"/>
            </a:endParaRPr>
          </a:p>
        </p:txBody>
      </p:sp>
      <p:sp>
        <p:nvSpPr>
          <p:cNvPr id="474" name="Shape 3"/>
          <p:cNvSpPr/>
          <p:nvPr/>
        </p:nvSpPr>
        <p:spPr>
          <a:xfrm>
            <a:off x="548640" y="20574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5" name="Shape 4"/>
          <p:cNvSpPr/>
          <p:nvPr/>
        </p:nvSpPr>
        <p:spPr>
          <a:xfrm>
            <a:off x="777240" y="23500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6" name="Text 5"/>
          <p:cNvSpPr/>
          <p:nvPr/>
        </p:nvSpPr>
        <p:spPr>
          <a:xfrm>
            <a:off x="1143000" y="21304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Les besoins sont anticipés et les commandes sont passées en respectant les délais.</a:t>
            </a:r>
            <a:endParaRPr b="0" lang="en-US" sz="1250" spc="-1" strike="noStrike">
              <a:solidFill>
                <a:srgbClr val="ffffff"/>
              </a:solidFill>
              <a:latin typeface="Arial"/>
            </a:endParaRPr>
          </a:p>
        </p:txBody>
      </p:sp>
      <p:sp>
        <p:nvSpPr>
          <p:cNvPr id="477" name="Shape 6"/>
          <p:cNvSpPr/>
          <p:nvPr/>
        </p:nvSpPr>
        <p:spPr>
          <a:xfrm>
            <a:off x="548640" y="29718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8" name="Shape 7"/>
          <p:cNvSpPr/>
          <p:nvPr/>
        </p:nvSpPr>
        <p:spPr>
          <a:xfrm>
            <a:off x="777240" y="32644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9" name="Text 8"/>
          <p:cNvSpPr/>
          <p:nvPr/>
        </p:nvSpPr>
        <p:spPr>
          <a:xfrm>
            <a:off x="1143000" y="30448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L'approvisionnement et la gestion des stocks de fournitures nécessaires sont efficaces.</a:t>
            </a:r>
            <a:endParaRPr b="0" lang="en-US" sz="1250" spc="-1" strike="noStrike">
              <a:solidFill>
                <a:srgbClr val="ffffff"/>
              </a:solidFill>
              <a:latin typeface="Arial"/>
            </a:endParaRPr>
          </a:p>
        </p:txBody>
      </p:sp>
      <p:sp>
        <p:nvSpPr>
          <p:cNvPr id="480" name="Shape 9"/>
          <p:cNvSpPr/>
          <p:nvPr/>
        </p:nvSpPr>
        <p:spPr>
          <a:xfrm>
            <a:off x="548640" y="38862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1" name="Shape 10"/>
          <p:cNvSpPr/>
          <p:nvPr/>
        </p:nvSpPr>
        <p:spPr>
          <a:xfrm>
            <a:off x="777240" y="41788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2" name="Text 11"/>
          <p:cNvSpPr/>
          <p:nvPr/>
        </p:nvSpPr>
        <p:spPr>
          <a:xfrm>
            <a:off x="1143000" y="39592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L'inventaire et la gestion raisonnée (TEE) des consommations sont maintenus à jour pour éviter les ruptures de stock.</a:t>
            </a:r>
            <a:endParaRPr b="0" lang="en-US" sz="1250" spc="-1" strike="noStrike">
              <a:solidFill>
                <a:srgbClr val="ffffff"/>
              </a:solidFill>
              <a:latin typeface="Arial"/>
            </a:endParaRPr>
          </a:p>
        </p:txBody>
      </p:sp>
      <p:sp>
        <p:nvSpPr>
          <p:cNvPr id="483" name="Text 12"/>
          <p:cNvSpPr/>
          <p:nvPr/>
        </p:nvSpPr>
        <p:spPr>
          <a:xfrm>
            <a:off x="548640" y="4892040"/>
            <a:ext cx="110941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2e9cca"/>
                </a:solidFill>
                <a:latin typeface="Arial"/>
                <a:ea typeface="Arial"/>
              </a:rPr>
              <a:t>Passons maintenant au suivi des interventions des prestataires jusqu'à leur clôture.</a:t>
            </a:r>
            <a:endParaRPr b="0" lang="en-US" sz="1300" spc="-1" strike="noStrike">
              <a:solidFill>
                <a:srgbClr val="ffffff"/>
              </a:solidFill>
              <a:latin typeface="Arial"/>
            </a:endParaRPr>
          </a:p>
        </p:txBody>
      </p:sp>
      <p:sp>
        <p:nvSpPr>
          <p:cNvPr id="484" name="Text 1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485" name="Text 1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26</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486" name="Shape 0"/>
          <p:cNvSpPr/>
          <p:nvPr/>
        </p:nvSpPr>
        <p:spPr>
          <a:xfrm>
            <a:off x="0" y="0"/>
            <a:ext cx="12191400" cy="6857640"/>
          </a:xfrm>
          <a:prstGeom prst="rect">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7" name="Shape 1"/>
          <p:cNvSpPr/>
          <p:nvPr/>
        </p:nvSpPr>
        <p:spPr>
          <a:xfrm>
            <a:off x="8076960" y="-1828800"/>
            <a:ext cx="5486040" cy="5486040"/>
          </a:xfrm>
          <a:prstGeom prst="ellipse">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8" name="Shape 2"/>
          <p:cNvSpPr/>
          <p:nvPr/>
        </p:nvSpPr>
        <p:spPr>
          <a:xfrm>
            <a:off x="9265680" y="-731520"/>
            <a:ext cx="3291480" cy="3291480"/>
          </a:xfrm>
          <a:prstGeom prst="ellipse">
            <a:avLst/>
          </a:prstGeom>
          <a:solidFill>
            <a:srgbClr val="2e9cca">
              <a:alpha val="4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Text 3"/>
          <p:cNvSpPr/>
          <p:nvPr/>
        </p:nvSpPr>
        <p:spPr>
          <a:xfrm>
            <a:off x="548640" y="2286000"/>
            <a:ext cx="3657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299" strike="noStrike">
                <a:solidFill>
                  <a:srgbClr val="2e9cca"/>
                </a:solidFill>
                <a:latin typeface="Arial"/>
                <a:ea typeface="Arial"/>
              </a:rPr>
              <a:t>BLOC 3</a:t>
            </a:r>
            <a:endParaRPr b="0" lang="en-US" sz="1600" spc="-1" strike="noStrike">
              <a:solidFill>
                <a:srgbClr val="ffffff"/>
              </a:solidFill>
              <a:latin typeface="Arial"/>
            </a:endParaRPr>
          </a:p>
        </p:txBody>
      </p:sp>
      <p:sp>
        <p:nvSpPr>
          <p:cNvPr id="490" name="Text 4"/>
          <p:cNvSpPr/>
          <p:nvPr/>
        </p:nvSpPr>
        <p:spPr>
          <a:xfrm>
            <a:off x="548640" y="2743200"/>
            <a:ext cx="9600840" cy="1554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3800" spc="-1" strike="noStrike">
                <a:solidFill>
                  <a:srgbClr val="ffffff"/>
                </a:solidFill>
                <a:latin typeface="Arial"/>
                <a:ea typeface="Arial"/>
              </a:rPr>
              <a:t>Suivre les interventions des prestataires</a:t>
            </a:r>
            <a:endParaRPr b="0" lang="en-US" sz="3800" spc="-1" strike="noStrike">
              <a:solidFill>
                <a:srgbClr val="ffffff"/>
              </a:solidFill>
              <a:latin typeface="Arial"/>
            </a:endParaRPr>
          </a:p>
        </p:txBody>
      </p:sp>
      <p:sp>
        <p:nvSpPr>
          <p:cNvPr id="491" name="Text 5"/>
          <p:cNvSpPr/>
          <p:nvPr/>
        </p:nvSpPr>
        <p:spPr>
          <a:xfrm>
            <a:off x="548640" y="4343400"/>
            <a:ext cx="91436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00" spc="-1" strike="noStrike">
                <a:solidFill>
                  <a:srgbClr val="afc8dc"/>
                </a:solidFill>
                <a:latin typeface="Arial"/>
                <a:ea typeface="Arial"/>
              </a:rPr>
              <a:t>Enregistrer, contrôler et assurer la traçabilité jusqu'à la clôture</a:t>
            </a:r>
            <a:endParaRPr b="0" lang="en-US" sz="1500" spc="-1" strike="noStrike">
              <a:solidFill>
                <a:srgbClr val="ffffff"/>
              </a:solidFill>
              <a:latin typeface="Arial"/>
            </a:endParaRPr>
          </a:p>
        </p:txBody>
      </p:sp>
      <p:sp>
        <p:nvSpPr>
          <p:cNvPr id="492" name="Text 6"/>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493" name="Text 7"/>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27</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4" name="Shape 0"/>
          <p:cNvSpPr/>
          <p:nvPr/>
        </p:nvSpPr>
        <p:spPr>
          <a:xfrm>
            <a:off x="548640" y="457200"/>
            <a:ext cx="1462680" cy="383760"/>
          </a:xfrm>
          <a:prstGeom prst="roundRect">
            <a:avLst>
              <a:gd name="adj" fmla="val 1904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Text 1"/>
          <p:cNvSpPr/>
          <p:nvPr/>
        </p:nvSpPr>
        <p:spPr>
          <a:xfrm>
            <a:off x="548640" y="457200"/>
            <a:ext cx="14626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BLOC 3</a:t>
            </a:r>
            <a:endParaRPr b="0" lang="en-US" sz="1200" spc="-1" strike="noStrike">
              <a:solidFill>
                <a:srgbClr val="000000"/>
              </a:solidFill>
              <a:latin typeface="Arial"/>
            </a:endParaRPr>
          </a:p>
        </p:txBody>
      </p:sp>
      <p:sp>
        <p:nvSpPr>
          <p:cNvPr id="496" name="Text 2"/>
          <p:cNvSpPr/>
          <p:nvPr/>
        </p:nvSpPr>
        <p:spPr>
          <a:xfrm>
            <a:off x="2286000" y="457200"/>
            <a:ext cx="7772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6324f"/>
                </a:solidFill>
                <a:latin typeface="Arial"/>
                <a:ea typeface="Arial"/>
              </a:rPr>
              <a:t>Compétence visée et critères d'évaluation</a:t>
            </a:r>
            <a:endParaRPr b="0" lang="en-US" sz="1600" spc="-1" strike="noStrike">
              <a:solidFill>
                <a:srgbClr val="000000"/>
              </a:solidFill>
              <a:latin typeface="Arial"/>
            </a:endParaRPr>
          </a:p>
        </p:txBody>
      </p:sp>
      <p:sp>
        <p:nvSpPr>
          <p:cNvPr id="497" name="Shape 3"/>
          <p:cNvSpPr/>
          <p:nvPr/>
        </p:nvSpPr>
        <p:spPr>
          <a:xfrm>
            <a:off x="548640" y="1051560"/>
            <a:ext cx="11094120" cy="1051200"/>
          </a:xfrm>
          <a:prstGeom prst="roundRect">
            <a:avLst>
              <a:gd name="adj" fmla="val 6957"/>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8" name="Text 4"/>
          <p:cNvSpPr/>
          <p:nvPr/>
        </p:nvSpPr>
        <p:spPr>
          <a:xfrm>
            <a:off x="822960" y="1051560"/>
            <a:ext cx="10545480" cy="105120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350" spc="-1" strike="noStrike">
                <a:solidFill>
                  <a:srgbClr val="ffffff"/>
                </a:solidFill>
                <a:latin typeface="Arial"/>
                <a:ea typeface="Arial"/>
              </a:rPr>
              <a:t>Suivre les interventions des prestataires jusqu'à leur clôture, en utilisant des outils de suivi appropriés et en s'appuyant sur des applicatifs informatiques pour préserver l'efficacité des prestations et la traçabilité des actions.</a:t>
            </a:r>
            <a:endParaRPr b="0" lang="en-US" sz="1350" spc="-1" strike="noStrike">
              <a:solidFill>
                <a:srgbClr val="000000"/>
              </a:solidFill>
              <a:latin typeface="Arial"/>
            </a:endParaRPr>
          </a:p>
        </p:txBody>
      </p:sp>
      <p:sp>
        <p:nvSpPr>
          <p:cNvPr id="499" name="Text 5"/>
          <p:cNvSpPr/>
          <p:nvPr/>
        </p:nvSpPr>
        <p:spPr>
          <a:xfrm>
            <a:off x="548640" y="233172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2e9cca"/>
                </a:solidFill>
                <a:latin typeface="Arial"/>
                <a:ea typeface="Arial"/>
              </a:rPr>
              <a:t>CRITÈRES D'ÉVALUATION ASSOCIÉS</a:t>
            </a:r>
            <a:endParaRPr b="0" lang="en-US" sz="1200" spc="-1" strike="noStrike">
              <a:solidFill>
                <a:srgbClr val="000000"/>
              </a:solidFill>
              <a:latin typeface="Arial"/>
            </a:endParaRPr>
          </a:p>
        </p:txBody>
      </p:sp>
      <p:sp>
        <p:nvSpPr>
          <p:cNvPr id="500" name="Shape 6"/>
          <p:cNvSpPr/>
          <p:nvPr/>
        </p:nvSpPr>
        <p:spPr>
          <a:xfrm>
            <a:off x="548640" y="2743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1" name="Text 7"/>
          <p:cNvSpPr/>
          <p:nvPr/>
        </p:nvSpPr>
        <p:spPr>
          <a:xfrm>
            <a:off x="868680" y="262440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Les demandes d'interventions sont enregistrées et planifiées en fonction des priorités définies. Les délais d'exécution et les engagements contractuels sont vérifiés à chaque intervention.</a:t>
            </a:r>
            <a:endParaRPr b="0" lang="en-US" sz="1200" spc="-1" strike="noStrike">
              <a:solidFill>
                <a:srgbClr val="000000"/>
              </a:solidFill>
              <a:latin typeface="Arial"/>
            </a:endParaRPr>
          </a:p>
        </p:txBody>
      </p:sp>
      <p:sp>
        <p:nvSpPr>
          <p:cNvPr id="502" name="Shape 8"/>
          <p:cNvSpPr/>
          <p:nvPr/>
        </p:nvSpPr>
        <p:spPr>
          <a:xfrm>
            <a:off x="548640" y="3310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3" name="Text 9"/>
          <p:cNvSpPr/>
          <p:nvPr/>
        </p:nvSpPr>
        <p:spPr>
          <a:xfrm>
            <a:off x="868680" y="319140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Les interventions réalisées sont comparées aux exigences du cahier des charges. Les écarts éventuels sont identifiés et signalés aux services concernés.</a:t>
            </a:r>
            <a:endParaRPr b="0" lang="en-US" sz="1200" spc="-1" strike="noStrike">
              <a:solidFill>
                <a:srgbClr val="000000"/>
              </a:solidFill>
              <a:latin typeface="Arial"/>
            </a:endParaRPr>
          </a:p>
        </p:txBody>
      </p:sp>
      <p:sp>
        <p:nvSpPr>
          <p:cNvPr id="504" name="Shape 10"/>
          <p:cNvSpPr/>
          <p:nvPr/>
        </p:nvSpPr>
        <p:spPr>
          <a:xfrm>
            <a:off x="548640" y="3877200"/>
            <a:ext cx="145800" cy="14580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5" name="Text 11"/>
          <p:cNvSpPr/>
          <p:nvPr/>
        </p:nvSpPr>
        <p:spPr>
          <a:xfrm>
            <a:off x="868680" y="3758040"/>
            <a:ext cx="10774080" cy="5666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1b2430"/>
                </a:solidFill>
                <a:latin typeface="Arial"/>
                <a:ea typeface="Arial"/>
              </a:rPr>
              <a:t>La traçabilité des interventions est assurée via les outils de suivi.</a:t>
            </a:r>
            <a:endParaRPr b="0" lang="en-US" sz="1200" spc="-1" strike="noStrike">
              <a:solidFill>
                <a:srgbClr val="000000"/>
              </a:solidFill>
              <a:latin typeface="Arial"/>
            </a:endParaRPr>
          </a:p>
        </p:txBody>
      </p:sp>
      <p:sp>
        <p:nvSpPr>
          <p:cNvPr id="506" name="Text 12"/>
          <p:cNvSpPr/>
          <p:nvPr/>
        </p:nvSpPr>
        <p:spPr>
          <a:xfrm>
            <a:off x="548640" y="6035040"/>
            <a:ext cx="11094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50" spc="-1" strike="noStrike">
                <a:solidFill>
                  <a:srgbClr val="51606e"/>
                </a:solidFill>
                <a:latin typeface="Arial"/>
                <a:ea typeface="Arial"/>
              </a:rPr>
              <a:t>Séquences de ce bloc : 6. Enregistrement et priorisation – 7. Contrôle du cahier des charges – 8. Traçabilité jusqu'à clôture</a:t>
            </a:r>
            <a:endParaRPr b="0" lang="en-US" sz="1150" spc="-1" strike="noStrike">
              <a:solidFill>
                <a:srgbClr val="000000"/>
              </a:solidFill>
              <a:latin typeface="Arial"/>
            </a:endParaRPr>
          </a:p>
        </p:txBody>
      </p:sp>
      <p:sp>
        <p:nvSpPr>
          <p:cNvPr id="507" name="Text 1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508" name="Text 1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9"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0"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6</a:t>
            </a:r>
            <a:endParaRPr b="0" lang="en-US" sz="1200" spc="-1" strike="noStrike">
              <a:solidFill>
                <a:srgbClr val="000000"/>
              </a:solidFill>
              <a:latin typeface="Arial"/>
            </a:endParaRPr>
          </a:p>
        </p:txBody>
      </p:sp>
      <p:sp>
        <p:nvSpPr>
          <p:cNvPr id="511"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2"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513"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Enregistrer et planifier les demandes d'intervention</a:t>
            </a:r>
            <a:endParaRPr b="0" lang="en-US" sz="2400" spc="-1" strike="noStrike">
              <a:solidFill>
                <a:srgbClr val="000000"/>
              </a:solidFill>
              <a:latin typeface="Arial"/>
            </a:endParaRPr>
          </a:p>
        </p:txBody>
      </p:sp>
      <p:sp>
        <p:nvSpPr>
          <p:cNvPr id="514"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Appliquer les modalités d'enregistrement et de planification des demandes d'intervention selon les priorités définies.</a:t>
            </a:r>
            <a:endParaRPr b="0" lang="en-US" sz="1250" spc="-1" strike="noStrike">
              <a:solidFill>
                <a:srgbClr val="000000"/>
              </a:solidFill>
              <a:latin typeface="Arial"/>
            </a:endParaRPr>
          </a:p>
        </p:txBody>
      </p:sp>
      <p:sp>
        <p:nvSpPr>
          <p:cNvPr id="515"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6"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17" name="Text 8"/>
          <p:cNvSpPr/>
          <p:nvPr/>
        </p:nvSpPr>
        <p:spPr>
          <a:xfrm>
            <a:off x="1051560" y="23500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Identifier les informations utiles à collecter lors de l'enregistrement d'une demande d'intervention.</a:t>
            </a:r>
            <a:endParaRPr b="0" lang="en-US" sz="1400" spc="-1" strike="noStrike">
              <a:solidFill>
                <a:srgbClr val="000000"/>
              </a:solidFill>
              <a:latin typeface="Arial"/>
            </a:endParaRPr>
          </a:p>
        </p:txBody>
      </p:sp>
      <p:sp>
        <p:nvSpPr>
          <p:cNvPr id="518" name="Shape 9"/>
          <p:cNvSpPr/>
          <p:nvPr/>
        </p:nvSpPr>
        <p:spPr>
          <a:xfrm>
            <a:off x="548640" y="2932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9" name="Text 10"/>
          <p:cNvSpPr/>
          <p:nvPr/>
        </p:nvSpPr>
        <p:spPr>
          <a:xfrm>
            <a:off x="548640" y="2932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20" name="Text 11"/>
          <p:cNvSpPr/>
          <p:nvPr/>
        </p:nvSpPr>
        <p:spPr>
          <a:xfrm>
            <a:off x="1051560" y="28414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Qualifier l'urgence et l'impact d'une demande.</a:t>
            </a:r>
            <a:endParaRPr b="0" lang="en-US" sz="1400" spc="-1" strike="noStrike">
              <a:solidFill>
                <a:srgbClr val="000000"/>
              </a:solidFill>
              <a:latin typeface="Arial"/>
            </a:endParaRPr>
          </a:p>
        </p:txBody>
      </p:sp>
      <p:sp>
        <p:nvSpPr>
          <p:cNvPr id="521" name="Shape 12"/>
          <p:cNvSpPr/>
          <p:nvPr/>
        </p:nvSpPr>
        <p:spPr>
          <a:xfrm>
            <a:off x="548640" y="34243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2" name="Text 13"/>
          <p:cNvSpPr/>
          <p:nvPr/>
        </p:nvSpPr>
        <p:spPr>
          <a:xfrm>
            <a:off x="548640" y="34243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23" name="Text 14"/>
          <p:cNvSpPr/>
          <p:nvPr/>
        </p:nvSpPr>
        <p:spPr>
          <a:xfrm>
            <a:off x="1051560" y="333288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Prioriser et planifier les interventions en garantissant la continuité de service.</a:t>
            </a:r>
            <a:endParaRPr b="0" lang="en-US" sz="1400" spc="-1" strike="noStrike">
              <a:solidFill>
                <a:srgbClr val="000000"/>
              </a:solidFill>
              <a:latin typeface="Arial"/>
            </a:endParaRPr>
          </a:p>
        </p:txBody>
      </p:sp>
      <p:sp>
        <p:nvSpPr>
          <p:cNvPr id="524" name="Shape 15"/>
          <p:cNvSpPr/>
          <p:nvPr/>
        </p:nvSpPr>
        <p:spPr>
          <a:xfrm>
            <a:off x="548640" y="391608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5" name="Text 16"/>
          <p:cNvSpPr/>
          <p:nvPr/>
        </p:nvSpPr>
        <p:spPr>
          <a:xfrm>
            <a:off x="548640" y="39160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26" name="Text 17"/>
          <p:cNvSpPr/>
          <p:nvPr/>
        </p:nvSpPr>
        <p:spPr>
          <a:xfrm>
            <a:off x="1051560" y="3824640"/>
            <a:ext cx="10591200" cy="491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Vérifier les délais d'exécution et les engagements contractuels à chaque intervention.</a:t>
            </a:r>
            <a:endParaRPr b="0" lang="en-US" sz="1400" spc="-1" strike="noStrike">
              <a:solidFill>
                <a:srgbClr val="000000"/>
              </a:solidFill>
              <a:latin typeface="Arial"/>
            </a:endParaRPr>
          </a:p>
        </p:txBody>
      </p:sp>
      <p:sp>
        <p:nvSpPr>
          <p:cNvPr id="527" name="Shape 18"/>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8" name="Text 19"/>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Formulaire de demande d'intervention ; planning ; matrice de priorisation ; cas pratiques.</a:t>
            </a:r>
            <a:endParaRPr b="0" lang="en-US" sz="1100" spc="-1" strike="noStrike">
              <a:solidFill>
                <a:srgbClr val="000000"/>
              </a:solidFill>
              <a:latin typeface="Arial"/>
            </a:endParaRPr>
          </a:p>
        </p:txBody>
      </p:sp>
      <p:sp>
        <p:nvSpPr>
          <p:cNvPr id="529" name="Text 20"/>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530" name="Text 21"/>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29</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531"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2"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533"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6</a:t>
            </a:r>
            <a:endParaRPr b="0" lang="en-US" sz="1300" spc="-1" strike="noStrike">
              <a:solidFill>
                <a:srgbClr val="000000"/>
              </a:solidFill>
              <a:latin typeface="Arial"/>
            </a:endParaRPr>
          </a:p>
        </p:txBody>
      </p:sp>
      <p:sp>
        <p:nvSpPr>
          <p:cNvPr id="534"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Cas pratiques : prioriser des demandes concurrentes</a:t>
            </a:r>
            <a:endParaRPr b="0" lang="en-US" sz="1900" spc="-1" strike="noStrike">
              <a:solidFill>
                <a:srgbClr val="000000"/>
              </a:solidFill>
              <a:latin typeface="Arial"/>
            </a:endParaRPr>
          </a:p>
        </p:txBody>
      </p:sp>
      <p:sp>
        <p:nvSpPr>
          <p:cNvPr id="535"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6"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537"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8"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539"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0"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541"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Enregistrer les informations utiles de plusieurs demandes d'intervention concurrentes.</a:t>
            </a:r>
            <a:endParaRPr b="0" lang="en-US" sz="1300" spc="-1" strike="noStrike">
              <a:solidFill>
                <a:srgbClr val="000000"/>
              </a:solidFill>
              <a:latin typeface="Arial"/>
            </a:endParaRPr>
          </a:p>
        </p:txBody>
      </p:sp>
      <p:sp>
        <p:nvSpPr>
          <p:cNvPr id="542"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3"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544"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Qualifier l'urgence et l'impact de chaque demande.</a:t>
            </a:r>
            <a:endParaRPr b="0" lang="en-US" sz="1300" spc="-1" strike="noStrike">
              <a:solidFill>
                <a:srgbClr val="000000"/>
              </a:solidFill>
              <a:latin typeface="Arial"/>
            </a:endParaRPr>
          </a:p>
        </p:txBody>
      </p:sp>
      <p:sp>
        <p:nvSpPr>
          <p:cNvPr id="545"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6"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547"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Positionner les interventions dans un planning en justifiant les priorités retenues.</a:t>
            </a:r>
            <a:endParaRPr b="0" lang="en-US" sz="1300" spc="-1" strike="noStrike">
              <a:solidFill>
                <a:srgbClr val="000000"/>
              </a:solidFill>
              <a:latin typeface="Arial"/>
            </a:endParaRPr>
          </a:p>
        </p:txBody>
      </p:sp>
      <p:sp>
        <p:nvSpPr>
          <p:cNvPr id="548"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9"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en sous-groupes – 15 minutes.</a:t>
            </a:r>
            <a:endParaRPr b="0" lang="en-US" sz="1150" spc="-1" strike="noStrike">
              <a:solidFill>
                <a:srgbClr val="000000"/>
              </a:solidFill>
              <a:latin typeface="Arial"/>
            </a:endParaRPr>
          </a:p>
        </p:txBody>
      </p:sp>
      <p:sp>
        <p:nvSpPr>
          <p:cNvPr id="550"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551"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30</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552"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3"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554"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6</a:t>
            </a:r>
            <a:endParaRPr b="0" lang="en-US" sz="1300" spc="-1" strike="noStrike">
              <a:solidFill>
                <a:srgbClr val="000000"/>
              </a:solidFill>
              <a:latin typeface="Arial"/>
            </a:endParaRPr>
          </a:p>
        </p:txBody>
      </p:sp>
      <p:sp>
        <p:nvSpPr>
          <p:cNvPr id="555"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Debrief sur les critères de priorité</a:t>
            </a:r>
            <a:endParaRPr b="0" lang="en-US" sz="1900" spc="-1" strike="noStrike">
              <a:solidFill>
                <a:srgbClr val="000000"/>
              </a:solidFill>
              <a:latin typeface="Arial"/>
            </a:endParaRPr>
          </a:p>
        </p:txBody>
      </p:sp>
      <p:sp>
        <p:nvSpPr>
          <p:cNvPr id="556"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557"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8"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Échange sur les critères de priorité retenus par chaque sous-groupe.</a:t>
            </a:r>
            <a:endParaRPr b="0" lang="en-US" sz="1300" spc="-1" strike="noStrike">
              <a:solidFill>
                <a:srgbClr val="000000"/>
              </a:solidFill>
              <a:latin typeface="Arial"/>
            </a:endParaRPr>
          </a:p>
        </p:txBody>
      </p:sp>
      <p:sp>
        <p:nvSpPr>
          <p:cNvPr id="559"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0"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Mise en perspective avec l'exigence de continuité de service.</a:t>
            </a:r>
            <a:endParaRPr b="0" lang="en-US" sz="1300" spc="-1" strike="noStrike">
              <a:solidFill>
                <a:srgbClr val="000000"/>
              </a:solidFill>
              <a:latin typeface="Arial"/>
            </a:endParaRPr>
          </a:p>
        </p:txBody>
      </p:sp>
      <p:sp>
        <p:nvSpPr>
          <p:cNvPr id="561"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2"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3"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564"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une mauvaise qualification des priorités entre les demandes.</a:t>
            </a:r>
            <a:endParaRPr b="0" lang="en-US" sz="1250" spc="-1" strike="noStrike">
              <a:solidFill>
                <a:srgbClr val="000000"/>
              </a:solidFill>
              <a:latin typeface="Arial"/>
            </a:endParaRPr>
          </a:p>
        </p:txBody>
      </p:sp>
      <p:sp>
        <p:nvSpPr>
          <p:cNvPr id="565"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s'entraîner sur des scénarios gradués, avec des critères urgence / impact et une justification orale systématique.</a:t>
            </a:r>
            <a:endParaRPr b="0" lang="en-US" sz="1250" spc="-1" strike="noStrike">
              <a:solidFill>
                <a:srgbClr val="000000"/>
              </a:solidFill>
              <a:latin typeface="Arial"/>
            </a:endParaRPr>
          </a:p>
        </p:txBody>
      </p:sp>
      <p:sp>
        <p:nvSpPr>
          <p:cNvPr id="566"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567"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31</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8"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9"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7</a:t>
            </a:r>
            <a:endParaRPr b="0" lang="en-US" sz="1200" spc="-1" strike="noStrike">
              <a:solidFill>
                <a:srgbClr val="000000"/>
              </a:solidFill>
              <a:latin typeface="Arial"/>
            </a:endParaRPr>
          </a:p>
        </p:txBody>
      </p:sp>
      <p:sp>
        <p:nvSpPr>
          <p:cNvPr id="570"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1"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572"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Comparer les interventions au cahier des charges</a:t>
            </a:r>
            <a:endParaRPr b="0" lang="en-US" sz="2400" spc="-1" strike="noStrike">
              <a:solidFill>
                <a:srgbClr val="000000"/>
              </a:solidFill>
              <a:latin typeface="Arial"/>
            </a:endParaRPr>
          </a:p>
        </p:txBody>
      </p:sp>
      <p:sp>
        <p:nvSpPr>
          <p:cNvPr id="573"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Comparer les interventions réalisées aux exigences du cahier des charges afin d'identifier les écarts éventuels.</a:t>
            </a:r>
            <a:endParaRPr b="0" lang="en-US" sz="1250" spc="-1" strike="noStrike">
              <a:solidFill>
                <a:srgbClr val="000000"/>
              </a:solidFill>
              <a:latin typeface="Arial"/>
            </a:endParaRPr>
          </a:p>
        </p:txBody>
      </p:sp>
      <p:sp>
        <p:nvSpPr>
          <p:cNvPr id="574"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5"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76" name="Text 8"/>
          <p:cNvSpPr/>
          <p:nvPr/>
        </p:nvSpPr>
        <p:spPr>
          <a:xfrm>
            <a:off x="1051560" y="23500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Comparer un compte rendu d'intervention aux exigences du cahier des charges.</a:t>
            </a:r>
            <a:endParaRPr b="0" lang="en-US" sz="1400" spc="-1" strike="noStrike">
              <a:solidFill>
                <a:srgbClr val="000000"/>
              </a:solidFill>
              <a:latin typeface="Arial"/>
            </a:endParaRPr>
          </a:p>
        </p:txBody>
      </p:sp>
      <p:sp>
        <p:nvSpPr>
          <p:cNvPr id="577" name="Shape 9"/>
          <p:cNvSpPr/>
          <p:nvPr/>
        </p:nvSpPr>
        <p:spPr>
          <a:xfrm>
            <a:off x="548640" y="30967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8" name="Text 10"/>
          <p:cNvSpPr/>
          <p:nvPr/>
        </p:nvSpPr>
        <p:spPr>
          <a:xfrm>
            <a:off x="548640" y="30967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79" name="Text 11"/>
          <p:cNvSpPr/>
          <p:nvPr/>
        </p:nvSpPr>
        <p:spPr>
          <a:xfrm>
            <a:off x="1051560" y="30052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Repérer les conformités, les écarts et les éléments manquants.</a:t>
            </a:r>
            <a:endParaRPr b="0" lang="en-US" sz="1400" spc="-1" strike="noStrike">
              <a:solidFill>
                <a:srgbClr val="000000"/>
              </a:solidFill>
              <a:latin typeface="Arial"/>
            </a:endParaRPr>
          </a:p>
        </p:txBody>
      </p:sp>
      <p:sp>
        <p:nvSpPr>
          <p:cNvPr id="580" name="Shape 12"/>
          <p:cNvSpPr/>
          <p:nvPr/>
        </p:nvSpPr>
        <p:spPr>
          <a:xfrm>
            <a:off x="548640" y="3751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1" name="Text 13"/>
          <p:cNvSpPr/>
          <p:nvPr/>
        </p:nvSpPr>
        <p:spPr>
          <a:xfrm>
            <a:off x="548640" y="3751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582" name="Text 14"/>
          <p:cNvSpPr/>
          <p:nvPr/>
        </p:nvSpPr>
        <p:spPr>
          <a:xfrm>
            <a:off x="1051560" y="36604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Formuler des actions de suivi adaptées et les signaler aux services concernés.</a:t>
            </a:r>
            <a:endParaRPr b="0" lang="en-US" sz="1400" spc="-1" strike="noStrike">
              <a:solidFill>
                <a:srgbClr val="000000"/>
              </a:solidFill>
              <a:latin typeface="Arial"/>
            </a:endParaRPr>
          </a:p>
        </p:txBody>
      </p:sp>
      <p:sp>
        <p:nvSpPr>
          <p:cNvPr id="583" name="Shape 15"/>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4" name="Text 16"/>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Cahier des charges simplifié ; compte rendu d'intervention ; grille de contrôle des écarts.</a:t>
            </a:r>
            <a:endParaRPr b="0" lang="en-US" sz="1100" spc="-1" strike="noStrike">
              <a:solidFill>
                <a:srgbClr val="000000"/>
              </a:solidFill>
              <a:latin typeface="Arial"/>
            </a:endParaRPr>
          </a:p>
        </p:txBody>
      </p:sp>
      <p:sp>
        <p:nvSpPr>
          <p:cNvPr id="585" name="Text 17"/>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586" name="Text 18"/>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587"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8"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589"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7</a:t>
            </a:r>
            <a:endParaRPr b="0" lang="en-US" sz="1300" spc="-1" strike="noStrike">
              <a:solidFill>
                <a:srgbClr val="000000"/>
              </a:solidFill>
              <a:latin typeface="Arial"/>
            </a:endParaRPr>
          </a:p>
        </p:txBody>
      </p:sp>
      <p:sp>
        <p:nvSpPr>
          <p:cNvPr id="590"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Grille de contrôle des écarts</a:t>
            </a:r>
            <a:endParaRPr b="0" lang="en-US" sz="1900" spc="-1" strike="noStrike">
              <a:solidFill>
                <a:srgbClr val="000000"/>
              </a:solidFill>
              <a:latin typeface="Arial"/>
            </a:endParaRPr>
          </a:p>
        </p:txBody>
      </p:sp>
      <p:sp>
        <p:nvSpPr>
          <p:cNvPr id="591"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2"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593"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4"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595"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6"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597"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Mettre en parallèle un compte rendu d'intervention et un cahier des charges simplifié.</a:t>
            </a:r>
            <a:endParaRPr b="0" lang="en-US" sz="1300" spc="-1" strike="noStrike">
              <a:solidFill>
                <a:srgbClr val="000000"/>
              </a:solidFill>
              <a:latin typeface="Arial"/>
            </a:endParaRPr>
          </a:p>
        </p:txBody>
      </p:sp>
      <p:sp>
        <p:nvSpPr>
          <p:cNvPr id="598"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9"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600"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Repérer les conformités, les écarts et les éléments manquants à l'aide de la grille de contrôle.</a:t>
            </a:r>
            <a:endParaRPr b="0" lang="en-US" sz="1300" spc="-1" strike="noStrike">
              <a:solidFill>
                <a:srgbClr val="000000"/>
              </a:solidFill>
              <a:latin typeface="Arial"/>
            </a:endParaRPr>
          </a:p>
        </p:txBody>
      </p:sp>
      <p:sp>
        <p:nvSpPr>
          <p:cNvPr id="601"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2"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603"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Formuler les actions de suivi adaptées aux écarts identifiés.</a:t>
            </a:r>
            <a:endParaRPr b="0" lang="en-US" sz="1300" spc="-1" strike="noStrike">
              <a:solidFill>
                <a:srgbClr val="000000"/>
              </a:solidFill>
              <a:latin typeface="Arial"/>
            </a:endParaRPr>
          </a:p>
        </p:txBody>
      </p:sp>
      <p:sp>
        <p:nvSpPr>
          <p:cNvPr id="604"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5"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individuel puis mise en commun – 15 minutes.</a:t>
            </a:r>
            <a:endParaRPr b="0" lang="en-US" sz="1150" spc="-1" strike="noStrike">
              <a:solidFill>
                <a:srgbClr val="000000"/>
              </a:solidFill>
              <a:latin typeface="Arial"/>
            </a:endParaRPr>
          </a:p>
        </p:txBody>
      </p:sp>
      <p:sp>
        <p:nvSpPr>
          <p:cNvPr id="606"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607"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33</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608"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9"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610"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7</a:t>
            </a:r>
            <a:endParaRPr b="0" lang="en-US" sz="1300" spc="-1" strike="noStrike">
              <a:solidFill>
                <a:srgbClr val="000000"/>
              </a:solidFill>
              <a:latin typeface="Arial"/>
            </a:endParaRPr>
          </a:p>
        </p:txBody>
      </p:sp>
      <p:sp>
        <p:nvSpPr>
          <p:cNvPr id="611"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Justification des constats à partir de preuves factuelles</a:t>
            </a:r>
            <a:endParaRPr b="0" lang="en-US" sz="1900" spc="-1" strike="noStrike">
              <a:solidFill>
                <a:srgbClr val="000000"/>
              </a:solidFill>
              <a:latin typeface="Arial"/>
            </a:endParaRPr>
          </a:p>
        </p:txBody>
      </p:sp>
      <p:sp>
        <p:nvSpPr>
          <p:cNvPr id="612"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613"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4"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Mise en commun des écarts identifiés et des actions de suivi proposées.</a:t>
            </a:r>
            <a:endParaRPr b="0" lang="en-US" sz="1300" spc="-1" strike="noStrike">
              <a:solidFill>
                <a:srgbClr val="000000"/>
              </a:solidFill>
              <a:latin typeface="Arial"/>
            </a:endParaRPr>
          </a:p>
        </p:txBody>
      </p:sp>
      <p:sp>
        <p:nvSpPr>
          <p:cNvPr id="615"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6"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Justification argumentée de chaque constat à partir d'éléments factuels.</a:t>
            </a:r>
            <a:endParaRPr b="0" lang="en-US" sz="1300" spc="-1" strike="noStrike">
              <a:solidFill>
                <a:srgbClr val="000000"/>
              </a:solidFill>
              <a:latin typeface="Arial"/>
            </a:endParaRPr>
          </a:p>
        </p:txBody>
      </p:sp>
      <p:sp>
        <p:nvSpPr>
          <p:cNvPr id="617"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8"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9"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620"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 contrôle superficiel du cahier des charges.</a:t>
            </a:r>
            <a:endParaRPr b="0" lang="en-US" sz="1250" spc="-1" strike="noStrike">
              <a:solidFill>
                <a:srgbClr val="000000"/>
              </a:solidFill>
              <a:latin typeface="Arial"/>
            </a:endParaRPr>
          </a:p>
        </p:txBody>
      </p:sp>
      <p:sp>
        <p:nvSpPr>
          <p:cNvPr id="621"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utiliser une grille de comparaison critère par critère et exiger des preuves factuelles à l'appui de chaque constat.</a:t>
            </a:r>
            <a:endParaRPr b="0" lang="en-US" sz="1250" spc="-1" strike="noStrike">
              <a:solidFill>
                <a:srgbClr val="000000"/>
              </a:solidFill>
              <a:latin typeface="Arial"/>
            </a:endParaRPr>
          </a:p>
        </p:txBody>
      </p:sp>
      <p:sp>
        <p:nvSpPr>
          <p:cNvPr id="622"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623"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34</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4" name="Shape 0"/>
          <p:cNvSpPr/>
          <p:nvPr/>
        </p:nvSpPr>
        <p:spPr>
          <a:xfrm>
            <a:off x="548640" y="457200"/>
            <a:ext cx="1828440" cy="383760"/>
          </a:xfrm>
          <a:prstGeom prst="roundRect">
            <a:avLst>
              <a:gd name="adj" fmla="val 19048"/>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5" name="Text 1"/>
          <p:cNvSpPr/>
          <p:nvPr/>
        </p:nvSpPr>
        <p:spPr>
          <a:xfrm>
            <a:off x="548640" y="457200"/>
            <a:ext cx="1828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rial"/>
                <a:ea typeface="Arial"/>
              </a:rPr>
              <a:t>SÉQUENCE 8</a:t>
            </a:r>
            <a:endParaRPr b="0" lang="en-US" sz="1200" spc="-1" strike="noStrike">
              <a:solidFill>
                <a:srgbClr val="000000"/>
              </a:solidFill>
              <a:latin typeface="Arial"/>
            </a:endParaRPr>
          </a:p>
        </p:txBody>
      </p:sp>
      <p:sp>
        <p:nvSpPr>
          <p:cNvPr id="626" name="Shape 2"/>
          <p:cNvSpPr/>
          <p:nvPr/>
        </p:nvSpPr>
        <p:spPr>
          <a:xfrm>
            <a:off x="10271520" y="457200"/>
            <a:ext cx="1371240" cy="456840"/>
          </a:xfrm>
          <a:prstGeom prst="roundRect">
            <a:avLst>
              <a:gd name="adj" fmla="val 18000"/>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7" name="Text 3"/>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628" name="Text 4"/>
          <p:cNvSpPr/>
          <p:nvPr/>
        </p:nvSpPr>
        <p:spPr>
          <a:xfrm>
            <a:off x="548640" y="960120"/>
            <a:ext cx="11094120" cy="6854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2400" spc="-1" strike="noStrike">
                <a:solidFill>
                  <a:srgbClr val="16324f"/>
                </a:solidFill>
                <a:latin typeface="Arial"/>
                <a:ea typeface="Arial"/>
              </a:rPr>
              <a:t>Assurer la traçabilité des interventions jusqu'à leur clôture</a:t>
            </a:r>
            <a:endParaRPr b="0" lang="en-US" sz="2400" spc="-1" strike="noStrike">
              <a:solidFill>
                <a:srgbClr val="000000"/>
              </a:solidFill>
              <a:latin typeface="Arial"/>
            </a:endParaRPr>
          </a:p>
        </p:txBody>
      </p:sp>
      <p:sp>
        <p:nvSpPr>
          <p:cNvPr id="629" name="Text 5"/>
          <p:cNvSpPr/>
          <p:nvPr/>
        </p:nvSpPr>
        <p:spPr>
          <a:xfrm>
            <a:off x="548640" y="1627560"/>
            <a:ext cx="11094120" cy="5940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250" spc="-1" strike="noStrike">
                <a:solidFill>
                  <a:srgbClr val="2e9cca"/>
                </a:solidFill>
                <a:latin typeface="Arial"/>
                <a:ea typeface="Arial"/>
              </a:rPr>
              <a:t>Objectif : </a:t>
            </a:r>
            <a:r>
              <a:rPr b="0" i="1" lang="en-US" sz="1250" spc="-1" strike="noStrike">
                <a:solidFill>
                  <a:srgbClr val="51606e"/>
                </a:solidFill>
                <a:latin typeface="Arial"/>
                <a:ea typeface="Arial"/>
              </a:rPr>
              <a:t>Utiliser les outils de suivi pour assurer la traçabilité des interventions jusqu'à leur clôture.</a:t>
            </a:r>
            <a:endParaRPr b="0" lang="en-US" sz="1250" spc="-1" strike="noStrike">
              <a:solidFill>
                <a:srgbClr val="000000"/>
              </a:solidFill>
              <a:latin typeface="Arial"/>
            </a:endParaRPr>
          </a:p>
        </p:txBody>
      </p:sp>
      <p:sp>
        <p:nvSpPr>
          <p:cNvPr id="630" name="Shape 6"/>
          <p:cNvSpPr/>
          <p:nvPr/>
        </p:nvSpPr>
        <p:spPr>
          <a:xfrm>
            <a:off x="548640" y="24415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1" name="Text 7"/>
          <p:cNvSpPr/>
          <p:nvPr/>
        </p:nvSpPr>
        <p:spPr>
          <a:xfrm>
            <a:off x="548640" y="2441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632" name="Text 8"/>
          <p:cNvSpPr/>
          <p:nvPr/>
        </p:nvSpPr>
        <p:spPr>
          <a:xfrm>
            <a:off x="1051560" y="23500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Assurer la traçabilité d'une intervention jusqu'à sa clôture : statut, preuve de réalisation, écarts, actions correctives.</a:t>
            </a:r>
            <a:endParaRPr b="0" lang="en-US" sz="1400" spc="-1" strike="noStrike">
              <a:solidFill>
                <a:srgbClr val="000000"/>
              </a:solidFill>
              <a:latin typeface="Arial"/>
            </a:endParaRPr>
          </a:p>
        </p:txBody>
      </p:sp>
      <p:sp>
        <p:nvSpPr>
          <p:cNvPr id="633" name="Shape 9"/>
          <p:cNvSpPr/>
          <p:nvPr/>
        </p:nvSpPr>
        <p:spPr>
          <a:xfrm>
            <a:off x="548640" y="30967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4" name="Text 10"/>
          <p:cNvSpPr/>
          <p:nvPr/>
        </p:nvSpPr>
        <p:spPr>
          <a:xfrm>
            <a:off x="548640" y="30967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635" name="Text 11"/>
          <p:cNvSpPr/>
          <p:nvPr/>
        </p:nvSpPr>
        <p:spPr>
          <a:xfrm>
            <a:off x="1051560" y="30052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Utiliser les outils de suivi et les applicatifs informatiques dédiés.</a:t>
            </a:r>
            <a:endParaRPr b="0" lang="en-US" sz="1400" spc="-1" strike="noStrike">
              <a:solidFill>
                <a:srgbClr val="000000"/>
              </a:solidFill>
              <a:latin typeface="Arial"/>
            </a:endParaRPr>
          </a:p>
        </p:txBody>
      </p:sp>
      <p:sp>
        <p:nvSpPr>
          <p:cNvPr id="636" name="Shape 12"/>
          <p:cNvSpPr/>
          <p:nvPr/>
        </p:nvSpPr>
        <p:spPr>
          <a:xfrm>
            <a:off x="548640" y="3751920"/>
            <a:ext cx="310680" cy="310680"/>
          </a:xfrm>
          <a:prstGeom prst="roundRect">
            <a:avLst>
              <a:gd name="adj" fmla="val 20588"/>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7" name="Text 13"/>
          <p:cNvSpPr/>
          <p:nvPr/>
        </p:nvSpPr>
        <p:spPr>
          <a:xfrm>
            <a:off x="548640" y="37519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a:t>
            </a:r>
            <a:endParaRPr b="0" lang="en-US" sz="1400" spc="-1" strike="noStrike">
              <a:solidFill>
                <a:srgbClr val="000000"/>
              </a:solidFill>
              <a:latin typeface="Arial"/>
            </a:endParaRPr>
          </a:p>
        </p:txBody>
      </p:sp>
      <p:sp>
        <p:nvSpPr>
          <p:cNvPr id="638" name="Text 14"/>
          <p:cNvSpPr/>
          <p:nvPr/>
        </p:nvSpPr>
        <p:spPr>
          <a:xfrm>
            <a:off x="1051560" y="3660480"/>
            <a:ext cx="10591200" cy="6548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400" spc="-1" strike="noStrike">
                <a:solidFill>
                  <a:srgbClr val="1b2430"/>
                </a:solidFill>
                <a:latin typeface="Arial"/>
                <a:ea typeface="Arial"/>
              </a:rPr>
              <a:t>Sécuriser la clôture d'une intervention à l'aide d'une check-list dédiée.</a:t>
            </a:r>
            <a:endParaRPr b="0" lang="en-US" sz="1400" spc="-1" strike="noStrike">
              <a:solidFill>
                <a:srgbClr val="000000"/>
              </a:solidFill>
              <a:latin typeface="Arial"/>
            </a:endParaRPr>
          </a:p>
        </p:txBody>
      </p:sp>
      <p:sp>
        <p:nvSpPr>
          <p:cNvPr id="639" name="Shape 15"/>
          <p:cNvSpPr/>
          <p:nvPr/>
        </p:nvSpPr>
        <p:spPr>
          <a:xfrm>
            <a:off x="548640" y="5806440"/>
            <a:ext cx="11094120" cy="502560"/>
          </a:xfrm>
          <a:prstGeom prst="roundRect">
            <a:avLst>
              <a:gd name="adj" fmla="val 14545"/>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0" name="Text 16"/>
          <p:cNvSpPr/>
          <p:nvPr/>
        </p:nvSpPr>
        <p:spPr>
          <a:xfrm>
            <a:off x="731520" y="5806440"/>
            <a:ext cx="10728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6324f"/>
                </a:solidFill>
                <a:latin typeface="Arial"/>
                <a:ea typeface="Arial"/>
              </a:rPr>
              <a:t>Supports &amp; outils : </a:t>
            </a:r>
            <a:r>
              <a:rPr b="0" lang="en-US" sz="1100" spc="-1" strike="noStrike">
                <a:solidFill>
                  <a:srgbClr val="51606e"/>
                </a:solidFill>
                <a:latin typeface="Arial"/>
                <a:ea typeface="Arial"/>
              </a:rPr>
              <a:t>Outil de suivi des interventions ; fiche de clôture ; exercice de synthèse ; QCM sommatif.</a:t>
            </a:r>
            <a:endParaRPr b="0" lang="en-US" sz="1100" spc="-1" strike="noStrike">
              <a:solidFill>
                <a:srgbClr val="000000"/>
              </a:solidFill>
              <a:latin typeface="Arial"/>
            </a:endParaRPr>
          </a:p>
        </p:txBody>
      </p:sp>
      <p:sp>
        <p:nvSpPr>
          <p:cNvPr id="641" name="Text 17"/>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642" name="Text 18"/>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35</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7f2f8"/>
        </a:solidFill>
      </p:bgPr>
    </p:bg>
    <p:spTree>
      <p:nvGrpSpPr>
        <p:cNvPr id="1" name=""/>
        <p:cNvGrpSpPr/>
        <p:nvPr/>
      </p:nvGrpSpPr>
      <p:grpSpPr>
        <a:xfrm>
          <a:off x="0" y="0"/>
          <a:ext cx="0" cy="0"/>
          <a:chOff x="0" y="0"/>
          <a:chExt cx="0" cy="0"/>
        </a:xfrm>
      </p:grpSpPr>
      <p:sp>
        <p:nvSpPr>
          <p:cNvPr id="643" name="Shape 0"/>
          <p:cNvSpPr/>
          <p:nvPr/>
        </p:nvSpPr>
        <p:spPr>
          <a:xfrm>
            <a:off x="548640" y="457200"/>
            <a:ext cx="639720" cy="63972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4"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pc="-1" strike="noStrike">
                <a:solidFill>
                  <a:srgbClr val="000000"/>
                </a:solidFill>
                <a:latin typeface="Arial"/>
                <a:ea typeface="Arial"/>
              </a:rPr>
              <a:t>📋</a:t>
            </a:r>
            <a:endParaRPr b="0" lang="en-US" sz="2400" spc="-1" strike="noStrike">
              <a:solidFill>
                <a:srgbClr val="000000"/>
              </a:solidFill>
              <a:latin typeface="Arial"/>
            </a:endParaRPr>
          </a:p>
        </p:txBody>
      </p:sp>
      <p:sp>
        <p:nvSpPr>
          <p:cNvPr id="645" name="Text 2"/>
          <p:cNvSpPr/>
          <p:nvPr/>
        </p:nvSpPr>
        <p:spPr>
          <a:xfrm>
            <a:off x="1371600" y="502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1b6e93"/>
                </a:solidFill>
                <a:latin typeface="Arial"/>
                <a:ea typeface="Arial"/>
              </a:rPr>
              <a:t>ACTIVITÉ – SÉQUENCE 8</a:t>
            </a:r>
            <a:endParaRPr b="0" lang="en-US" sz="1300" spc="-1" strike="noStrike">
              <a:solidFill>
                <a:srgbClr val="000000"/>
              </a:solidFill>
              <a:latin typeface="Arial"/>
            </a:endParaRPr>
          </a:p>
        </p:txBody>
      </p:sp>
      <p:sp>
        <p:nvSpPr>
          <p:cNvPr id="646"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Compléter le suivi d'une intervention jusqu'à sa clôture</a:t>
            </a:r>
            <a:endParaRPr b="0" lang="en-US" sz="1900" spc="-1" strike="noStrike">
              <a:solidFill>
                <a:srgbClr val="000000"/>
              </a:solidFill>
              <a:latin typeface="Arial"/>
            </a:endParaRPr>
          </a:p>
        </p:txBody>
      </p:sp>
      <p:sp>
        <p:nvSpPr>
          <p:cNvPr id="647" name="Shape 4"/>
          <p:cNvSpPr/>
          <p:nvPr/>
        </p:nvSpPr>
        <p:spPr>
          <a:xfrm>
            <a:off x="10271520" y="457200"/>
            <a:ext cx="1371240" cy="456840"/>
          </a:xfrm>
          <a:prstGeom prst="roundRect">
            <a:avLst>
              <a:gd name="adj" fmla="val 18000"/>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8" name="Text 5"/>
          <p:cNvSpPr/>
          <p:nvPr/>
        </p:nvSpPr>
        <p:spPr>
          <a:xfrm>
            <a:off x="10271520" y="457200"/>
            <a:ext cx="1371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rial"/>
                <a:ea typeface="Arial"/>
              </a:rPr>
              <a:t>25 min</a:t>
            </a:r>
            <a:endParaRPr b="0" lang="en-US" sz="1400" spc="-1" strike="noStrike">
              <a:solidFill>
                <a:srgbClr val="000000"/>
              </a:solidFill>
              <a:latin typeface="Arial"/>
            </a:endParaRPr>
          </a:p>
        </p:txBody>
      </p:sp>
      <p:sp>
        <p:nvSpPr>
          <p:cNvPr id="649" name="Shape 6"/>
          <p:cNvSpPr/>
          <p:nvPr/>
        </p:nvSpPr>
        <p:spPr>
          <a:xfrm>
            <a:off x="548640" y="1600200"/>
            <a:ext cx="11094120" cy="4023000"/>
          </a:xfrm>
          <a:prstGeom prst="roundRect">
            <a:avLst>
              <a:gd name="adj" fmla="val 2273"/>
            </a:avLst>
          </a:prstGeom>
          <a:solidFill>
            <a:srgbClr val="ffffff"/>
          </a:solidFill>
          <a:ln w="12700">
            <a:solidFill>
              <a:srgbClr val="cfe3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0" name="Text 7"/>
          <p:cNvSpPr/>
          <p:nvPr/>
        </p:nvSpPr>
        <p:spPr>
          <a:xfrm>
            <a:off x="914400" y="182880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1b6e93"/>
                </a:solidFill>
                <a:latin typeface="Arial"/>
                <a:ea typeface="Arial"/>
              </a:rPr>
              <a:t>CONSIGNES</a:t>
            </a:r>
            <a:endParaRPr b="0" lang="en-US" sz="1200" spc="-1" strike="noStrike">
              <a:solidFill>
                <a:srgbClr val="000000"/>
              </a:solidFill>
              <a:latin typeface="Arial"/>
            </a:endParaRPr>
          </a:p>
        </p:txBody>
      </p:sp>
      <p:sp>
        <p:nvSpPr>
          <p:cNvPr id="651" name="Shape 8"/>
          <p:cNvSpPr/>
          <p:nvPr/>
        </p:nvSpPr>
        <p:spPr>
          <a:xfrm>
            <a:off x="914400" y="219456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2" name="Text 9"/>
          <p:cNvSpPr/>
          <p:nvPr/>
        </p:nvSpPr>
        <p:spPr>
          <a:xfrm>
            <a:off x="914400" y="2194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000000"/>
              </a:solidFill>
              <a:latin typeface="Arial"/>
            </a:endParaRPr>
          </a:p>
        </p:txBody>
      </p:sp>
      <p:sp>
        <p:nvSpPr>
          <p:cNvPr id="653" name="Text 10"/>
          <p:cNvSpPr/>
          <p:nvPr/>
        </p:nvSpPr>
        <p:spPr>
          <a:xfrm>
            <a:off x="1463040" y="212148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Renseigner le statut, la preuve de réalisation, les écarts et les actions correctives d'une intervention.</a:t>
            </a:r>
            <a:endParaRPr b="0" lang="en-US" sz="1300" spc="-1" strike="noStrike">
              <a:solidFill>
                <a:srgbClr val="000000"/>
              </a:solidFill>
              <a:latin typeface="Arial"/>
            </a:endParaRPr>
          </a:p>
        </p:txBody>
      </p:sp>
      <p:sp>
        <p:nvSpPr>
          <p:cNvPr id="654" name="Shape 11"/>
          <p:cNvSpPr/>
          <p:nvPr/>
        </p:nvSpPr>
        <p:spPr>
          <a:xfrm>
            <a:off x="914400" y="290772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5" name="Text 12"/>
          <p:cNvSpPr/>
          <p:nvPr/>
        </p:nvSpPr>
        <p:spPr>
          <a:xfrm>
            <a:off x="914400" y="29077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000000"/>
              </a:solidFill>
              <a:latin typeface="Arial"/>
            </a:endParaRPr>
          </a:p>
        </p:txBody>
      </p:sp>
      <p:sp>
        <p:nvSpPr>
          <p:cNvPr id="656" name="Text 13"/>
          <p:cNvSpPr/>
          <p:nvPr/>
        </p:nvSpPr>
        <p:spPr>
          <a:xfrm>
            <a:off x="1463040" y="283464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Finaliser la clôture de l'intervention dans l'outil de suivi.</a:t>
            </a:r>
            <a:endParaRPr b="0" lang="en-US" sz="1300" spc="-1" strike="noStrike">
              <a:solidFill>
                <a:srgbClr val="000000"/>
              </a:solidFill>
              <a:latin typeface="Arial"/>
            </a:endParaRPr>
          </a:p>
        </p:txBody>
      </p:sp>
      <p:sp>
        <p:nvSpPr>
          <p:cNvPr id="657" name="Shape 14"/>
          <p:cNvSpPr/>
          <p:nvPr/>
        </p:nvSpPr>
        <p:spPr>
          <a:xfrm>
            <a:off x="914400" y="3620880"/>
            <a:ext cx="383760" cy="383760"/>
          </a:xfrm>
          <a:prstGeom prst="ellipse">
            <a:avLst/>
          </a:prstGeom>
          <a:solidFill>
            <a:srgbClr val="1b6e9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8" name="Text 15"/>
          <p:cNvSpPr/>
          <p:nvPr/>
        </p:nvSpPr>
        <p:spPr>
          <a:xfrm>
            <a:off x="914400" y="36208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000000"/>
              </a:solidFill>
              <a:latin typeface="Arial"/>
            </a:endParaRPr>
          </a:p>
        </p:txBody>
      </p:sp>
      <p:sp>
        <p:nvSpPr>
          <p:cNvPr id="659" name="Text 16"/>
          <p:cNvSpPr/>
          <p:nvPr/>
        </p:nvSpPr>
        <p:spPr>
          <a:xfrm>
            <a:off x="1463040" y="3547800"/>
            <a:ext cx="9813960" cy="71280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Répondre au QCM sommatif de contrôle continu du module.</a:t>
            </a:r>
            <a:endParaRPr b="0" lang="en-US" sz="1300" spc="-1" strike="noStrike">
              <a:solidFill>
                <a:srgbClr val="000000"/>
              </a:solidFill>
              <a:latin typeface="Arial"/>
            </a:endParaRPr>
          </a:p>
        </p:txBody>
      </p:sp>
      <p:sp>
        <p:nvSpPr>
          <p:cNvPr id="660" name="Shape 17"/>
          <p:cNvSpPr/>
          <p:nvPr/>
        </p:nvSpPr>
        <p:spPr>
          <a:xfrm>
            <a:off x="914400" y="5074920"/>
            <a:ext cx="10362600" cy="411120"/>
          </a:xfrm>
          <a:prstGeom prst="roundRect">
            <a:avLst>
              <a:gd name="adj" fmla="val 13333"/>
            </a:avLst>
          </a:prstGeom>
          <a:solidFill>
            <a:srgbClr val="e7f2f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61" name="Text 18"/>
          <p:cNvSpPr/>
          <p:nvPr/>
        </p:nvSpPr>
        <p:spPr>
          <a:xfrm>
            <a:off x="1097280" y="5074920"/>
            <a:ext cx="99968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b6e93"/>
                </a:solidFill>
                <a:latin typeface="Arial"/>
                <a:ea typeface="Arial"/>
              </a:rPr>
              <a:t>Modalité : </a:t>
            </a:r>
            <a:r>
              <a:rPr b="0" lang="en-US" sz="1150" spc="-1" strike="noStrike">
                <a:solidFill>
                  <a:srgbClr val="1b2430"/>
                </a:solidFill>
                <a:latin typeface="Arial"/>
                <a:ea typeface="Arial"/>
              </a:rPr>
              <a:t>Travail individuel – 15 minutes, puis QCM sommatif.</a:t>
            </a:r>
            <a:endParaRPr b="0" lang="en-US" sz="1150" spc="-1" strike="noStrike">
              <a:solidFill>
                <a:srgbClr val="000000"/>
              </a:solidFill>
              <a:latin typeface="Arial"/>
            </a:endParaRPr>
          </a:p>
        </p:txBody>
      </p:sp>
      <p:sp>
        <p:nvSpPr>
          <p:cNvPr id="662" name="Text 19"/>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663" name="Text 20"/>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36</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7ec"/>
        </a:solidFill>
      </p:bgPr>
    </p:bg>
    <p:spTree>
      <p:nvGrpSpPr>
        <p:cNvPr id="1" name=""/>
        <p:cNvGrpSpPr/>
        <p:nvPr/>
      </p:nvGrpSpPr>
      <p:grpSpPr>
        <a:xfrm>
          <a:off x="0" y="0"/>
          <a:ext cx="0" cy="0"/>
          <a:chOff x="0" y="0"/>
          <a:chExt cx="0" cy="0"/>
        </a:xfrm>
      </p:grpSpPr>
      <p:sp>
        <p:nvSpPr>
          <p:cNvPr id="664" name="Shape 0"/>
          <p:cNvSpPr/>
          <p:nvPr/>
        </p:nvSpPr>
        <p:spPr>
          <a:xfrm>
            <a:off x="548640" y="457200"/>
            <a:ext cx="639720" cy="63972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5" name="Text 1"/>
          <p:cNvSpPr/>
          <p:nvPr/>
        </p:nvSpPr>
        <p:spPr>
          <a:xfrm>
            <a:off x="548640" y="457200"/>
            <a:ext cx="63972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600" spc="-1" strike="noStrike">
                <a:solidFill>
                  <a:srgbClr val="ffffff"/>
                </a:solidFill>
                <a:latin typeface="Arial"/>
                <a:ea typeface="Arial"/>
              </a:rPr>
              <a:t>✔</a:t>
            </a:r>
            <a:endParaRPr b="0" lang="en-US" sz="2600" spc="-1" strike="noStrike">
              <a:solidFill>
                <a:srgbClr val="000000"/>
              </a:solidFill>
              <a:latin typeface="Arial"/>
            </a:endParaRPr>
          </a:p>
        </p:txBody>
      </p:sp>
      <p:sp>
        <p:nvSpPr>
          <p:cNvPr id="666" name="Text 2"/>
          <p:cNvSpPr/>
          <p:nvPr/>
        </p:nvSpPr>
        <p:spPr>
          <a:xfrm>
            <a:off x="1371600" y="50292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97" strike="noStrike">
                <a:solidFill>
                  <a:srgbClr val="3e8e58"/>
                </a:solidFill>
                <a:latin typeface="Arial"/>
                <a:ea typeface="Arial"/>
              </a:rPr>
              <a:t>CORRECTION – SÉQUENCE 8</a:t>
            </a:r>
            <a:endParaRPr b="0" lang="en-US" sz="1300" spc="-1" strike="noStrike">
              <a:solidFill>
                <a:srgbClr val="000000"/>
              </a:solidFill>
              <a:latin typeface="Arial"/>
            </a:endParaRPr>
          </a:p>
        </p:txBody>
      </p:sp>
      <p:sp>
        <p:nvSpPr>
          <p:cNvPr id="667" name="Text 3"/>
          <p:cNvSpPr/>
          <p:nvPr/>
        </p:nvSpPr>
        <p:spPr>
          <a:xfrm>
            <a:off x="1371600" y="804600"/>
            <a:ext cx="7772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b2430"/>
                </a:solidFill>
                <a:latin typeface="Arial"/>
                <a:ea typeface="Arial"/>
              </a:rPr>
              <a:t>Correction commentée du QCM sommatif</a:t>
            </a:r>
            <a:endParaRPr b="0" lang="en-US" sz="1900" spc="-1" strike="noStrike">
              <a:solidFill>
                <a:srgbClr val="000000"/>
              </a:solidFill>
              <a:latin typeface="Arial"/>
            </a:endParaRPr>
          </a:p>
        </p:txBody>
      </p:sp>
      <p:sp>
        <p:nvSpPr>
          <p:cNvPr id="668" name="Text 4"/>
          <p:cNvSpPr/>
          <p:nvPr/>
        </p:nvSpPr>
        <p:spPr>
          <a:xfrm>
            <a:off x="548640" y="1645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97" strike="noStrike">
                <a:solidFill>
                  <a:srgbClr val="3e8e58"/>
                </a:solidFill>
                <a:latin typeface="Arial"/>
                <a:ea typeface="Arial"/>
              </a:rPr>
              <a:t>POINTS CLÉS DU DÉBRIEF</a:t>
            </a:r>
            <a:endParaRPr b="0" lang="en-US" sz="1200" spc="-1" strike="noStrike">
              <a:solidFill>
                <a:srgbClr val="000000"/>
              </a:solidFill>
              <a:latin typeface="Arial"/>
            </a:endParaRPr>
          </a:p>
        </p:txBody>
      </p:sp>
      <p:sp>
        <p:nvSpPr>
          <p:cNvPr id="669" name="Shape 5"/>
          <p:cNvSpPr/>
          <p:nvPr/>
        </p:nvSpPr>
        <p:spPr>
          <a:xfrm>
            <a:off x="548640" y="206640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0" name="Text 6"/>
          <p:cNvSpPr/>
          <p:nvPr/>
        </p:nvSpPr>
        <p:spPr>
          <a:xfrm>
            <a:off x="868680" y="195696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Synthèse du module et reprise des points essentiels de traçabilité.</a:t>
            </a:r>
            <a:endParaRPr b="0" lang="en-US" sz="1300" spc="-1" strike="noStrike">
              <a:solidFill>
                <a:srgbClr val="000000"/>
              </a:solidFill>
              <a:latin typeface="Arial"/>
            </a:endParaRPr>
          </a:p>
        </p:txBody>
      </p:sp>
      <p:sp>
        <p:nvSpPr>
          <p:cNvPr id="671" name="Shape 7"/>
          <p:cNvSpPr/>
          <p:nvPr/>
        </p:nvSpPr>
        <p:spPr>
          <a:xfrm>
            <a:off x="548640" y="2569320"/>
            <a:ext cx="127800" cy="127800"/>
          </a:xfrm>
          <a:prstGeom prst="ellipse">
            <a:avLst/>
          </a:prstGeom>
          <a:solidFill>
            <a:srgbClr val="3e8e5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2" name="Text 8"/>
          <p:cNvSpPr/>
          <p:nvPr/>
        </p:nvSpPr>
        <p:spPr>
          <a:xfrm>
            <a:off x="868680" y="2459880"/>
            <a:ext cx="10774080" cy="50256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1300" spc="-1" strike="noStrike">
                <a:solidFill>
                  <a:srgbClr val="1b2430"/>
                </a:solidFill>
                <a:latin typeface="Arial"/>
                <a:ea typeface="Arial"/>
              </a:rPr>
              <a:t>Correction commentée du QCM sommatif, question par question.</a:t>
            </a:r>
            <a:endParaRPr b="0" lang="en-US" sz="1300" spc="-1" strike="noStrike">
              <a:solidFill>
                <a:srgbClr val="000000"/>
              </a:solidFill>
              <a:latin typeface="Arial"/>
            </a:endParaRPr>
          </a:p>
        </p:txBody>
      </p:sp>
      <p:sp>
        <p:nvSpPr>
          <p:cNvPr id="673" name="Shape 9"/>
          <p:cNvSpPr/>
          <p:nvPr/>
        </p:nvSpPr>
        <p:spPr>
          <a:xfrm>
            <a:off x="548640" y="3154680"/>
            <a:ext cx="11094120" cy="1782720"/>
          </a:xfrm>
          <a:prstGeom prst="roundRect">
            <a:avLst>
              <a:gd name="adj" fmla="val 5128"/>
            </a:avLst>
          </a:prstGeom>
          <a:solidFill>
            <a:srgbClr val="ffffff"/>
          </a:solidFill>
          <a:ln w="15875">
            <a:solidFill>
              <a:srgbClr val="f0c9b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4" name="Shape 10"/>
          <p:cNvSpPr/>
          <p:nvPr/>
        </p:nvSpPr>
        <p:spPr>
          <a:xfrm>
            <a:off x="822960" y="3429000"/>
            <a:ext cx="456840" cy="456840"/>
          </a:xfrm>
          <a:prstGeom prst="ellipse">
            <a:avLst/>
          </a:prstGeom>
          <a:solidFill>
            <a:srgbClr val="e4572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5" name="Text 11"/>
          <p:cNvSpPr/>
          <p:nvPr/>
        </p:nvSpPr>
        <p:spPr>
          <a:xfrm>
            <a:off x="822960" y="3429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Arial"/>
                <a:ea typeface="Arial"/>
              </a:rPr>
              <a:t>!</a:t>
            </a:r>
            <a:endParaRPr b="0" lang="en-US" sz="2000" spc="-1" strike="noStrike">
              <a:solidFill>
                <a:srgbClr val="000000"/>
              </a:solidFill>
              <a:latin typeface="Arial"/>
            </a:endParaRPr>
          </a:p>
        </p:txBody>
      </p:sp>
      <p:sp>
        <p:nvSpPr>
          <p:cNvPr id="676" name="Text 12"/>
          <p:cNvSpPr/>
          <p:nvPr/>
        </p:nvSpPr>
        <p:spPr>
          <a:xfrm>
            <a:off x="1463040" y="3319200"/>
            <a:ext cx="9905400" cy="77688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e4572e"/>
                </a:solidFill>
                <a:latin typeface="Arial"/>
                <a:ea typeface="Arial"/>
              </a:rPr>
              <a:t>Point de vigilance : </a:t>
            </a:r>
            <a:r>
              <a:rPr b="0" lang="en-US" sz="1250" spc="-1" strike="noStrike">
                <a:solidFill>
                  <a:srgbClr val="1b2430"/>
                </a:solidFill>
                <a:latin typeface="Arial"/>
                <a:ea typeface="Arial"/>
              </a:rPr>
              <a:t>une clôture prématurée de l'intervention ou une absence de preuve de réalisation.</a:t>
            </a:r>
            <a:endParaRPr b="0" lang="en-US" sz="1250" spc="-1" strike="noStrike">
              <a:solidFill>
                <a:srgbClr val="000000"/>
              </a:solidFill>
              <a:latin typeface="Arial"/>
            </a:endParaRPr>
          </a:p>
        </p:txBody>
      </p:sp>
      <p:sp>
        <p:nvSpPr>
          <p:cNvPr id="677" name="Text 13"/>
          <p:cNvSpPr/>
          <p:nvPr/>
        </p:nvSpPr>
        <p:spPr>
          <a:xfrm>
            <a:off x="1463040" y="4069080"/>
            <a:ext cx="9905400" cy="8226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en-US" sz="1250" spc="-1" strike="noStrike">
                <a:solidFill>
                  <a:srgbClr val="3e8e58"/>
                </a:solidFill>
                <a:latin typeface="Arial"/>
                <a:ea typeface="Arial"/>
              </a:rPr>
              <a:t>À retenir : </a:t>
            </a:r>
            <a:r>
              <a:rPr b="0" lang="en-US" sz="1250" spc="-1" strike="noStrike">
                <a:solidFill>
                  <a:srgbClr val="1b2430"/>
                </a:solidFill>
                <a:latin typeface="Arial"/>
                <a:ea typeface="Arial"/>
              </a:rPr>
              <a:t>systématiser une check-list de clôture et revenir sur les erreurs fréquentes repérées lors de la correction.</a:t>
            </a:r>
            <a:endParaRPr b="0" lang="en-US" sz="1250" spc="-1" strike="noStrike">
              <a:solidFill>
                <a:srgbClr val="000000"/>
              </a:solidFill>
              <a:latin typeface="Arial"/>
            </a:endParaRPr>
          </a:p>
        </p:txBody>
      </p:sp>
      <p:sp>
        <p:nvSpPr>
          <p:cNvPr id="678" name="Text 14"/>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679" name="Text 15"/>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37</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680" name="Text 0"/>
          <p:cNvSpPr/>
          <p:nvPr/>
        </p:nvSpPr>
        <p:spPr>
          <a:xfrm>
            <a:off x="548640" y="50292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2e9cca"/>
                </a:solidFill>
                <a:latin typeface="Arial"/>
                <a:ea typeface="Arial"/>
              </a:rPr>
              <a:t>SYNTHÈSE – BLOC 3</a:t>
            </a:r>
            <a:endParaRPr b="0" lang="en-US" sz="1400" spc="-1" strike="noStrike">
              <a:solidFill>
                <a:srgbClr val="ffffff"/>
              </a:solidFill>
              <a:latin typeface="Arial"/>
            </a:endParaRPr>
          </a:p>
        </p:txBody>
      </p:sp>
      <p:sp>
        <p:nvSpPr>
          <p:cNvPr id="681" name="Text 1"/>
          <p:cNvSpPr/>
          <p:nvPr/>
        </p:nvSpPr>
        <p:spPr>
          <a:xfrm>
            <a:off x="548640" y="914400"/>
            <a:ext cx="9600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ffffff"/>
                </a:solidFill>
                <a:latin typeface="Arial"/>
                <a:ea typeface="Arial"/>
              </a:rPr>
              <a:t>Suivre les interventions des prestataires</a:t>
            </a:r>
            <a:endParaRPr b="0" lang="en-US" sz="2400" spc="-1" strike="noStrike">
              <a:solidFill>
                <a:srgbClr val="ffffff"/>
              </a:solidFill>
              <a:latin typeface="Arial"/>
            </a:endParaRPr>
          </a:p>
        </p:txBody>
      </p:sp>
      <p:sp>
        <p:nvSpPr>
          <p:cNvPr id="682" name="Text 2"/>
          <p:cNvSpPr/>
          <p:nvPr/>
        </p:nvSpPr>
        <p:spPr>
          <a:xfrm>
            <a:off x="548640" y="169164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afc8dc"/>
                </a:solidFill>
                <a:latin typeface="Arial"/>
                <a:ea typeface="Arial"/>
              </a:rPr>
              <a:t>Ce qui doit être acquis à ce stade :</a:t>
            </a:r>
            <a:endParaRPr b="0" lang="en-US" sz="1300" spc="-1" strike="noStrike">
              <a:solidFill>
                <a:srgbClr val="ffffff"/>
              </a:solidFill>
              <a:latin typeface="Arial"/>
            </a:endParaRPr>
          </a:p>
        </p:txBody>
      </p:sp>
      <p:sp>
        <p:nvSpPr>
          <p:cNvPr id="683" name="Shape 3"/>
          <p:cNvSpPr/>
          <p:nvPr/>
        </p:nvSpPr>
        <p:spPr>
          <a:xfrm>
            <a:off x="548640" y="20574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4" name="Shape 4"/>
          <p:cNvSpPr/>
          <p:nvPr/>
        </p:nvSpPr>
        <p:spPr>
          <a:xfrm>
            <a:off x="777240" y="23500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5" name="Text 5"/>
          <p:cNvSpPr/>
          <p:nvPr/>
        </p:nvSpPr>
        <p:spPr>
          <a:xfrm>
            <a:off x="1143000" y="21304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Les demandes d'interventions sont enregistrées et planifiées selon les priorités définies ; les délais et engagements contractuels sont vérifiés.</a:t>
            </a:r>
            <a:endParaRPr b="0" lang="en-US" sz="1250" spc="-1" strike="noStrike">
              <a:solidFill>
                <a:srgbClr val="ffffff"/>
              </a:solidFill>
              <a:latin typeface="Arial"/>
            </a:endParaRPr>
          </a:p>
        </p:txBody>
      </p:sp>
      <p:sp>
        <p:nvSpPr>
          <p:cNvPr id="686" name="Shape 6"/>
          <p:cNvSpPr/>
          <p:nvPr/>
        </p:nvSpPr>
        <p:spPr>
          <a:xfrm>
            <a:off x="548640" y="29718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7" name="Shape 7"/>
          <p:cNvSpPr/>
          <p:nvPr/>
        </p:nvSpPr>
        <p:spPr>
          <a:xfrm>
            <a:off x="777240" y="32644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8" name="Text 8"/>
          <p:cNvSpPr/>
          <p:nvPr/>
        </p:nvSpPr>
        <p:spPr>
          <a:xfrm>
            <a:off x="1143000" y="30448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Les interventions sont comparées aux exigences du cahier des charges et les écarts sont signalés aux services concernés.</a:t>
            </a:r>
            <a:endParaRPr b="0" lang="en-US" sz="1250" spc="-1" strike="noStrike">
              <a:solidFill>
                <a:srgbClr val="ffffff"/>
              </a:solidFill>
              <a:latin typeface="Arial"/>
            </a:endParaRPr>
          </a:p>
        </p:txBody>
      </p:sp>
      <p:sp>
        <p:nvSpPr>
          <p:cNvPr id="689" name="Shape 9"/>
          <p:cNvSpPr/>
          <p:nvPr/>
        </p:nvSpPr>
        <p:spPr>
          <a:xfrm>
            <a:off x="548640" y="3886200"/>
            <a:ext cx="11094120" cy="776880"/>
          </a:xfrm>
          <a:prstGeom prst="roundRect">
            <a:avLst>
              <a:gd name="adj" fmla="val 9412"/>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0" name="Shape 10"/>
          <p:cNvSpPr/>
          <p:nvPr/>
        </p:nvSpPr>
        <p:spPr>
          <a:xfrm>
            <a:off x="777240" y="4178880"/>
            <a:ext cx="182520" cy="182520"/>
          </a:xfrm>
          <a:prstGeom prst="ellipse">
            <a:avLst/>
          </a:prstGeom>
          <a:solidFill>
            <a:srgbClr val="2e9cc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1" name="Text 11"/>
          <p:cNvSpPr/>
          <p:nvPr/>
        </p:nvSpPr>
        <p:spPr>
          <a:xfrm>
            <a:off x="1143000" y="3959280"/>
            <a:ext cx="10179720" cy="6397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ffffff"/>
                </a:solidFill>
                <a:latin typeface="Arial"/>
                <a:ea typeface="Arial"/>
              </a:rPr>
              <a:t>La traçabilité des interventions est assurée via les outils de suivi jusqu'à la clôture.</a:t>
            </a:r>
            <a:endParaRPr b="0" lang="en-US" sz="1250" spc="-1" strike="noStrike">
              <a:solidFill>
                <a:srgbClr val="ffffff"/>
              </a:solidFill>
              <a:latin typeface="Arial"/>
            </a:endParaRPr>
          </a:p>
        </p:txBody>
      </p:sp>
      <p:sp>
        <p:nvSpPr>
          <p:cNvPr id="692" name="Text 12"/>
          <p:cNvSpPr/>
          <p:nvPr/>
        </p:nvSpPr>
        <p:spPr>
          <a:xfrm>
            <a:off x="548640" y="4892040"/>
            <a:ext cx="110941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2e9cca"/>
                </a:solidFill>
                <a:latin typeface="Arial"/>
                <a:ea typeface="Arial"/>
              </a:rPr>
              <a:t>Le module est à présent complet : place à la synthèse générale.</a:t>
            </a:r>
            <a:endParaRPr b="0" lang="en-US" sz="1300" spc="-1" strike="noStrike">
              <a:solidFill>
                <a:srgbClr val="ffffff"/>
              </a:solidFill>
              <a:latin typeface="Arial"/>
            </a:endParaRPr>
          </a:p>
        </p:txBody>
      </p:sp>
      <p:sp>
        <p:nvSpPr>
          <p:cNvPr id="693" name="Text 13"/>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fb8cc"/>
                </a:solidFill>
                <a:latin typeface="Arial"/>
                <a:ea typeface="Arial"/>
              </a:rPr>
              <a:t>CQP CAE – M20 – Coordination et suivi opérationnel</a:t>
            </a:r>
            <a:endParaRPr b="0" lang="en-US" sz="900" spc="-1" strike="noStrike">
              <a:solidFill>
                <a:srgbClr val="ffffff"/>
              </a:solidFill>
              <a:latin typeface="Arial"/>
            </a:endParaRPr>
          </a:p>
        </p:txBody>
      </p:sp>
      <p:sp>
        <p:nvSpPr>
          <p:cNvPr id="694" name="Text 14"/>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9fb8cc"/>
                </a:solidFill>
                <a:latin typeface="Arial"/>
                <a:ea typeface="Arial"/>
              </a:rPr>
              <a:t>38</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5" name="Text 0"/>
          <p:cNvSpPr/>
          <p:nvPr/>
        </p:nvSpPr>
        <p:spPr>
          <a:xfrm>
            <a:off x="548640" y="457200"/>
            <a:ext cx="9143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6324f"/>
                </a:solidFill>
                <a:latin typeface="Arial"/>
                <a:ea typeface="Arial"/>
              </a:rPr>
              <a:t>Synthèse générale du module</a:t>
            </a:r>
            <a:endParaRPr b="0" lang="en-US" sz="2800" spc="-1" strike="noStrike">
              <a:solidFill>
                <a:srgbClr val="000000"/>
              </a:solidFill>
              <a:latin typeface="Arial"/>
            </a:endParaRPr>
          </a:p>
        </p:txBody>
      </p:sp>
      <p:sp>
        <p:nvSpPr>
          <p:cNvPr id="696" name="Shape 1"/>
          <p:cNvSpPr/>
          <p:nvPr/>
        </p:nvSpPr>
        <p:spPr>
          <a:xfrm>
            <a:off x="548640" y="1371600"/>
            <a:ext cx="3484440" cy="4023000"/>
          </a:xfrm>
          <a:prstGeom prst="roundRect">
            <a:avLst>
              <a:gd name="adj" fmla="val 262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7" name="Shape 2"/>
          <p:cNvSpPr/>
          <p:nvPr/>
        </p:nvSpPr>
        <p:spPr>
          <a:xfrm>
            <a:off x="1925280" y="1645920"/>
            <a:ext cx="731160" cy="73116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8" name="Text 3"/>
          <p:cNvSpPr/>
          <p:nvPr/>
        </p:nvSpPr>
        <p:spPr>
          <a:xfrm>
            <a:off x="1925280" y="164592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Arial"/>
                <a:ea typeface="Arial"/>
              </a:rPr>
              <a:t>1</a:t>
            </a:r>
            <a:endParaRPr b="0" lang="en-US" sz="2600" spc="-1" strike="noStrike">
              <a:solidFill>
                <a:srgbClr val="000000"/>
              </a:solidFill>
              <a:latin typeface="Arial"/>
            </a:endParaRPr>
          </a:p>
        </p:txBody>
      </p:sp>
      <p:sp>
        <p:nvSpPr>
          <p:cNvPr id="699" name="Text 4"/>
          <p:cNvSpPr/>
          <p:nvPr/>
        </p:nvSpPr>
        <p:spPr>
          <a:xfrm>
            <a:off x="777240" y="2606040"/>
            <a:ext cx="3027240" cy="822600"/>
          </a:xfrm>
          <a:prstGeom prst="rect">
            <a:avLst/>
          </a:prstGeom>
          <a:noFill/>
          <a:ln w="0">
            <a:noFill/>
          </a:ln>
        </p:spPr>
        <p:style>
          <a:lnRef idx="0"/>
          <a:fillRef idx="0"/>
          <a:effectRef idx="0"/>
          <a:fontRef idx="minor"/>
        </p:style>
        <p:txBody>
          <a:bodyPr lIns="0" rIns="0" tIns="0" bIns="0" anchor="ctr">
            <a:noAutofit/>
          </a:bodyPr>
          <a:p>
            <a:pPr algn="ctr" defTabSz="914400">
              <a:lnSpc>
                <a:spcPct val="110000"/>
              </a:lnSpc>
              <a:tabLst>
                <a:tab algn="l" pos="0"/>
              </a:tabLst>
            </a:pPr>
            <a:r>
              <a:rPr b="1" lang="en-US" sz="1450" spc="-1" strike="noStrike">
                <a:solidFill>
                  <a:srgbClr val="16324f"/>
                </a:solidFill>
                <a:latin typeface="Arial"/>
                <a:ea typeface="Arial"/>
              </a:rPr>
              <a:t>Planifier l'utilisation des ressources</a:t>
            </a:r>
            <a:endParaRPr b="0" lang="en-US" sz="1450" spc="-1" strike="noStrike">
              <a:solidFill>
                <a:srgbClr val="000000"/>
              </a:solidFill>
              <a:latin typeface="Arial"/>
            </a:endParaRPr>
          </a:p>
        </p:txBody>
      </p:sp>
      <p:sp>
        <p:nvSpPr>
          <p:cNvPr id="700" name="Text 5"/>
          <p:cNvSpPr/>
          <p:nvPr/>
        </p:nvSpPr>
        <p:spPr>
          <a:xfrm>
            <a:off x="777240" y="3474720"/>
            <a:ext cx="3027240" cy="173700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150" spc="-1" strike="noStrike">
                <a:solidFill>
                  <a:srgbClr val="1b2430"/>
                </a:solidFill>
                <a:latin typeface="Arial"/>
                <a:ea typeface="Arial"/>
              </a:rPr>
              <a:t>Analyser les besoins, arbitrer les priorités, aménager les espaces (accessibilité PMR) et tracer les opérations.</a:t>
            </a:r>
            <a:endParaRPr b="0" lang="en-US" sz="1150" spc="-1" strike="noStrike">
              <a:solidFill>
                <a:srgbClr val="000000"/>
              </a:solidFill>
              <a:latin typeface="Arial"/>
            </a:endParaRPr>
          </a:p>
        </p:txBody>
      </p:sp>
      <p:sp>
        <p:nvSpPr>
          <p:cNvPr id="701" name="Shape 6"/>
          <p:cNvSpPr/>
          <p:nvPr/>
        </p:nvSpPr>
        <p:spPr>
          <a:xfrm>
            <a:off x="4353480" y="1371600"/>
            <a:ext cx="3484440" cy="4023000"/>
          </a:xfrm>
          <a:prstGeom prst="roundRect">
            <a:avLst>
              <a:gd name="adj" fmla="val 262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2" name="Shape 7"/>
          <p:cNvSpPr/>
          <p:nvPr/>
        </p:nvSpPr>
        <p:spPr>
          <a:xfrm>
            <a:off x="5730120" y="1645920"/>
            <a:ext cx="731160" cy="73116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3" name="Text 8"/>
          <p:cNvSpPr/>
          <p:nvPr/>
        </p:nvSpPr>
        <p:spPr>
          <a:xfrm>
            <a:off x="5730120" y="164592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Arial"/>
                <a:ea typeface="Arial"/>
              </a:rPr>
              <a:t>2</a:t>
            </a:r>
            <a:endParaRPr b="0" lang="en-US" sz="2600" spc="-1" strike="noStrike">
              <a:solidFill>
                <a:srgbClr val="000000"/>
              </a:solidFill>
              <a:latin typeface="Arial"/>
            </a:endParaRPr>
          </a:p>
        </p:txBody>
      </p:sp>
      <p:sp>
        <p:nvSpPr>
          <p:cNvPr id="704" name="Text 9"/>
          <p:cNvSpPr/>
          <p:nvPr/>
        </p:nvSpPr>
        <p:spPr>
          <a:xfrm>
            <a:off x="4582080" y="2606040"/>
            <a:ext cx="3027240" cy="822600"/>
          </a:xfrm>
          <a:prstGeom prst="rect">
            <a:avLst/>
          </a:prstGeom>
          <a:noFill/>
          <a:ln w="0">
            <a:noFill/>
          </a:ln>
        </p:spPr>
        <p:style>
          <a:lnRef idx="0"/>
          <a:fillRef idx="0"/>
          <a:effectRef idx="0"/>
          <a:fontRef idx="minor"/>
        </p:style>
        <p:txBody>
          <a:bodyPr lIns="0" rIns="0" tIns="0" bIns="0" anchor="ctr">
            <a:noAutofit/>
          </a:bodyPr>
          <a:p>
            <a:pPr algn="ctr" defTabSz="914400">
              <a:lnSpc>
                <a:spcPct val="110000"/>
              </a:lnSpc>
              <a:tabLst>
                <a:tab algn="l" pos="0"/>
              </a:tabLst>
            </a:pPr>
            <a:r>
              <a:rPr b="1" lang="en-US" sz="1450" spc="-1" strike="noStrike">
                <a:solidFill>
                  <a:srgbClr val="16324f"/>
                </a:solidFill>
                <a:latin typeface="Arial"/>
                <a:ea typeface="Arial"/>
              </a:rPr>
              <a:t>Approvisionner en fournitures</a:t>
            </a:r>
            <a:endParaRPr b="0" lang="en-US" sz="1450" spc="-1" strike="noStrike">
              <a:solidFill>
                <a:srgbClr val="000000"/>
              </a:solidFill>
              <a:latin typeface="Arial"/>
            </a:endParaRPr>
          </a:p>
        </p:txBody>
      </p:sp>
      <p:sp>
        <p:nvSpPr>
          <p:cNvPr id="705" name="Text 10"/>
          <p:cNvSpPr/>
          <p:nvPr/>
        </p:nvSpPr>
        <p:spPr>
          <a:xfrm>
            <a:off x="4582080" y="3474720"/>
            <a:ext cx="3027240" cy="173700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150" spc="-1" strike="noStrike">
                <a:solidFill>
                  <a:srgbClr val="1b2430"/>
                </a:solidFill>
                <a:latin typeface="Arial"/>
                <a:ea typeface="Arial"/>
              </a:rPr>
              <a:t>Suivre les consommations, respecter les délais de livraison et archiver les documents administratifs, en intégrant la TEE.</a:t>
            </a:r>
            <a:endParaRPr b="0" lang="en-US" sz="1150" spc="-1" strike="noStrike">
              <a:solidFill>
                <a:srgbClr val="000000"/>
              </a:solidFill>
              <a:latin typeface="Arial"/>
            </a:endParaRPr>
          </a:p>
        </p:txBody>
      </p:sp>
      <p:sp>
        <p:nvSpPr>
          <p:cNvPr id="706" name="Shape 11"/>
          <p:cNvSpPr/>
          <p:nvPr/>
        </p:nvSpPr>
        <p:spPr>
          <a:xfrm>
            <a:off x="8158320" y="1371600"/>
            <a:ext cx="3484440" cy="4023000"/>
          </a:xfrm>
          <a:prstGeom prst="roundRect">
            <a:avLst>
              <a:gd name="adj" fmla="val 2624"/>
            </a:avLst>
          </a:prstGeom>
          <a:solidFill>
            <a:srgbClr val="eaf5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7" name="Shape 12"/>
          <p:cNvSpPr/>
          <p:nvPr/>
        </p:nvSpPr>
        <p:spPr>
          <a:xfrm>
            <a:off x="9534960" y="1645920"/>
            <a:ext cx="731160" cy="731160"/>
          </a:xfrm>
          <a:prstGeom prst="ellipse">
            <a:avLst/>
          </a:prstGeom>
          <a:solidFill>
            <a:srgbClr val="1632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8" name="Text 13"/>
          <p:cNvSpPr/>
          <p:nvPr/>
        </p:nvSpPr>
        <p:spPr>
          <a:xfrm>
            <a:off x="9534960" y="164592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Arial"/>
                <a:ea typeface="Arial"/>
              </a:rPr>
              <a:t>3</a:t>
            </a:r>
            <a:endParaRPr b="0" lang="en-US" sz="2600" spc="-1" strike="noStrike">
              <a:solidFill>
                <a:srgbClr val="000000"/>
              </a:solidFill>
              <a:latin typeface="Arial"/>
            </a:endParaRPr>
          </a:p>
        </p:txBody>
      </p:sp>
      <p:sp>
        <p:nvSpPr>
          <p:cNvPr id="709" name="Text 14"/>
          <p:cNvSpPr/>
          <p:nvPr/>
        </p:nvSpPr>
        <p:spPr>
          <a:xfrm>
            <a:off x="8386920" y="2606040"/>
            <a:ext cx="3027240" cy="822600"/>
          </a:xfrm>
          <a:prstGeom prst="rect">
            <a:avLst/>
          </a:prstGeom>
          <a:noFill/>
          <a:ln w="0">
            <a:noFill/>
          </a:ln>
        </p:spPr>
        <p:style>
          <a:lnRef idx="0"/>
          <a:fillRef idx="0"/>
          <a:effectRef idx="0"/>
          <a:fontRef idx="minor"/>
        </p:style>
        <p:txBody>
          <a:bodyPr lIns="0" rIns="0" tIns="0" bIns="0" anchor="ctr">
            <a:noAutofit/>
          </a:bodyPr>
          <a:p>
            <a:pPr algn="ctr" defTabSz="914400">
              <a:lnSpc>
                <a:spcPct val="110000"/>
              </a:lnSpc>
              <a:tabLst>
                <a:tab algn="l" pos="0"/>
              </a:tabLst>
            </a:pPr>
            <a:r>
              <a:rPr b="1" lang="en-US" sz="1450" spc="-1" strike="noStrike">
                <a:solidFill>
                  <a:srgbClr val="16324f"/>
                </a:solidFill>
                <a:latin typeface="Arial"/>
                <a:ea typeface="Arial"/>
              </a:rPr>
              <a:t>Suivre les interventions des prestataires</a:t>
            </a:r>
            <a:endParaRPr b="0" lang="en-US" sz="1450" spc="-1" strike="noStrike">
              <a:solidFill>
                <a:srgbClr val="000000"/>
              </a:solidFill>
              <a:latin typeface="Arial"/>
            </a:endParaRPr>
          </a:p>
        </p:txBody>
      </p:sp>
      <p:sp>
        <p:nvSpPr>
          <p:cNvPr id="710" name="Text 15"/>
          <p:cNvSpPr/>
          <p:nvPr/>
        </p:nvSpPr>
        <p:spPr>
          <a:xfrm>
            <a:off x="8386920" y="3474720"/>
            <a:ext cx="3027240" cy="173700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150" spc="-1" strike="noStrike">
                <a:solidFill>
                  <a:srgbClr val="1b2430"/>
                </a:solidFill>
                <a:latin typeface="Arial"/>
                <a:ea typeface="Arial"/>
              </a:rPr>
              <a:t>Enregistrer, planifier, contrôler au regard du cahier des charges et assurer la traçabilité jusqu'à la clôture.</a:t>
            </a:r>
            <a:endParaRPr b="0" lang="en-US" sz="1150" spc="-1" strike="noStrike">
              <a:solidFill>
                <a:srgbClr val="000000"/>
              </a:solidFill>
              <a:latin typeface="Arial"/>
            </a:endParaRPr>
          </a:p>
        </p:txBody>
      </p:sp>
      <p:sp>
        <p:nvSpPr>
          <p:cNvPr id="711" name="Text 16"/>
          <p:cNvSpPr/>
          <p:nvPr/>
        </p:nvSpPr>
        <p:spPr>
          <a:xfrm>
            <a:off x="548640" y="5623560"/>
            <a:ext cx="1109412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i="1" lang="en-US" sz="1200" spc="-1" strike="noStrike">
                <a:solidFill>
                  <a:srgbClr val="16324f"/>
                </a:solidFill>
                <a:latin typeface="Arial"/>
                <a:ea typeface="Arial"/>
              </a:rPr>
              <a:t>Objectif général : </a:t>
            </a:r>
            <a:r>
              <a:rPr b="0" i="1" lang="en-US" sz="1200" spc="-1" strike="noStrike">
                <a:solidFill>
                  <a:srgbClr val="51606e"/>
                </a:solidFill>
                <a:latin typeface="Arial"/>
                <a:ea typeface="Arial"/>
              </a:rPr>
              <a:t>coordonner les ressources, les fournitures et les interventions des prestataires en assurant leur suivi et leur traçabilité.</a:t>
            </a:r>
            <a:endParaRPr b="0" lang="en-US" sz="1200" spc="-1" strike="noStrike">
              <a:solidFill>
                <a:srgbClr val="000000"/>
              </a:solidFill>
              <a:latin typeface="Arial"/>
            </a:endParaRPr>
          </a:p>
        </p:txBody>
      </p:sp>
      <p:sp>
        <p:nvSpPr>
          <p:cNvPr id="712" name="Text 17"/>
          <p:cNvSpPr/>
          <p:nvPr/>
        </p:nvSpPr>
        <p:spPr>
          <a:xfrm>
            <a:off x="548640" y="6473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51606e"/>
                </a:solidFill>
                <a:latin typeface="Arial"/>
                <a:ea typeface="Arial"/>
              </a:rPr>
              <a:t>CQP CAE – M20 – Coordination et suivi opérationnel</a:t>
            </a:r>
            <a:endParaRPr b="0" lang="en-US" sz="900" spc="-1" strike="noStrike">
              <a:solidFill>
                <a:srgbClr val="000000"/>
              </a:solidFill>
              <a:latin typeface="Arial"/>
            </a:endParaRPr>
          </a:p>
        </p:txBody>
      </p:sp>
      <p:sp>
        <p:nvSpPr>
          <p:cNvPr id="713" name="Text 18"/>
          <p:cNvSpPr/>
          <p:nvPr/>
        </p:nvSpPr>
        <p:spPr>
          <a:xfrm>
            <a:off x="11094480" y="647388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1606e"/>
                </a:solidFill>
                <a:latin typeface="Arial"/>
                <a:ea typeface="Arial"/>
              </a:rPr>
              <a:t>39</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324f"/>
        </a:solidFill>
      </p:bgPr>
    </p:bg>
    <p:spTree>
      <p:nvGrpSpPr>
        <p:cNvPr id="1" name=""/>
        <p:cNvGrpSpPr/>
        <p:nvPr/>
      </p:nvGrpSpPr>
      <p:grpSpPr>
        <a:xfrm>
          <a:off x="0" y="0"/>
          <a:ext cx="0" cy="0"/>
          <a:chOff x="0" y="0"/>
          <a:chExt cx="0" cy="0"/>
        </a:xfrm>
      </p:grpSpPr>
      <p:sp>
        <p:nvSpPr>
          <p:cNvPr id="714" name="Shape 0"/>
          <p:cNvSpPr/>
          <p:nvPr/>
        </p:nvSpPr>
        <p:spPr>
          <a:xfrm>
            <a:off x="-1371600" y="-1371600"/>
            <a:ext cx="3657240" cy="3657240"/>
          </a:xfrm>
          <a:prstGeom prst="ellipse">
            <a:avLst/>
          </a:prstGeom>
          <a:solidFill>
            <a:srgbClr val="1f43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5" name="Shape 1"/>
          <p:cNvSpPr/>
          <p:nvPr/>
        </p:nvSpPr>
        <p:spPr>
          <a:xfrm>
            <a:off x="9448560" y="4114800"/>
            <a:ext cx="4114440" cy="4114440"/>
          </a:xfrm>
          <a:prstGeom prst="ellipse">
            <a:avLst/>
          </a:prstGeom>
          <a:solidFill>
            <a:srgbClr val="2e9cca">
              <a:alpha val="40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6" name="Text 2"/>
          <p:cNvSpPr/>
          <p:nvPr/>
        </p:nvSpPr>
        <p:spPr>
          <a:xfrm>
            <a:off x="548640" y="2468880"/>
            <a:ext cx="96008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pc="-1" strike="noStrike">
                <a:solidFill>
                  <a:srgbClr val="ffffff"/>
                </a:solidFill>
                <a:latin typeface="Arial"/>
                <a:ea typeface="Arial"/>
              </a:rPr>
              <a:t>Merci de votre attention</a:t>
            </a:r>
            <a:endParaRPr b="0" lang="en-US" sz="3600" spc="-1" strike="noStrike">
              <a:solidFill>
                <a:srgbClr val="ffffff"/>
              </a:solidFill>
              <a:latin typeface="Arial"/>
            </a:endParaRPr>
          </a:p>
        </p:txBody>
      </p:sp>
      <p:sp>
        <p:nvSpPr>
          <p:cNvPr id="717" name="Text 3"/>
          <p:cNvSpPr/>
          <p:nvPr/>
        </p:nvSpPr>
        <p:spPr>
          <a:xfrm>
            <a:off x="548640" y="3337560"/>
            <a:ext cx="9143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2e9cca"/>
                </a:solidFill>
                <a:latin typeface="Arial"/>
                <a:ea typeface="Arial"/>
              </a:rPr>
              <a:t>Questions – échanges – QCM sommatif de contrôle continu</a:t>
            </a:r>
            <a:endParaRPr b="0" lang="en-US" sz="1600" spc="-1" strike="noStrike">
              <a:solidFill>
                <a:srgbClr val="ffffff"/>
              </a:solidFill>
              <a:latin typeface="Arial"/>
            </a:endParaRPr>
          </a:p>
        </p:txBody>
      </p:sp>
      <p:sp>
        <p:nvSpPr>
          <p:cNvPr id="718" name="Text 4"/>
          <p:cNvSpPr/>
          <p:nvPr/>
        </p:nvSpPr>
        <p:spPr>
          <a:xfrm>
            <a:off x="548640" y="621792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0a0bc"/>
                </a:solidFill>
                <a:latin typeface="Arial"/>
                <a:ea typeface="Arial"/>
              </a:rPr>
              <a:t>CQP CAE – M20 – Coordination et suivi opérationnel</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CQP Chargé(e) d'Accueil en Entreprise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2026-09-19T20:58:22Z</dcterms:created>
  <dc:creator>Support de formation</dc:creator>
  <dc:description/>
  <dc:language>en-US</dc:language>
  <cp:lastModifiedBy>Support de formation</cp:lastModifiedBy>
  <dcterms:modified xsi:type="dcterms:W3CDTF">2026-09-19T20:58:22Z</dcterms:modified>
  <cp:revision>1</cp:revision>
  <dc:subject>PptxGenJS Presentation</dc:subject>
  <dc:title>M20 - Coordination et suivi opérationnel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41</vt:r8>
  </property>
  <property fmtid="{D5CDD505-2E9C-101B-9397-08002B2CF9AE}" pid="3" name="PresentationFormat">
    <vt:lpwstr>On-screen Show (16:9)</vt:lpwstr>
  </property>
  <property fmtid="{D5CDD505-2E9C-101B-9397-08002B2CF9AE}" pid="4" name="Slides">
    <vt:r8>41</vt:r8>
  </property>
</Properties>
</file>