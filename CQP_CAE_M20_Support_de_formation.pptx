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9997135" y="548640"/>
            <a:ext cx="914400" cy="914400"/>
          </a:xfrm>
          <a:prstGeom prst="rect">
            <a:avLst/>
          </a:prstGeom>
          <a:solidFill>
            <a:srgbClr val="1F4368"/>
          </a:solidFill>
          <a:ln/>
        </p:spPr>
      </p:sp>
      <p:sp>
        <p:nvSpPr>
          <p:cNvPr id="3" name="Shape 1"/>
          <p:cNvSpPr/>
          <p:nvPr/>
        </p:nvSpPr>
        <p:spPr>
          <a:xfrm>
            <a:off x="11048695" y="548640"/>
            <a:ext cx="914400" cy="502920"/>
          </a:xfrm>
          <a:prstGeom prst="rect">
            <a:avLst/>
          </a:prstGeom>
          <a:solidFill>
            <a:srgbClr val="2E9CCA">
              <a:alpha val="75000"/>
            </a:srgbClr>
          </a:solidFill>
          <a:ln/>
        </p:spPr>
      </p:sp>
      <p:sp>
        <p:nvSpPr>
          <p:cNvPr id="4" name="Shape 2"/>
          <p:cNvSpPr/>
          <p:nvPr/>
        </p:nvSpPr>
        <p:spPr>
          <a:xfrm>
            <a:off x="11048695" y="1143000"/>
            <a:ext cx="914400" cy="411480"/>
          </a:xfrm>
          <a:prstGeom prst="rect">
            <a:avLst/>
          </a:prstGeom>
          <a:solidFill>
            <a:srgbClr val="1F4368"/>
          </a:solidFill>
          <a:ln/>
        </p:spPr>
      </p:sp>
      <p:sp>
        <p:nvSpPr>
          <p:cNvPr id="5" name="Shape 3"/>
          <p:cNvSpPr/>
          <p:nvPr/>
        </p:nvSpPr>
        <p:spPr>
          <a:xfrm>
            <a:off x="9997135" y="1600200"/>
            <a:ext cx="502920" cy="914400"/>
          </a:xfrm>
          <a:prstGeom prst="rect">
            <a:avLst/>
          </a:prstGeom>
          <a:solidFill>
            <a:srgbClr val="2E9CCA">
              <a:alpha val="75000"/>
            </a:srgbClr>
          </a:solidFill>
          <a:ln/>
        </p:spPr>
      </p:sp>
      <p:sp>
        <p:nvSpPr>
          <p:cNvPr id="6" name="Shape 4"/>
          <p:cNvSpPr/>
          <p:nvPr/>
        </p:nvSpPr>
        <p:spPr>
          <a:xfrm>
            <a:off x="10591495" y="1600200"/>
            <a:ext cx="411480" cy="914400"/>
          </a:xfrm>
          <a:prstGeom prst="rect">
            <a:avLst/>
          </a:prstGeom>
          <a:solidFill>
            <a:srgbClr val="1F4368"/>
          </a:solidFill>
          <a:ln/>
        </p:spPr>
      </p:sp>
      <p:sp>
        <p:nvSpPr>
          <p:cNvPr id="7" name="Text 5"/>
          <p:cNvSpPr/>
          <p:nvPr/>
        </p:nvSpPr>
        <p:spPr>
          <a:xfrm>
            <a:off x="548640" y="1188720"/>
            <a:ext cx="8686800" cy="457200"/>
          </a:xfrm>
          <a:prstGeom prst="rect">
            <a:avLst/>
          </a:prstGeom>
          <a:noFill/>
          <a:ln/>
        </p:spPr>
        <p:txBody>
          <a:bodyPr wrap="square" lIns="0" tIns="0" rIns="0" bIns="0" rtlCol="0" anchor="ctr"/>
          <a:lstStyle/>
          <a:p>
            <a:pPr indent="0" marL="0">
              <a:buNone/>
            </a:pPr>
            <a:r>
              <a:rPr lang="en-US" sz="1600" b="1" spc="200" kern="0" dirty="0">
                <a:solidFill>
                  <a:srgbClr val="2E9CCA"/>
                </a:solidFill>
                <a:latin typeface="Arial" pitchFamily="34" charset="0"/>
                <a:ea typeface="Arial" pitchFamily="34" charset="-122"/>
                <a:cs typeface="Arial" pitchFamily="34" charset="-120"/>
              </a:rPr>
              <a:t>CQP CHARGÉ(E) D'ACCUEIL EN ENTREPRISE</a:t>
            </a:r>
            <a:endParaRPr lang="en-US" sz="1600" dirty="0"/>
          </a:p>
        </p:txBody>
      </p:sp>
      <p:sp>
        <p:nvSpPr>
          <p:cNvPr id="8" name="Text 6"/>
          <p:cNvSpPr/>
          <p:nvPr/>
        </p:nvSpPr>
        <p:spPr>
          <a:xfrm>
            <a:off x="548640" y="1691640"/>
            <a:ext cx="8686800" cy="45720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Module M20</a:t>
            </a:r>
            <a:endParaRPr lang="en-US" sz="1800" dirty="0"/>
          </a:p>
        </p:txBody>
      </p:sp>
      <p:sp>
        <p:nvSpPr>
          <p:cNvPr id="9" name="Text 7"/>
          <p:cNvSpPr/>
          <p:nvPr/>
        </p:nvSpPr>
        <p:spPr>
          <a:xfrm>
            <a:off x="548640" y="2148840"/>
            <a:ext cx="9601200" cy="146304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Arial" pitchFamily="34" charset="0"/>
                <a:ea typeface="Arial" pitchFamily="34" charset="-122"/>
                <a:cs typeface="Arial" pitchFamily="34" charset="-120"/>
              </a:rPr>
              <a:t>Coordination et suivi opérationnel</a:t>
            </a:r>
            <a:endParaRPr lang="en-US" sz="4400" dirty="0"/>
          </a:p>
        </p:txBody>
      </p:sp>
      <p:sp>
        <p:nvSpPr>
          <p:cNvPr id="10" name="Shape 8"/>
          <p:cNvSpPr/>
          <p:nvPr/>
        </p:nvSpPr>
        <p:spPr>
          <a:xfrm>
            <a:off x="548640" y="3794760"/>
            <a:ext cx="5120640" cy="502920"/>
          </a:xfrm>
          <a:prstGeom prst="roundRect">
            <a:avLst>
              <a:gd name="adj" fmla="val 18182"/>
            </a:avLst>
          </a:prstGeom>
          <a:solidFill>
            <a:srgbClr val="1F4368"/>
          </a:solidFill>
          <a:ln w="12700">
            <a:solidFill>
              <a:srgbClr val="2E9CCA"/>
            </a:solidFill>
            <a:prstDash val="solid"/>
          </a:ln>
        </p:spPr>
      </p:sp>
      <p:sp>
        <p:nvSpPr>
          <p:cNvPr id="11" name="Text 9"/>
          <p:cNvSpPr/>
          <p:nvPr/>
        </p:nvSpPr>
        <p:spPr>
          <a:xfrm>
            <a:off x="685800" y="3794760"/>
            <a:ext cx="4846320" cy="502920"/>
          </a:xfrm>
          <a:prstGeom prst="rect">
            <a:avLst/>
          </a:prstGeom>
          <a:noFill/>
          <a:ln/>
        </p:spPr>
        <p:txBody>
          <a:bodyPr wrap="square" lIns="0" tIns="0" rIns="0" bIns="0" rtlCol="0" anchor="ctr"/>
          <a:lstStyle/>
          <a:p>
            <a:pPr indent="0" marL="0">
              <a:buNone/>
            </a:pPr>
            <a:r>
              <a:rPr lang="en-US" sz="1400" b="1" dirty="0">
                <a:solidFill>
                  <a:srgbClr val="2E9CCA"/>
                </a:solidFill>
                <a:latin typeface="Arial" pitchFamily="34" charset="0"/>
                <a:ea typeface="Arial" pitchFamily="34" charset="-122"/>
                <a:cs typeface="Arial" pitchFamily="34" charset="-120"/>
              </a:rPr>
              <a:t>Durée totale : </a:t>
            </a:r>
            <a:pPr indent="0" marL="0">
              <a:buNone/>
            </a:pPr>
            <a:r>
              <a:rPr lang="en-US" sz="1400" dirty="0">
                <a:solidFill>
                  <a:srgbClr val="FFFFFF"/>
                </a:solidFill>
                <a:latin typeface="Arial" pitchFamily="34" charset="0"/>
                <a:ea typeface="Arial" pitchFamily="34" charset="-122"/>
                <a:cs typeface="Arial" pitchFamily="34" charset="-120"/>
              </a:rPr>
              <a:t>3 heures 30</a:t>
            </a:r>
            <a:endParaRPr lang="en-US" sz="1400" dirty="0"/>
          </a:p>
        </p:txBody>
      </p:sp>
      <p:sp>
        <p:nvSpPr>
          <p:cNvPr id="12" name="Text 10"/>
          <p:cNvSpPr/>
          <p:nvPr/>
        </p:nvSpPr>
        <p:spPr>
          <a:xfrm>
            <a:off x="548640" y="5989320"/>
            <a:ext cx="9144000" cy="365760"/>
          </a:xfrm>
          <a:prstGeom prst="rect">
            <a:avLst/>
          </a:prstGeom>
          <a:noFill/>
          <a:ln/>
        </p:spPr>
        <p:txBody>
          <a:bodyPr wrap="square" lIns="0" tIns="0" rIns="0" bIns="0" rtlCol="0" anchor="ctr"/>
          <a:lstStyle/>
          <a:p>
            <a:pPr indent="0" marL="0">
              <a:buNone/>
            </a:pPr>
            <a:r>
              <a:rPr lang="en-US" sz="1200" i="1" dirty="0">
                <a:solidFill>
                  <a:srgbClr val="9FB8CC"/>
                </a:solidFill>
                <a:latin typeface="Arial" pitchFamily="34" charset="0"/>
                <a:ea typeface="Arial" pitchFamily="34" charset="-122"/>
                <a:cs typeface="Arial" pitchFamily="34" charset="-120"/>
              </a:rPr>
              <a:t>Support de formation – Apprenants du CQP Chargé(e) d'Accueil en Entreprise (CAE)</a:t>
            </a:r>
            <a:endParaRPr lang="en-US" sz="1200" dirty="0"/>
          </a:p>
        </p:txBody>
      </p:sp>
      <p:sp>
        <p:nvSpPr>
          <p:cNvPr id="13" name="Text 11"/>
          <p:cNvSpPr/>
          <p:nvPr/>
        </p:nvSpPr>
        <p:spPr>
          <a:xfrm>
            <a:off x="548640" y="6309360"/>
            <a:ext cx="9144000" cy="320040"/>
          </a:xfrm>
          <a:prstGeom prst="rect">
            <a:avLst/>
          </a:prstGeom>
          <a:noFill/>
          <a:ln/>
        </p:spPr>
        <p:txBody>
          <a:bodyPr wrap="square" lIns="0" tIns="0" rIns="0" bIns="0" rtlCol="0" anchor="ctr"/>
          <a:lstStyle/>
          <a:p>
            <a:pPr indent="0" marL="0">
              <a:buNone/>
            </a:pPr>
            <a:r>
              <a:rPr lang="en-US" sz="1100" dirty="0">
                <a:solidFill>
                  <a:srgbClr val="80A0BC"/>
                </a:solidFill>
                <a:latin typeface="Arial" pitchFamily="34" charset="0"/>
                <a:ea typeface="Arial" pitchFamily="34" charset="-122"/>
                <a:cs typeface="Arial" pitchFamily="34" charset="-120"/>
              </a:rPr>
              <a:t>Référentiel d'activités : C3.4 – C3.5 – C3.6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16324F"/>
                </a:solidFill>
                <a:latin typeface="Arial" pitchFamily="34" charset="0"/>
                <a:ea typeface="Arial" pitchFamily="34" charset="-122"/>
                <a:cs typeface="Arial" pitchFamily="34" charset="-120"/>
              </a:rPr>
              <a:t>Sommaire de la formation</a:t>
            </a:r>
            <a:endParaRPr lang="en-US" sz="3000" dirty="0"/>
          </a:p>
        </p:txBody>
      </p:sp>
      <p:sp>
        <p:nvSpPr>
          <p:cNvPr id="3" name="Text 1"/>
          <p:cNvSpPr/>
          <p:nvPr/>
        </p:nvSpPr>
        <p:spPr>
          <a:xfrm>
            <a:off x="548640" y="1051560"/>
            <a:ext cx="9144000" cy="365760"/>
          </a:xfrm>
          <a:prstGeom prst="rect">
            <a:avLst/>
          </a:prstGeom>
          <a:noFill/>
          <a:ln/>
        </p:spPr>
        <p:txBody>
          <a:bodyPr wrap="square" lIns="0" tIns="0" rIns="0" bIns="0" rtlCol="0" anchor="ctr"/>
          <a:lstStyle/>
          <a:p>
            <a:pPr indent="0" marL="0">
              <a:buNone/>
            </a:pPr>
            <a:r>
              <a:rPr lang="en-US" sz="1400" i="1" dirty="0">
                <a:solidFill>
                  <a:srgbClr val="51606E"/>
                </a:solidFill>
                <a:latin typeface="Arial" pitchFamily="34" charset="0"/>
                <a:ea typeface="Arial" pitchFamily="34" charset="-122"/>
                <a:cs typeface="Arial" pitchFamily="34" charset="-120"/>
              </a:rPr>
              <a:t>Trois blocs de compétences, dans l'ordre du plan d'enseignement</a:t>
            </a:r>
            <a:endParaRPr lang="en-US" sz="1400" dirty="0"/>
          </a:p>
        </p:txBody>
      </p:sp>
      <p:sp>
        <p:nvSpPr>
          <p:cNvPr id="4" name="Shape 2"/>
          <p:cNvSpPr/>
          <p:nvPr/>
        </p:nvSpPr>
        <p:spPr>
          <a:xfrm>
            <a:off x="548640" y="1691640"/>
            <a:ext cx="11094415" cy="1234440"/>
          </a:xfrm>
          <a:prstGeom prst="roundRect">
            <a:avLst>
              <a:gd name="adj" fmla="val 5926"/>
            </a:avLst>
          </a:prstGeom>
          <a:solidFill>
            <a:srgbClr val="EAF5FB"/>
          </a:solidFill>
          <a:ln/>
        </p:spPr>
      </p:sp>
      <p:sp>
        <p:nvSpPr>
          <p:cNvPr id="5" name="Shape 3"/>
          <p:cNvSpPr/>
          <p:nvPr/>
        </p:nvSpPr>
        <p:spPr>
          <a:xfrm>
            <a:off x="822960" y="1943100"/>
            <a:ext cx="731520" cy="731520"/>
          </a:xfrm>
          <a:prstGeom prst="ellipse">
            <a:avLst/>
          </a:prstGeom>
          <a:solidFill>
            <a:srgbClr val="16324F"/>
          </a:solidFill>
          <a:ln/>
        </p:spPr>
      </p:sp>
      <p:sp>
        <p:nvSpPr>
          <p:cNvPr id="6" name="Text 4"/>
          <p:cNvSpPr/>
          <p:nvPr/>
        </p:nvSpPr>
        <p:spPr>
          <a:xfrm>
            <a:off x="822960" y="194310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7" name="Text 5"/>
          <p:cNvSpPr/>
          <p:nvPr/>
        </p:nvSpPr>
        <p:spPr>
          <a:xfrm>
            <a:off x="1783080" y="1801368"/>
            <a:ext cx="7863840" cy="411480"/>
          </a:xfrm>
          <a:prstGeom prst="rect">
            <a:avLst/>
          </a:prstGeom>
          <a:noFill/>
          <a:ln/>
        </p:spPr>
        <p:txBody>
          <a:bodyPr wrap="square" lIns="0" tIns="0" rIns="0" bIns="0" rtlCol="0" anchor="ctr"/>
          <a:lstStyle/>
          <a:p>
            <a:pPr indent="0" marL="0">
              <a:buNone/>
            </a:pPr>
            <a:r>
              <a:rPr lang="en-US" sz="1800" b="1" dirty="0">
                <a:solidFill>
                  <a:srgbClr val="16324F"/>
                </a:solidFill>
                <a:latin typeface="Arial" pitchFamily="34" charset="0"/>
                <a:ea typeface="Arial" pitchFamily="34" charset="-122"/>
                <a:cs typeface="Arial" pitchFamily="34" charset="-120"/>
              </a:rPr>
              <a:t>Planifier l'utilisation des ressources</a:t>
            </a:r>
            <a:endParaRPr lang="en-US" sz="1800" dirty="0"/>
          </a:p>
        </p:txBody>
      </p:sp>
      <p:sp>
        <p:nvSpPr>
          <p:cNvPr id="8" name="Text 6"/>
          <p:cNvSpPr/>
          <p:nvPr/>
        </p:nvSpPr>
        <p:spPr>
          <a:xfrm>
            <a:off x="1783080" y="2221992"/>
            <a:ext cx="7863840" cy="548640"/>
          </a:xfrm>
          <a:prstGeom prst="rect">
            <a:avLst/>
          </a:prstGeom>
          <a:noFill/>
          <a:ln/>
        </p:spPr>
        <p:txBody>
          <a:bodyPr wrap="square" lIns="0" tIns="0" rIns="0" bIns="0" rtlCol="0" anchor="ctr"/>
          <a:lstStyle/>
          <a:p>
            <a:pPr indent="0" marL="0">
              <a:buNone/>
            </a:pPr>
            <a:r>
              <a:rPr lang="en-US" sz="1250" dirty="0">
                <a:solidFill>
                  <a:srgbClr val="51606E"/>
                </a:solidFill>
                <a:latin typeface="Arial" pitchFamily="34" charset="0"/>
                <a:ea typeface="Arial" pitchFamily="34" charset="-122"/>
                <a:cs typeface="Arial" pitchFamily="34" charset="-120"/>
              </a:rPr>
              <a:t>Analyse des besoins • Aménagement des espaces (PMR) • Traçabilité des ressources</a:t>
            </a:r>
            <a:endParaRPr lang="en-US" sz="1250" dirty="0"/>
          </a:p>
        </p:txBody>
      </p:sp>
      <p:sp>
        <p:nvSpPr>
          <p:cNvPr id="9" name="Shape 7"/>
          <p:cNvSpPr/>
          <p:nvPr/>
        </p:nvSpPr>
        <p:spPr>
          <a:xfrm>
            <a:off x="10271455" y="2080260"/>
            <a:ext cx="1188720" cy="457200"/>
          </a:xfrm>
          <a:prstGeom prst="roundRect">
            <a:avLst>
              <a:gd name="adj" fmla="val 18000"/>
            </a:avLst>
          </a:prstGeom>
          <a:solidFill>
            <a:srgbClr val="2E9CCA"/>
          </a:solidFill>
          <a:ln/>
        </p:spPr>
      </p:sp>
      <p:sp>
        <p:nvSpPr>
          <p:cNvPr id="10" name="Text 8"/>
          <p:cNvSpPr/>
          <p:nvPr/>
        </p:nvSpPr>
        <p:spPr>
          <a:xfrm>
            <a:off x="10271455" y="2080260"/>
            <a:ext cx="11887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75 min</a:t>
            </a:r>
            <a:endParaRPr lang="en-US" sz="1300" dirty="0"/>
          </a:p>
        </p:txBody>
      </p:sp>
      <p:sp>
        <p:nvSpPr>
          <p:cNvPr id="11" name="Shape 9"/>
          <p:cNvSpPr/>
          <p:nvPr/>
        </p:nvSpPr>
        <p:spPr>
          <a:xfrm>
            <a:off x="548640" y="3108960"/>
            <a:ext cx="11094415" cy="1234440"/>
          </a:xfrm>
          <a:prstGeom prst="roundRect">
            <a:avLst>
              <a:gd name="adj" fmla="val 5926"/>
            </a:avLst>
          </a:prstGeom>
          <a:solidFill>
            <a:srgbClr val="EAF5FB"/>
          </a:solidFill>
          <a:ln/>
        </p:spPr>
      </p:sp>
      <p:sp>
        <p:nvSpPr>
          <p:cNvPr id="12" name="Shape 10"/>
          <p:cNvSpPr/>
          <p:nvPr/>
        </p:nvSpPr>
        <p:spPr>
          <a:xfrm>
            <a:off x="822960" y="3360420"/>
            <a:ext cx="731520" cy="731520"/>
          </a:xfrm>
          <a:prstGeom prst="ellipse">
            <a:avLst/>
          </a:prstGeom>
          <a:solidFill>
            <a:srgbClr val="16324F"/>
          </a:solidFill>
          <a:ln/>
        </p:spPr>
      </p:sp>
      <p:sp>
        <p:nvSpPr>
          <p:cNvPr id="13" name="Text 11"/>
          <p:cNvSpPr/>
          <p:nvPr/>
        </p:nvSpPr>
        <p:spPr>
          <a:xfrm>
            <a:off x="822960" y="336042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14" name="Text 12"/>
          <p:cNvSpPr/>
          <p:nvPr/>
        </p:nvSpPr>
        <p:spPr>
          <a:xfrm>
            <a:off x="1783080" y="3218688"/>
            <a:ext cx="7863840" cy="411480"/>
          </a:xfrm>
          <a:prstGeom prst="rect">
            <a:avLst/>
          </a:prstGeom>
          <a:noFill/>
          <a:ln/>
        </p:spPr>
        <p:txBody>
          <a:bodyPr wrap="square" lIns="0" tIns="0" rIns="0" bIns="0" rtlCol="0" anchor="ctr"/>
          <a:lstStyle/>
          <a:p>
            <a:pPr indent="0" marL="0">
              <a:buNone/>
            </a:pPr>
            <a:r>
              <a:rPr lang="en-US" sz="1800" b="1" dirty="0">
                <a:solidFill>
                  <a:srgbClr val="16324F"/>
                </a:solidFill>
                <a:latin typeface="Arial" pitchFamily="34" charset="0"/>
                <a:ea typeface="Arial" pitchFamily="34" charset="-122"/>
                <a:cs typeface="Arial" pitchFamily="34" charset="-120"/>
              </a:rPr>
              <a:t>Approvisionner en fournitures</a:t>
            </a:r>
            <a:endParaRPr lang="en-US" sz="1800" dirty="0"/>
          </a:p>
        </p:txBody>
      </p:sp>
      <p:sp>
        <p:nvSpPr>
          <p:cNvPr id="15" name="Text 13"/>
          <p:cNvSpPr/>
          <p:nvPr/>
        </p:nvSpPr>
        <p:spPr>
          <a:xfrm>
            <a:off x="1783080" y="3639312"/>
            <a:ext cx="7863840" cy="548640"/>
          </a:xfrm>
          <a:prstGeom prst="rect">
            <a:avLst/>
          </a:prstGeom>
          <a:noFill/>
          <a:ln/>
        </p:spPr>
        <p:txBody>
          <a:bodyPr wrap="square" lIns="0" tIns="0" rIns="0" bIns="0" rtlCol="0" anchor="ctr"/>
          <a:lstStyle/>
          <a:p>
            <a:pPr indent="0" marL="0">
              <a:buNone/>
            </a:pPr>
            <a:r>
              <a:rPr lang="en-US" sz="1250" dirty="0">
                <a:solidFill>
                  <a:srgbClr val="51606E"/>
                </a:solidFill>
                <a:latin typeface="Arial" pitchFamily="34" charset="0"/>
                <a:ea typeface="Arial" pitchFamily="34" charset="-122"/>
                <a:cs typeface="Arial" pitchFamily="34" charset="-120"/>
              </a:rPr>
              <a:t>Processus d'approvisionnement • Suivi des stocks et Transition Écologique et Énergétique</a:t>
            </a:r>
            <a:endParaRPr lang="en-US" sz="1250" dirty="0"/>
          </a:p>
        </p:txBody>
      </p:sp>
      <p:sp>
        <p:nvSpPr>
          <p:cNvPr id="16" name="Shape 14"/>
          <p:cNvSpPr/>
          <p:nvPr/>
        </p:nvSpPr>
        <p:spPr>
          <a:xfrm>
            <a:off x="10271455" y="3497580"/>
            <a:ext cx="1188720" cy="457200"/>
          </a:xfrm>
          <a:prstGeom prst="roundRect">
            <a:avLst>
              <a:gd name="adj" fmla="val 18000"/>
            </a:avLst>
          </a:prstGeom>
          <a:solidFill>
            <a:srgbClr val="2E9CCA"/>
          </a:solidFill>
          <a:ln/>
        </p:spPr>
      </p:sp>
      <p:sp>
        <p:nvSpPr>
          <p:cNvPr id="17" name="Text 15"/>
          <p:cNvSpPr/>
          <p:nvPr/>
        </p:nvSpPr>
        <p:spPr>
          <a:xfrm>
            <a:off x="10271455" y="3497580"/>
            <a:ext cx="11887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60 min</a:t>
            </a:r>
            <a:endParaRPr lang="en-US" sz="1300" dirty="0"/>
          </a:p>
        </p:txBody>
      </p:sp>
      <p:sp>
        <p:nvSpPr>
          <p:cNvPr id="18" name="Shape 16"/>
          <p:cNvSpPr/>
          <p:nvPr/>
        </p:nvSpPr>
        <p:spPr>
          <a:xfrm>
            <a:off x="548640" y="4526280"/>
            <a:ext cx="11094415" cy="1234440"/>
          </a:xfrm>
          <a:prstGeom prst="roundRect">
            <a:avLst>
              <a:gd name="adj" fmla="val 5926"/>
            </a:avLst>
          </a:prstGeom>
          <a:solidFill>
            <a:srgbClr val="EAF5FB"/>
          </a:solidFill>
          <a:ln/>
        </p:spPr>
      </p:sp>
      <p:sp>
        <p:nvSpPr>
          <p:cNvPr id="19" name="Shape 17"/>
          <p:cNvSpPr/>
          <p:nvPr/>
        </p:nvSpPr>
        <p:spPr>
          <a:xfrm>
            <a:off x="822960" y="4777740"/>
            <a:ext cx="731520" cy="731520"/>
          </a:xfrm>
          <a:prstGeom prst="ellipse">
            <a:avLst/>
          </a:prstGeom>
          <a:solidFill>
            <a:srgbClr val="16324F"/>
          </a:solidFill>
          <a:ln/>
        </p:spPr>
      </p:sp>
      <p:sp>
        <p:nvSpPr>
          <p:cNvPr id="20" name="Text 18"/>
          <p:cNvSpPr/>
          <p:nvPr/>
        </p:nvSpPr>
        <p:spPr>
          <a:xfrm>
            <a:off x="822960" y="477774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21" name="Text 19"/>
          <p:cNvSpPr/>
          <p:nvPr/>
        </p:nvSpPr>
        <p:spPr>
          <a:xfrm>
            <a:off x="1783080" y="4636008"/>
            <a:ext cx="7863840" cy="411480"/>
          </a:xfrm>
          <a:prstGeom prst="rect">
            <a:avLst/>
          </a:prstGeom>
          <a:noFill/>
          <a:ln/>
        </p:spPr>
        <p:txBody>
          <a:bodyPr wrap="square" lIns="0" tIns="0" rIns="0" bIns="0" rtlCol="0" anchor="ctr"/>
          <a:lstStyle/>
          <a:p>
            <a:pPr indent="0" marL="0">
              <a:buNone/>
            </a:pPr>
            <a:r>
              <a:rPr lang="en-US" sz="1800" b="1" dirty="0">
                <a:solidFill>
                  <a:srgbClr val="16324F"/>
                </a:solidFill>
                <a:latin typeface="Arial" pitchFamily="34" charset="0"/>
                <a:ea typeface="Arial" pitchFamily="34" charset="-122"/>
                <a:cs typeface="Arial" pitchFamily="34" charset="-120"/>
              </a:rPr>
              <a:t>Suivre les interventions des prestataires</a:t>
            </a:r>
            <a:endParaRPr lang="en-US" sz="1800" dirty="0"/>
          </a:p>
        </p:txBody>
      </p:sp>
      <p:sp>
        <p:nvSpPr>
          <p:cNvPr id="22" name="Text 20"/>
          <p:cNvSpPr/>
          <p:nvPr/>
        </p:nvSpPr>
        <p:spPr>
          <a:xfrm>
            <a:off x="1783080" y="5056632"/>
            <a:ext cx="7863840" cy="548640"/>
          </a:xfrm>
          <a:prstGeom prst="rect">
            <a:avLst/>
          </a:prstGeom>
          <a:noFill/>
          <a:ln/>
        </p:spPr>
        <p:txBody>
          <a:bodyPr wrap="square" lIns="0" tIns="0" rIns="0" bIns="0" rtlCol="0" anchor="ctr"/>
          <a:lstStyle/>
          <a:p>
            <a:pPr indent="0" marL="0">
              <a:buNone/>
            </a:pPr>
            <a:r>
              <a:rPr lang="en-US" sz="1250" dirty="0">
                <a:solidFill>
                  <a:srgbClr val="51606E"/>
                </a:solidFill>
                <a:latin typeface="Arial" pitchFamily="34" charset="0"/>
                <a:ea typeface="Arial" pitchFamily="34" charset="-122"/>
                <a:cs typeface="Arial" pitchFamily="34" charset="-120"/>
              </a:rPr>
              <a:t>Enregistrement et priorisation • Contrôle du cahier des charges • Traçabilité jusqu'à clôture</a:t>
            </a:r>
            <a:endParaRPr lang="en-US" sz="1250" dirty="0"/>
          </a:p>
        </p:txBody>
      </p:sp>
      <p:sp>
        <p:nvSpPr>
          <p:cNvPr id="23" name="Shape 21"/>
          <p:cNvSpPr/>
          <p:nvPr/>
        </p:nvSpPr>
        <p:spPr>
          <a:xfrm>
            <a:off x="10271455" y="4914900"/>
            <a:ext cx="1188720" cy="457200"/>
          </a:xfrm>
          <a:prstGeom prst="roundRect">
            <a:avLst>
              <a:gd name="adj" fmla="val 18000"/>
            </a:avLst>
          </a:prstGeom>
          <a:solidFill>
            <a:srgbClr val="2E9CCA"/>
          </a:solidFill>
          <a:ln/>
        </p:spPr>
      </p:sp>
      <p:sp>
        <p:nvSpPr>
          <p:cNvPr id="24" name="Text 22"/>
          <p:cNvSpPr/>
          <p:nvPr/>
        </p:nvSpPr>
        <p:spPr>
          <a:xfrm>
            <a:off x="10271455" y="4914900"/>
            <a:ext cx="11887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75 min</a:t>
            </a:r>
            <a:endParaRPr lang="en-US" sz="1300" dirty="0"/>
          </a:p>
        </p:txBody>
      </p:sp>
      <p:sp>
        <p:nvSpPr>
          <p:cNvPr id="25" name="Text 2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6" name="Text 2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640080"/>
          </a:xfrm>
          <a:prstGeom prst="rect">
            <a:avLst/>
          </a:prstGeom>
          <a:noFill/>
          <a:ln/>
        </p:spPr>
        <p:txBody>
          <a:bodyPr wrap="square" lIns="0" tIns="0" rIns="0" bIns="0" rtlCol="0" anchor="ctr"/>
          <a:lstStyle/>
          <a:p>
            <a:pPr indent="0" marL="0">
              <a:buNone/>
            </a:pPr>
            <a:r>
              <a:rPr lang="en-US" sz="3000" b="1" dirty="0">
                <a:solidFill>
                  <a:srgbClr val="16324F"/>
                </a:solidFill>
                <a:latin typeface="Arial" pitchFamily="34" charset="0"/>
                <a:ea typeface="Arial" pitchFamily="34" charset="-122"/>
                <a:cs typeface="Arial" pitchFamily="34" charset="-120"/>
              </a:rPr>
              <a:t>Repères du module</a:t>
            </a:r>
            <a:endParaRPr lang="en-US" sz="3000" dirty="0"/>
          </a:p>
        </p:txBody>
      </p:sp>
      <p:sp>
        <p:nvSpPr>
          <p:cNvPr id="3" name="Shape 1"/>
          <p:cNvSpPr/>
          <p:nvPr/>
        </p:nvSpPr>
        <p:spPr>
          <a:xfrm>
            <a:off x="548640" y="1234440"/>
            <a:ext cx="5364328" cy="1600200"/>
          </a:xfrm>
          <a:prstGeom prst="roundRect">
            <a:avLst>
              <a:gd name="adj" fmla="val 5714"/>
            </a:avLst>
          </a:prstGeom>
          <a:solidFill>
            <a:srgbClr val="EAF5FB"/>
          </a:solidFill>
          <a:ln/>
        </p:spPr>
      </p:sp>
      <p:sp>
        <p:nvSpPr>
          <p:cNvPr id="4" name="Shape 2"/>
          <p:cNvSpPr/>
          <p:nvPr/>
        </p:nvSpPr>
        <p:spPr>
          <a:xfrm>
            <a:off x="777240" y="1463040"/>
            <a:ext cx="640080" cy="640080"/>
          </a:xfrm>
          <a:prstGeom prst="ellipse">
            <a:avLst/>
          </a:prstGeom>
          <a:solidFill>
            <a:srgbClr val="16324F"/>
          </a:solidFill>
          <a:ln/>
        </p:spPr>
      </p:sp>
      <p:sp>
        <p:nvSpPr>
          <p:cNvPr id="5" name="Text 3"/>
          <p:cNvSpPr/>
          <p:nvPr/>
        </p:nvSpPr>
        <p:spPr>
          <a:xfrm>
            <a:off x="777240" y="1463040"/>
            <a:ext cx="640080" cy="640080"/>
          </a:xfrm>
          <a:prstGeom prst="rect">
            <a:avLst/>
          </a:prstGeom>
          <a:noFill/>
          <a:ln/>
        </p:spPr>
        <p:txBody>
          <a:bodyPr wrap="square" lIns="0" tIns="0" rIns="0" bIns="0" rtlCol="0" anchor="ctr"/>
          <a:lstStyle/>
          <a:p>
            <a:pPr algn="ctr" indent="0" marL="0">
              <a:buNone/>
            </a:pPr>
            <a:r>
              <a:rPr lang="en-US" sz="2200" dirty="0">
                <a:solidFill>
                  <a:srgbClr val="FFFFFF"/>
                </a:solidFill>
                <a:latin typeface="Arial" pitchFamily="34" charset="0"/>
                <a:ea typeface="Arial" pitchFamily="34" charset="-122"/>
                <a:cs typeface="Arial" pitchFamily="34" charset="-120"/>
              </a:rPr>
              <a:t>⏱</a:t>
            </a:r>
            <a:endParaRPr lang="en-US" sz="2200" dirty="0"/>
          </a:p>
        </p:txBody>
      </p:sp>
      <p:sp>
        <p:nvSpPr>
          <p:cNvPr id="6" name="Text 4"/>
          <p:cNvSpPr/>
          <p:nvPr/>
        </p:nvSpPr>
        <p:spPr>
          <a:xfrm>
            <a:off x="1554480" y="1435608"/>
            <a:ext cx="4175608" cy="320040"/>
          </a:xfrm>
          <a:prstGeom prst="rect">
            <a:avLst/>
          </a:prstGeom>
          <a:noFill/>
          <a:ln/>
        </p:spPr>
        <p:txBody>
          <a:bodyPr wrap="square" lIns="0" tIns="0" rIns="0" bIns="0" rtlCol="0" anchor="ctr"/>
          <a:lstStyle/>
          <a:p>
            <a:pPr indent="0" marL="0">
              <a:buNone/>
            </a:pPr>
            <a:r>
              <a:rPr lang="en-US" sz="1200" b="1" spc="100" kern="0" dirty="0">
                <a:solidFill>
                  <a:srgbClr val="2E9CCA"/>
                </a:solidFill>
                <a:latin typeface="Arial" pitchFamily="34" charset="0"/>
                <a:ea typeface="Arial" pitchFamily="34" charset="-122"/>
                <a:cs typeface="Arial" pitchFamily="34" charset="-120"/>
              </a:rPr>
              <a:t>DURÉE</a:t>
            </a:r>
            <a:endParaRPr lang="en-US" sz="1200" dirty="0"/>
          </a:p>
        </p:txBody>
      </p:sp>
      <p:sp>
        <p:nvSpPr>
          <p:cNvPr id="7" name="Text 5"/>
          <p:cNvSpPr/>
          <p:nvPr/>
        </p:nvSpPr>
        <p:spPr>
          <a:xfrm>
            <a:off x="1554480" y="1737360"/>
            <a:ext cx="4175608" cy="960120"/>
          </a:xfrm>
          <a:prstGeom prst="rect">
            <a:avLst/>
          </a:prstGeom>
          <a:noFill/>
          <a:ln/>
        </p:spPr>
        <p:txBody>
          <a:bodyPr wrap="square" lIns="0" tIns="0" rIns="0" bIns="0" rtlCol="0" anchor="t"/>
          <a:lstStyle/>
          <a:p>
            <a:pPr indent="0" marL="0">
              <a:buNone/>
            </a:pPr>
            <a:r>
              <a:rPr lang="en-US" sz="1250" dirty="0">
                <a:solidFill>
                  <a:srgbClr val="1B2430"/>
                </a:solidFill>
                <a:latin typeface="Arial" pitchFamily="34" charset="0"/>
                <a:ea typeface="Arial" pitchFamily="34" charset="-122"/>
                <a:cs typeface="Arial" pitchFamily="34" charset="-120"/>
              </a:rPr>
              <a:t>3 heures 30</a:t>
            </a:r>
            <a:endParaRPr lang="en-US" sz="1250" dirty="0"/>
          </a:p>
        </p:txBody>
      </p:sp>
      <p:sp>
        <p:nvSpPr>
          <p:cNvPr id="8" name="Shape 6"/>
          <p:cNvSpPr/>
          <p:nvPr/>
        </p:nvSpPr>
        <p:spPr>
          <a:xfrm>
            <a:off x="6278728" y="1234440"/>
            <a:ext cx="5364328" cy="1600200"/>
          </a:xfrm>
          <a:prstGeom prst="roundRect">
            <a:avLst>
              <a:gd name="adj" fmla="val 5714"/>
            </a:avLst>
          </a:prstGeom>
          <a:solidFill>
            <a:srgbClr val="EAF5FB"/>
          </a:solidFill>
          <a:ln/>
        </p:spPr>
      </p:sp>
      <p:sp>
        <p:nvSpPr>
          <p:cNvPr id="9" name="Shape 7"/>
          <p:cNvSpPr/>
          <p:nvPr/>
        </p:nvSpPr>
        <p:spPr>
          <a:xfrm>
            <a:off x="6507328" y="1463040"/>
            <a:ext cx="640080" cy="640080"/>
          </a:xfrm>
          <a:prstGeom prst="ellipse">
            <a:avLst/>
          </a:prstGeom>
          <a:solidFill>
            <a:srgbClr val="16324F"/>
          </a:solidFill>
          <a:ln/>
        </p:spPr>
      </p:sp>
      <p:sp>
        <p:nvSpPr>
          <p:cNvPr id="10" name="Text 8"/>
          <p:cNvSpPr/>
          <p:nvPr/>
        </p:nvSpPr>
        <p:spPr>
          <a:xfrm>
            <a:off x="6507328" y="1463040"/>
            <a:ext cx="640080" cy="640080"/>
          </a:xfrm>
          <a:prstGeom prst="rect">
            <a:avLst/>
          </a:prstGeom>
          <a:noFill/>
          <a:ln/>
        </p:spPr>
        <p:txBody>
          <a:bodyPr wrap="square" lIns="0" tIns="0" rIns="0" bIns="0" rtlCol="0" anchor="ctr"/>
          <a:lstStyle/>
          <a:p>
            <a:pPr algn="ctr" indent="0" marL="0">
              <a:buNone/>
            </a:pPr>
            <a:r>
              <a:rPr lang="en-US" sz="2200" dirty="0">
                <a:solidFill>
                  <a:srgbClr val="FFFFFF"/>
                </a:solidFill>
                <a:latin typeface="Arial" pitchFamily="34" charset="0"/>
                <a:ea typeface="Arial" pitchFamily="34" charset="-122"/>
                <a:cs typeface="Arial" pitchFamily="34" charset="-120"/>
              </a:rPr>
              <a:t>👥</a:t>
            </a:r>
            <a:endParaRPr lang="en-US" sz="2200" dirty="0"/>
          </a:p>
        </p:txBody>
      </p:sp>
      <p:sp>
        <p:nvSpPr>
          <p:cNvPr id="11" name="Text 9"/>
          <p:cNvSpPr/>
          <p:nvPr/>
        </p:nvSpPr>
        <p:spPr>
          <a:xfrm>
            <a:off x="7284568" y="1435608"/>
            <a:ext cx="4175608" cy="320040"/>
          </a:xfrm>
          <a:prstGeom prst="rect">
            <a:avLst/>
          </a:prstGeom>
          <a:noFill/>
          <a:ln/>
        </p:spPr>
        <p:txBody>
          <a:bodyPr wrap="square" lIns="0" tIns="0" rIns="0" bIns="0" rtlCol="0" anchor="ctr"/>
          <a:lstStyle/>
          <a:p>
            <a:pPr indent="0" marL="0">
              <a:buNone/>
            </a:pPr>
            <a:r>
              <a:rPr lang="en-US" sz="1200" b="1" spc="100" kern="0" dirty="0">
                <a:solidFill>
                  <a:srgbClr val="2E9CCA"/>
                </a:solidFill>
                <a:latin typeface="Arial" pitchFamily="34" charset="0"/>
                <a:ea typeface="Arial" pitchFamily="34" charset="-122"/>
                <a:cs typeface="Arial" pitchFamily="34" charset="-120"/>
              </a:rPr>
              <a:t>PUBLIC</a:t>
            </a:r>
            <a:endParaRPr lang="en-US" sz="1200" dirty="0"/>
          </a:p>
        </p:txBody>
      </p:sp>
      <p:sp>
        <p:nvSpPr>
          <p:cNvPr id="12" name="Text 10"/>
          <p:cNvSpPr/>
          <p:nvPr/>
        </p:nvSpPr>
        <p:spPr>
          <a:xfrm>
            <a:off x="7284568" y="1737360"/>
            <a:ext cx="4175608" cy="960120"/>
          </a:xfrm>
          <a:prstGeom prst="rect">
            <a:avLst/>
          </a:prstGeom>
          <a:noFill/>
          <a:ln/>
        </p:spPr>
        <p:txBody>
          <a:bodyPr wrap="square" lIns="0" tIns="0" rIns="0" bIns="0" rtlCol="0" anchor="t"/>
          <a:lstStyle/>
          <a:p>
            <a:pPr indent="0" marL="0">
              <a:buNone/>
            </a:pPr>
            <a:r>
              <a:rPr lang="en-US" sz="1250" dirty="0">
                <a:solidFill>
                  <a:srgbClr val="1B2430"/>
                </a:solidFill>
                <a:latin typeface="Arial" pitchFamily="34" charset="0"/>
                <a:ea typeface="Arial" pitchFamily="34" charset="-122"/>
                <a:cs typeface="Arial" pitchFamily="34" charset="-120"/>
              </a:rPr>
              <a:t>Apprenants du CQP Chargé(e) d'Accueil en Entreprise (15 max.)</a:t>
            </a:r>
            <a:endParaRPr lang="en-US" sz="1250" dirty="0"/>
          </a:p>
        </p:txBody>
      </p:sp>
      <p:sp>
        <p:nvSpPr>
          <p:cNvPr id="13" name="Shape 11"/>
          <p:cNvSpPr/>
          <p:nvPr/>
        </p:nvSpPr>
        <p:spPr>
          <a:xfrm>
            <a:off x="548640" y="3108960"/>
            <a:ext cx="5364328" cy="1600200"/>
          </a:xfrm>
          <a:prstGeom prst="roundRect">
            <a:avLst>
              <a:gd name="adj" fmla="val 5714"/>
            </a:avLst>
          </a:prstGeom>
          <a:solidFill>
            <a:srgbClr val="EAF5FB"/>
          </a:solidFill>
          <a:ln/>
        </p:spPr>
      </p:sp>
      <p:sp>
        <p:nvSpPr>
          <p:cNvPr id="14" name="Shape 12"/>
          <p:cNvSpPr/>
          <p:nvPr/>
        </p:nvSpPr>
        <p:spPr>
          <a:xfrm>
            <a:off x="777240" y="3337560"/>
            <a:ext cx="640080" cy="640080"/>
          </a:xfrm>
          <a:prstGeom prst="ellipse">
            <a:avLst/>
          </a:prstGeom>
          <a:solidFill>
            <a:srgbClr val="16324F"/>
          </a:solidFill>
          <a:ln/>
        </p:spPr>
      </p:sp>
      <p:sp>
        <p:nvSpPr>
          <p:cNvPr id="15" name="Text 13"/>
          <p:cNvSpPr/>
          <p:nvPr/>
        </p:nvSpPr>
        <p:spPr>
          <a:xfrm>
            <a:off x="777240" y="3337560"/>
            <a:ext cx="640080" cy="640080"/>
          </a:xfrm>
          <a:prstGeom prst="rect">
            <a:avLst/>
          </a:prstGeom>
          <a:noFill/>
          <a:ln/>
        </p:spPr>
        <p:txBody>
          <a:bodyPr wrap="square" lIns="0" tIns="0" rIns="0" bIns="0" rtlCol="0" anchor="ctr"/>
          <a:lstStyle/>
          <a:p>
            <a:pPr algn="ctr" indent="0" marL="0">
              <a:buNone/>
            </a:pPr>
            <a:r>
              <a:rPr lang="en-US" sz="2200" dirty="0">
                <a:solidFill>
                  <a:srgbClr val="FFFFFF"/>
                </a:solidFill>
                <a:latin typeface="Arial" pitchFamily="34" charset="0"/>
                <a:ea typeface="Arial" pitchFamily="34" charset="-122"/>
                <a:cs typeface="Arial" pitchFamily="34" charset="-120"/>
              </a:rPr>
              <a:t>✅</a:t>
            </a:r>
            <a:endParaRPr lang="en-US" sz="2200" dirty="0"/>
          </a:p>
        </p:txBody>
      </p:sp>
      <p:sp>
        <p:nvSpPr>
          <p:cNvPr id="16" name="Text 14"/>
          <p:cNvSpPr/>
          <p:nvPr/>
        </p:nvSpPr>
        <p:spPr>
          <a:xfrm>
            <a:off x="1554480" y="3310128"/>
            <a:ext cx="4175608" cy="320040"/>
          </a:xfrm>
          <a:prstGeom prst="rect">
            <a:avLst/>
          </a:prstGeom>
          <a:noFill/>
          <a:ln/>
        </p:spPr>
        <p:txBody>
          <a:bodyPr wrap="square" lIns="0" tIns="0" rIns="0" bIns="0" rtlCol="0" anchor="ctr"/>
          <a:lstStyle/>
          <a:p>
            <a:pPr indent="0" marL="0">
              <a:buNone/>
            </a:pPr>
            <a:r>
              <a:rPr lang="en-US" sz="1200" b="1" spc="100" kern="0" dirty="0">
                <a:solidFill>
                  <a:srgbClr val="2E9CCA"/>
                </a:solidFill>
                <a:latin typeface="Arial" pitchFamily="34" charset="0"/>
                <a:ea typeface="Arial" pitchFamily="34" charset="-122"/>
                <a:cs typeface="Arial" pitchFamily="34" charset="-120"/>
              </a:rPr>
              <a:t>PRÉREQUIS</a:t>
            </a:r>
            <a:endParaRPr lang="en-US" sz="1200" dirty="0"/>
          </a:p>
        </p:txBody>
      </p:sp>
      <p:sp>
        <p:nvSpPr>
          <p:cNvPr id="17" name="Text 15"/>
          <p:cNvSpPr/>
          <p:nvPr/>
        </p:nvSpPr>
        <p:spPr>
          <a:xfrm>
            <a:off x="1554480" y="3611880"/>
            <a:ext cx="4175608" cy="960120"/>
          </a:xfrm>
          <a:prstGeom prst="rect">
            <a:avLst/>
          </a:prstGeom>
          <a:noFill/>
          <a:ln/>
        </p:spPr>
        <p:txBody>
          <a:bodyPr wrap="square" lIns="0" tIns="0" rIns="0" bIns="0" rtlCol="0" anchor="t"/>
          <a:lstStyle/>
          <a:p>
            <a:pPr indent="0" marL="0">
              <a:buNone/>
            </a:pPr>
            <a:r>
              <a:rPr lang="en-US" sz="1250" dirty="0">
                <a:solidFill>
                  <a:srgbClr val="1B2430"/>
                </a:solidFill>
                <a:latin typeface="Arial" pitchFamily="34" charset="0"/>
                <a:ea typeface="Arial" pitchFamily="34" charset="-122"/>
                <a:cs typeface="Arial" pitchFamily="34" charset="-120"/>
              </a:rPr>
              <a:t>Français lu/écrit/parlé • Anglais A1 • Casier judiciaire vierge • Permis B recommandé</a:t>
            </a:r>
            <a:endParaRPr lang="en-US" sz="1250" dirty="0"/>
          </a:p>
        </p:txBody>
      </p:sp>
      <p:sp>
        <p:nvSpPr>
          <p:cNvPr id="18" name="Shape 16"/>
          <p:cNvSpPr/>
          <p:nvPr/>
        </p:nvSpPr>
        <p:spPr>
          <a:xfrm>
            <a:off x="6278728" y="3108960"/>
            <a:ext cx="5364328" cy="1600200"/>
          </a:xfrm>
          <a:prstGeom prst="roundRect">
            <a:avLst>
              <a:gd name="adj" fmla="val 5714"/>
            </a:avLst>
          </a:prstGeom>
          <a:solidFill>
            <a:srgbClr val="EAF5FB"/>
          </a:solidFill>
          <a:ln/>
        </p:spPr>
      </p:sp>
      <p:sp>
        <p:nvSpPr>
          <p:cNvPr id="19" name="Shape 17"/>
          <p:cNvSpPr/>
          <p:nvPr/>
        </p:nvSpPr>
        <p:spPr>
          <a:xfrm>
            <a:off x="6507328" y="3337560"/>
            <a:ext cx="640080" cy="640080"/>
          </a:xfrm>
          <a:prstGeom prst="ellipse">
            <a:avLst/>
          </a:prstGeom>
          <a:solidFill>
            <a:srgbClr val="16324F"/>
          </a:solidFill>
          <a:ln/>
        </p:spPr>
      </p:sp>
      <p:sp>
        <p:nvSpPr>
          <p:cNvPr id="20" name="Text 18"/>
          <p:cNvSpPr/>
          <p:nvPr/>
        </p:nvSpPr>
        <p:spPr>
          <a:xfrm>
            <a:off x="6507328" y="3337560"/>
            <a:ext cx="640080" cy="640080"/>
          </a:xfrm>
          <a:prstGeom prst="rect">
            <a:avLst/>
          </a:prstGeom>
          <a:noFill/>
          <a:ln/>
        </p:spPr>
        <p:txBody>
          <a:bodyPr wrap="square" lIns="0" tIns="0" rIns="0" bIns="0" rtlCol="0" anchor="ctr"/>
          <a:lstStyle/>
          <a:p>
            <a:pPr algn="ctr" indent="0" marL="0">
              <a:buNone/>
            </a:pPr>
            <a:r>
              <a:rPr lang="en-US" sz="2200" dirty="0">
                <a:solidFill>
                  <a:srgbClr val="FFFFFF"/>
                </a:solidFill>
                <a:latin typeface="Arial" pitchFamily="34" charset="0"/>
                <a:ea typeface="Arial" pitchFamily="34" charset="-122"/>
                <a:cs typeface="Arial" pitchFamily="34" charset="-120"/>
              </a:rPr>
              <a:t>📝</a:t>
            </a:r>
            <a:endParaRPr lang="en-US" sz="2200" dirty="0"/>
          </a:p>
        </p:txBody>
      </p:sp>
      <p:sp>
        <p:nvSpPr>
          <p:cNvPr id="21" name="Text 19"/>
          <p:cNvSpPr/>
          <p:nvPr/>
        </p:nvSpPr>
        <p:spPr>
          <a:xfrm>
            <a:off x="7284568" y="3310128"/>
            <a:ext cx="4175608" cy="320040"/>
          </a:xfrm>
          <a:prstGeom prst="rect">
            <a:avLst/>
          </a:prstGeom>
          <a:noFill/>
          <a:ln/>
        </p:spPr>
        <p:txBody>
          <a:bodyPr wrap="square" lIns="0" tIns="0" rIns="0" bIns="0" rtlCol="0" anchor="ctr"/>
          <a:lstStyle/>
          <a:p>
            <a:pPr indent="0" marL="0">
              <a:buNone/>
            </a:pPr>
            <a:r>
              <a:rPr lang="en-US" sz="1200" b="1" spc="100" kern="0" dirty="0">
                <a:solidFill>
                  <a:srgbClr val="2E9CCA"/>
                </a:solidFill>
                <a:latin typeface="Arial" pitchFamily="34" charset="0"/>
                <a:ea typeface="Arial" pitchFamily="34" charset="-122"/>
                <a:cs typeface="Arial" pitchFamily="34" charset="-120"/>
              </a:rPr>
              <a:t>ÉVALUATION</a:t>
            </a:r>
            <a:endParaRPr lang="en-US" sz="1200" dirty="0"/>
          </a:p>
        </p:txBody>
      </p:sp>
      <p:sp>
        <p:nvSpPr>
          <p:cNvPr id="22" name="Text 20"/>
          <p:cNvSpPr/>
          <p:nvPr/>
        </p:nvSpPr>
        <p:spPr>
          <a:xfrm>
            <a:off x="7284568" y="3611880"/>
            <a:ext cx="4175608" cy="960120"/>
          </a:xfrm>
          <a:prstGeom prst="rect">
            <a:avLst/>
          </a:prstGeom>
          <a:noFill/>
          <a:ln/>
        </p:spPr>
        <p:txBody>
          <a:bodyPr wrap="square" lIns="0" tIns="0" rIns="0" bIns="0" rtlCol="0" anchor="t"/>
          <a:lstStyle/>
          <a:p>
            <a:pPr indent="0" marL="0">
              <a:buNone/>
            </a:pPr>
            <a:r>
              <a:rPr lang="en-US" sz="1250" dirty="0">
                <a:solidFill>
                  <a:srgbClr val="1B2430"/>
                </a:solidFill>
                <a:latin typeface="Arial" pitchFamily="34" charset="0"/>
                <a:ea typeface="Arial" pitchFamily="34" charset="-122"/>
                <a:cs typeface="Arial" pitchFamily="34" charset="-120"/>
              </a:rPr>
              <a:t>Contrôle continu – 1 QCM sommatif en fin de module</a:t>
            </a:r>
            <a:endParaRPr lang="en-US" sz="1250" dirty="0"/>
          </a:p>
        </p:txBody>
      </p:sp>
      <p:sp>
        <p:nvSpPr>
          <p:cNvPr id="23" name="Text 21"/>
          <p:cNvSpPr/>
          <p:nvPr/>
        </p:nvSpPr>
        <p:spPr>
          <a:xfrm>
            <a:off x="548640" y="5029200"/>
            <a:ext cx="11094415" cy="365760"/>
          </a:xfrm>
          <a:prstGeom prst="rect">
            <a:avLst/>
          </a:prstGeom>
          <a:noFill/>
          <a:ln/>
        </p:spPr>
        <p:txBody>
          <a:bodyPr wrap="square" lIns="0" tIns="0" rIns="0" bIns="0" rtlCol="0" anchor="ctr"/>
          <a:lstStyle/>
          <a:p>
            <a:pPr indent="0" marL="0">
              <a:buNone/>
            </a:pPr>
            <a:r>
              <a:rPr lang="en-US" sz="1200" i="1" dirty="0">
                <a:solidFill>
                  <a:srgbClr val="51606E"/>
                </a:solidFill>
                <a:latin typeface="Arial" pitchFamily="34" charset="0"/>
                <a:ea typeface="Arial" pitchFamily="34" charset="-122"/>
                <a:cs typeface="Arial" pitchFamily="34" charset="-120"/>
              </a:rPr>
              <a:t>Moyens andragogiques : supports théoriques PowerPoint • brainstorming • exercices et mises en situation</a:t>
            </a:r>
            <a:endParaRPr lang="en-US" sz="1200" dirty="0"/>
          </a:p>
        </p:txBody>
      </p:sp>
      <p:sp>
        <p:nvSpPr>
          <p:cNvPr id="24"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5" name="Text 23"/>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8899855" y="-731520"/>
            <a:ext cx="2926080" cy="2926080"/>
          </a:xfrm>
          <a:prstGeom prst="roundRect">
            <a:avLst>
              <a:gd name="adj" fmla="val 50000"/>
            </a:avLst>
          </a:prstGeom>
          <a:solidFill>
            <a:srgbClr val="1F4368"/>
          </a:solidFill>
          <a:ln/>
        </p:spPr>
      </p:sp>
      <p:sp>
        <p:nvSpPr>
          <p:cNvPr id="3" name="Shape 1"/>
          <p:cNvSpPr/>
          <p:nvPr/>
        </p:nvSpPr>
        <p:spPr>
          <a:xfrm>
            <a:off x="10180015" y="4937760"/>
            <a:ext cx="2377440" cy="2377440"/>
          </a:xfrm>
          <a:prstGeom prst="roundRect">
            <a:avLst>
              <a:gd name="adj" fmla="val 50000"/>
            </a:avLst>
          </a:prstGeom>
          <a:solidFill>
            <a:srgbClr val="2E9CCA">
              <a:alpha val="30000"/>
            </a:srgbClr>
          </a:solidFill>
          <a:ln/>
        </p:spPr>
      </p:sp>
      <p:sp>
        <p:nvSpPr>
          <p:cNvPr id="4" name="Shape 2"/>
          <p:cNvSpPr/>
          <p:nvPr/>
        </p:nvSpPr>
        <p:spPr>
          <a:xfrm>
            <a:off x="548640" y="457200"/>
            <a:ext cx="2560320" cy="384048"/>
          </a:xfrm>
          <a:prstGeom prst="roundRect">
            <a:avLst>
              <a:gd name="adj" fmla="val 19048"/>
            </a:avLst>
          </a:prstGeom>
          <a:solidFill>
            <a:srgbClr val="2E9CCA"/>
          </a:solidFill>
          <a:ln/>
        </p:spPr>
      </p:sp>
      <p:sp>
        <p:nvSpPr>
          <p:cNvPr id="5" name="Text 3"/>
          <p:cNvSpPr/>
          <p:nvPr/>
        </p:nvSpPr>
        <p:spPr>
          <a:xfrm>
            <a:off x="548640" y="457200"/>
            <a:ext cx="256032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OBJECTIF GÉNÉRAL</a:t>
            </a:r>
            <a:endParaRPr lang="en-US" sz="1200" dirty="0"/>
          </a:p>
        </p:txBody>
      </p:sp>
      <p:sp>
        <p:nvSpPr>
          <p:cNvPr id="6" name="Text 4"/>
          <p:cNvSpPr/>
          <p:nvPr/>
        </p:nvSpPr>
        <p:spPr>
          <a:xfrm>
            <a:off x="548640" y="1188720"/>
            <a:ext cx="8686800" cy="457200"/>
          </a:xfrm>
          <a:prstGeom prst="rect">
            <a:avLst/>
          </a:prstGeom>
          <a:noFill/>
          <a:ln/>
        </p:spPr>
        <p:txBody>
          <a:bodyPr wrap="square" lIns="0" tIns="0" rIns="0" bIns="0" rtlCol="0" anchor="ctr"/>
          <a:lstStyle/>
          <a:p>
            <a:pPr indent="0" marL="0">
              <a:buNone/>
            </a:pPr>
            <a:r>
              <a:rPr lang="en-US" sz="1400" i="1" dirty="0">
                <a:solidFill>
                  <a:srgbClr val="9FB8CC"/>
                </a:solidFill>
                <a:latin typeface="Arial" pitchFamily="34" charset="0"/>
                <a:ea typeface="Arial" pitchFamily="34" charset="-122"/>
                <a:cs typeface="Arial" pitchFamily="34" charset="-120"/>
              </a:rPr>
              <a:t>À l'issue de la formation, les apprenants seront capables de…</a:t>
            </a:r>
            <a:endParaRPr lang="en-US" sz="1400" dirty="0"/>
          </a:p>
        </p:txBody>
      </p:sp>
      <p:sp>
        <p:nvSpPr>
          <p:cNvPr id="7" name="Text 5"/>
          <p:cNvSpPr/>
          <p:nvPr/>
        </p:nvSpPr>
        <p:spPr>
          <a:xfrm>
            <a:off x="548640" y="1737360"/>
            <a:ext cx="9326880" cy="2926080"/>
          </a:xfrm>
          <a:prstGeom prst="rect">
            <a:avLst/>
          </a:prstGeom>
          <a:noFill/>
          <a:ln/>
        </p:spPr>
        <p:txBody>
          <a:bodyPr wrap="square" lIns="0" tIns="0" rIns="0" bIns="0" rtlCol="0" anchor="ctr"/>
          <a:lstStyle/>
          <a:p>
            <a:pPr indent="0" marL="0">
              <a:lnSpc>
                <a:spcPct val="125000"/>
              </a:lnSpc>
              <a:buNone/>
            </a:pPr>
            <a:r>
              <a:rPr lang="en-US" sz="2600" b="1" dirty="0">
                <a:solidFill>
                  <a:srgbClr val="FFFFFF"/>
                </a:solidFill>
                <a:latin typeface="Arial" pitchFamily="34" charset="0"/>
                <a:ea typeface="Arial" pitchFamily="34" charset="-122"/>
                <a:cs typeface="Arial" pitchFamily="34" charset="-120"/>
              </a:rPr>
              <a:t>Coordonner les ressources, les fournitures et les interventions des prestataires en assurant leur suivi et leur traçabilité, afin de garantir un service continu, fonctionnel et conforme aux exigences de l'entreprise ou de la structure cliente.</a:t>
            </a:r>
            <a:endParaRPr lang="en-US" sz="2600" dirty="0"/>
          </a:p>
        </p:txBody>
      </p:sp>
      <p:sp>
        <p:nvSpPr>
          <p:cNvPr id="8"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8CC"/>
                </a:solidFill>
                <a:latin typeface="Arial" pitchFamily="34" charset="0"/>
                <a:ea typeface="Arial" pitchFamily="34" charset="-122"/>
                <a:cs typeface="Arial" pitchFamily="34" charset="-120"/>
              </a:rPr>
              <a:t>CQP CAE – M20 – Coordination et suivi opérationnel</a:t>
            </a:r>
            <a:endParaRPr lang="en-US" sz="900" dirty="0"/>
          </a:p>
        </p:txBody>
      </p:sp>
      <p:sp>
        <p:nvSpPr>
          <p:cNvPr id="9" name="Text 7"/>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9FB8C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640080"/>
          </a:xfrm>
          <a:prstGeom prst="rect">
            <a:avLst/>
          </a:prstGeom>
          <a:noFill/>
          <a:ln/>
        </p:spPr>
        <p:txBody>
          <a:bodyPr wrap="square" lIns="0" tIns="0" rIns="0" bIns="0" rtlCol="0" anchor="ctr"/>
          <a:lstStyle/>
          <a:p>
            <a:pPr indent="0" marL="0">
              <a:buNone/>
            </a:pPr>
            <a:r>
              <a:rPr lang="en-US" sz="3000" b="1" dirty="0">
                <a:solidFill>
                  <a:srgbClr val="16324F"/>
                </a:solidFill>
                <a:latin typeface="Arial" pitchFamily="34" charset="0"/>
                <a:ea typeface="Arial" pitchFamily="34" charset="-122"/>
                <a:cs typeface="Arial" pitchFamily="34" charset="-120"/>
              </a:rPr>
              <a:t>Objectifs intermédiaires</a:t>
            </a:r>
            <a:endParaRPr lang="en-US" sz="3000" dirty="0"/>
          </a:p>
        </p:txBody>
      </p:sp>
      <p:sp>
        <p:nvSpPr>
          <p:cNvPr id="3" name="Text 1"/>
          <p:cNvSpPr/>
          <p:nvPr/>
        </p:nvSpPr>
        <p:spPr>
          <a:xfrm>
            <a:off x="10545775" y="502920"/>
            <a:ext cx="1097280" cy="457200"/>
          </a:xfrm>
          <a:prstGeom prst="rect">
            <a:avLst/>
          </a:prstGeom>
          <a:noFill/>
          <a:ln/>
        </p:spPr>
        <p:txBody>
          <a:bodyPr wrap="square" lIns="0" tIns="0" rIns="0" bIns="0" rtlCol="0" anchor="ctr"/>
          <a:lstStyle/>
          <a:p>
            <a:pPr algn="r" indent="0" marL="0">
              <a:buNone/>
            </a:pPr>
            <a:r>
              <a:rPr lang="en-US" sz="1400" dirty="0">
                <a:solidFill>
                  <a:srgbClr val="51606E"/>
                </a:solidFill>
                <a:latin typeface="Arial" pitchFamily="34" charset="0"/>
                <a:ea typeface="Arial" pitchFamily="34" charset="-122"/>
                <a:cs typeface="Arial" pitchFamily="34" charset="-120"/>
              </a:rPr>
              <a:t>1 / 2</a:t>
            </a:r>
            <a:endParaRPr lang="en-US" sz="1400" dirty="0"/>
          </a:p>
        </p:txBody>
      </p:sp>
      <p:sp>
        <p:nvSpPr>
          <p:cNvPr id="4" name="Shape 2"/>
          <p:cNvSpPr/>
          <p:nvPr/>
        </p:nvSpPr>
        <p:spPr>
          <a:xfrm>
            <a:off x="548640" y="1371600"/>
            <a:ext cx="502920" cy="502920"/>
          </a:xfrm>
          <a:prstGeom prst="roundRect">
            <a:avLst>
              <a:gd name="adj" fmla="val 18182"/>
            </a:avLst>
          </a:prstGeom>
          <a:solidFill>
            <a:srgbClr val="2E9CCA"/>
          </a:solidFill>
          <a:ln/>
        </p:spPr>
      </p:sp>
      <p:sp>
        <p:nvSpPr>
          <p:cNvPr id="5" name="Text 3"/>
          <p:cNvSpPr/>
          <p:nvPr/>
        </p:nvSpPr>
        <p:spPr>
          <a:xfrm>
            <a:off x="548640" y="13716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6" name="Text 4"/>
          <p:cNvSpPr/>
          <p:nvPr/>
        </p:nvSpPr>
        <p:spPr>
          <a:xfrm>
            <a:off x="1280160" y="1325880"/>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Analyser les besoins en ressources afin d'en planifier l'utilisation selon les priorités définies.</a:t>
            </a:r>
            <a:endParaRPr lang="en-US" sz="1500" dirty="0"/>
          </a:p>
        </p:txBody>
      </p:sp>
      <p:sp>
        <p:nvSpPr>
          <p:cNvPr id="7" name="Shape 5"/>
          <p:cNvSpPr/>
          <p:nvPr/>
        </p:nvSpPr>
        <p:spPr>
          <a:xfrm>
            <a:off x="548640" y="2432304"/>
            <a:ext cx="11094415" cy="0"/>
          </a:xfrm>
          <a:prstGeom prst="line">
            <a:avLst/>
          </a:prstGeom>
          <a:noFill/>
          <a:ln w="12700">
            <a:solidFill>
              <a:srgbClr val="D7E3EA"/>
            </a:solidFill>
            <a:prstDash val="solid"/>
          </a:ln>
        </p:spPr>
      </p:sp>
      <p:sp>
        <p:nvSpPr>
          <p:cNvPr id="8" name="Shape 6"/>
          <p:cNvSpPr/>
          <p:nvPr/>
        </p:nvSpPr>
        <p:spPr>
          <a:xfrm>
            <a:off x="548640" y="2542032"/>
            <a:ext cx="502920" cy="502920"/>
          </a:xfrm>
          <a:prstGeom prst="roundRect">
            <a:avLst>
              <a:gd name="adj" fmla="val 18182"/>
            </a:avLst>
          </a:prstGeom>
          <a:solidFill>
            <a:srgbClr val="2E9CCA"/>
          </a:solidFill>
          <a:ln/>
        </p:spPr>
      </p:sp>
      <p:sp>
        <p:nvSpPr>
          <p:cNvPr id="9" name="Text 7"/>
          <p:cNvSpPr/>
          <p:nvPr/>
        </p:nvSpPr>
        <p:spPr>
          <a:xfrm>
            <a:off x="548640" y="254203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0" name="Text 8"/>
          <p:cNvSpPr/>
          <p:nvPr/>
        </p:nvSpPr>
        <p:spPr>
          <a:xfrm>
            <a:off x="1280160" y="2496312"/>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Appliquer les consignes d'aménagement des espaces en tenant compte des exigences d'accessibilité pour les personnes à mobilité réduite.</a:t>
            </a:r>
            <a:endParaRPr lang="en-US" sz="1500" dirty="0"/>
          </a:p>
        </p:txBody>
      </p:sp>
      <p:sp>
        <p:nvSpPr>
          <p:cNvPr id="11" name="Shape 9"/>
          <p:cNvSpPr/>
          <p:nvPr/>
        </p:nvSpPr>
        <p:spPr>
          <a:xfrm>
            <a:off x="548640" y="3602736"/>
            <a:ext cx="11094415" cy="0"/>
          </a:xfrm>
          <a:prstGeom prst="line">
            <a:avLst/>
          </a:prstGeom>
          <a:noFill/>
          <a:ln w="12700">
            <a:solidFill>
              <a:srgbClr val="D7E3EA"/>
            </a:solidFill>
            <a:prstDash val="solid"/>
          </a:ln>
        </p:spPr>
      </p:sp>
      <p:sp>
        <p:nvSpPr>
          <p:cNvPr id="12" name="Shape 10"/>
          <p:cNvSpPr/>
          <p:nvPr/>
        </p:nvSpPr>
        <p:spPr>
          <a:xfrm>
            <a:off x="548640" y="3712464"/>
            <a:ext cx="502920" cy="502920"/>
          </a:xfrm>
          <a:prstGeom prst="roundRect">
            <a:avLst>
              <a:gd name="adj" fmla="val 18182"/>
            </a:avLst>
          </a:prstGeom>
          <a:solidFill>
            <a:srgbClr val="2E9CCA"/>
          </a:solidFill>
          <a:ln/>
        </p:spPr>
      </p:sp>
      <p:sp>
        <p:nvSpPr>
          <p:cNvPr id="13" name="Text 11"/>
          <p:cNvSpPr/>
          <p:nvPr/>
        </p:nvSpPr>
        <p:spPr>
          <a:xfrm>
            <a:off x="548640" y="3712464"/>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4" name="Text 12"/>
          <p:cNvSpPr/>
          <p:nvPr/>
        </p:nvSpPr>
        <p:spPr>
          <a:xfrm>
            <a:off x="1280160" y="3666744"/>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Utiliser les outils de suivi pour assurer la traçabilité de l'utilisation des ressources et des équipements.</a:t>
            </a:r>
            <a:endParaRPr lang="en-US" sz="1500" dirty="0"/>
          </a:p>
        </p:txBody>
      </p:sp>
      <p:sp>
        <p:nvSpPr>
          <p:cNvPr id="15" name="Shape 13"/>
          <p:cNvSpPr/>
          <p:nvPr/>
        </p:nvSpPr>
        <p:spPr>
          <a:xfrm>
            <a:off x="548640" y="4773168"/>
            <a:ext cx="11094415" cy="0"/>
          </a:xfrm>
          <a:prstGeom prst="line">
            <a:avLst/>
          </a:prstGeom>
          <a:noFill/>
          <a:ln w="12700">
            <a:solidFill>
              <a:srgbClr val="D7E3EA"/>
            </a:solidFill>
            <a:prstDash val="solid"/>
          </a:ln>
        </p:spPr>
      </p:sp>
      <p:sp>
        <p:nvSpPr>
          <p:cNvPr id="16" name="Shape 14"/>
          <p:cNvSpPr/>
          <p:nvPr/>
        </p:nvSpPr>
        <p:spPr>
          <a:xfrm>
            <a:off x="548640" y="4882896"/>
            <a:ext cx="502920" cy="502920"/>
          </a:xfrm>
          <a:prstGeom prst="roundRect">
            <a:avLst>
              <a:gd name="adj" fmla="val 18182"/>
            </a:avLst>
          </a:prstGeom>
          <a:solidFill>
            <a:srgbClr val="2E9CCA"/>
          </a:solidFill>
          <a:ln/>
        </p:spPr>
      </p:sp>
      <p:sp>
        <p:nvSpPr>
          <p:cNvPr id="17" name="Text 15"/>
          <p:cNvSpPr/>
          <p:nvPr/>
        </p:nvSpPr>
        <p:spPr>
          <a:xfrm>
            <a:off x="548640" y="4882896"/>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8" name="Text 16"/>
          <p:cNvSpPr/>
          <p:nvPr/>
        </p:nvSpPr>
        <p:spPr>
          <a:xfrm>
            <a:off x="1280160" y="4837176"/>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Appliquer le processus d'approvisionnement des fournitures en fonction des consommations et des besoins identifiés.</a:t>
            </a:r>
            <a:endParaRPr lang="en-US" sz="1500" dirty="0"/>
          </a:p>
        </p:txBody>
      </p:sp>
      <p:sp>
        <p:nvSpPr>
          <p:cNvPr id="19"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0" name="Text 1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640080"/>
          </a:xfrm>
          <a:prstGeom prst="rect">
            <a:avLst/>
          </a:prstGeom>
          <a:noFill/>
          <a:ln/>
        </p:spPr>
        <p:txBody>
          <a:bodyPr wrap="square" lIns="0" tIns="0" rIns="0" bIns="0" rtlCol="0" anchor="ctr"/>
          <a:lstStyle/>
          <a:p>
            <a:pPr indent="0" marL="0">
              <a:buNone/>
            </a:pPr>
            <a:r>
              <a:rPr lang="en-US" sz="3000" b="1" dirty="0">
                <a:solidFill>
                  <a:srgbClr val="16324F"/>
                </a:solidFill>
                <a:latin typeface="Arial" pitchFamily="34" charset="0"/>
                <a:ea typeface="Arial" pitchFamily="34" charset="-122"/>
                <a:cs typeface="Arial" pitchFamily="34" charset="-120"/>
              </a:rPr>
              <a:t>Objectifs intermédiaires</a:t>
            </a:r>
            <a:endParaRPr lang="en-US" sz="3000" dirty="0"/>
          </a:p>
        </p:txBody>
      </p:sp>
      <p:sp>
        <p:nvSpPr>
          <p:cNvPr id="3" name="Text 1"/>
          <p:cNvSpPr/>
          <p:nvPr/>
        </p:nvSpPr>
        <p:spPr>
          <a:xfrm>
            <a:off x="10545775" y="502920"/>
            <a:ext cx="1097280" cy="457200"/>
          </a:xfrm>
          <a:prstGeom prst="rect">
            <a:avLst/>
          </a:prstGeom>
          <a:noFill/>
          <a:ln/>
        </p:spPr>
        <p:txBody>
          <a:bodyPr wrap="square" lIns="0" tIns="0" rIns="0" bIns="0" rtlCol="0" anchor="ctr"/>
          <a:lstStyle/>
          <a:p>
            <a:pPr algn="r" indent="0" marL="0">
              <a:buNone/>
            </a:pPr>
            <a:r>
              <a:rPr lang="en-US" sz="1400" dirty="0">
                <a:solidFill>
                  <a:srgbClr val="51606E"/>
                </a:solidFill>
                <a:latin typeface="Arial" pitchFamily="34" charset="0"/>
                <a:ea typeface="Arial" pitchFamily="34" charset="-122"/>
                <a:cs typeface="Arial" pitchFamily="34" charset="-120"/>
              </a:rPr>
              <a:t>2 / 2</a:t>
            </a:r>
            <a:endParaRPr lang="en-US" sz="1400" dirty="0"/>
          </a:p>
        </p:txBody>
      </p:sp>
      <p:sp>
        <p:nvSpPr>
          <p:cNvPr id="4" name="Shape 2"/>
          <p:cNvSpPr/>
          <p:nvPr/>
        </p:nvSpPr>
        <p:spPr>
          <a:xfrm>
            <a:off x="548640" y="1371600"/>
            <a:ext cx="502920" cy="502920"/>
          </a:xfrm>
          <a:prstGeom prst="roundRect">
            <a:avLst>
              <a:gd name="adj" fmla="val 18182"/>
            </a:avLst>
          </a:prstGeom>
          <a:solidFill>
            <a:srgbClr val="2E9CCA"/>
          </a:solidFill>
          <a:ln/>
        </p:spPr>
      </p:sp>
      <p:sp>
        <p:nvSpPr>
          <p:cNvPr id="5" name="Text 3"/>
          <p:cNvSpPr/>
          <p:nvPr/>
        </p:nvSpPr>
        <p:spPr>
          <a:xfrm>
            <a:off x="548640" y="13716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6" name="Text 4"/>
          <p:cNvSpPr/>
          <p:nvPr/>
        </p:nvSpPr>
        <p:spPr>
          <a:xfrm>
            <a:off x="1280160" y="1325880"/>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Mettre en œuvre le suivi des stocks et des consommations de fournitures en intégrant les exigences de gestion raisonnée liées à la Transition Écologique et Énergétique.</a:t>
            </a:r>
            <a:endParaRPr lang="en-US" sz="1500" dirty="0"/>
          </a:p>
        </p:txBody>
      </p:sp>
      <p:sp>
        <p:nvSpPr>
          <p:cNvPr id="7" name="Shape 5"/>
          <p:cNvSpPr/>
          <p:nvPr/>
        </p:nvSpPr>
        <p:spPr>
          <a:xfrm>
            <a:off x="548640" y="2432304"/>
            <a:ext cx="11094415" cy="0"/>
          </a:xfrm>
          <a:prstGeom prst="line">
            <a:avLst/>
          </a:prstGeom>
          <a:noFill/>
          <a:ln w="12700">
            <a:solidFill>
              <a:srgbClr val="D7E3EA"/>
            </a:solidFill>
            <a:prstDash val="solid"/>
          </a:ln>
        </p:spPr>
      </p:sp>
      <p:sp>
        <p:nvSpPr>
          <p:cNvPr id="8" name="Shape 6"/>
          <p:cNvSpPr/>
          <p:nvPr/>
        </p:nvSpPr>
        <p:spPr>
          <a:xfrm>
            <a:off x="548640" y="2542032"/>
            <a:ext cx="502920" cy="502920"/>
          </a:xfrm>
          <a:prstGeom prst="roundRect">
            <a:avLst>
              <a:gd name="adj" fmla="val 18182"/>
            </a:avLst>
          </a:prstGeom>
          <a:solidFill>
            <a:srgbClr val="2E9CCA"/>
          </a:solidFill>
          <a:ln/>
        </p:spPr>
      </p:sp>
      <p:sp>
        <p:nvSpPr>
          <p:cNvPr id="9" name="Text 7"/>
          <p:cNvSpPr/>
          <p:nvPr/>
        </p:nvSpPr>
        <p:spPr>
          <a:xfrm>
            <a:off x="548640" y="254203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10" name="Text 8"/>
          <p:cNvSpPr/>
          <p:nvPr/>
        </p:nvSpPr>
        <p:spPr>
          <a:xfrm>
            <a:off x="1280160" y="2496312"/>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Appliquer les modalités d'enregistrement et de planification des demandes d'intervention selon les priorités définies.</a:t>
            </a:r>
            <a:endParaRPr lang="en-US" sz="1500" dirty="0"/>
          </a:p>
        </p:txBody>
      </p:sp>
      <p:sp>
        <p:nvSpPr>
          <p:cNvPr id="11" name="Shape 9"/>
          <p:cNvSpPr/>
          <p:nvPr/>
        </p:nvSpPr>
        <p:spPr>
          <a:xfrm>
            <a:off x="548640" y="3602736"/>
            <a:ext cx="11094415" cy="0"/>
          </a:xfrm>
          <a:prstGeom prst="line">
            <a:avLst/>
          </a:prstGeom>
          <a:noFill/>
          <a:ln w="12700">
            <a:solidFill>
              <a:srgbClr val="D7E3EA"/>
            </a:solidFill>
            <a:prstDash val="solid"/>
          </a:ln>
        </p:spPr>
      </p:sp>
      <p:sp>
        <p:nvSpPr>
          <p:cNvPr id="12" name="Shape 10"/>
          <p:cNvSpPr/>
          <p:nvPr/>
        </p:nvSpPr>
        <p:spPr>
          <a:xfrm>
            <a:off x="548640" y="3712464"/>
            <a:ext cx="502920" cy="502920"/>
          </a:xfrm>
          <a:prstGeom prst="roundRect">
            <a:avLst>
              <a:gd name="adj" fmla="val 18182"/>
            </a:avLst>
          </a:prstGeom>
          <a:solidFill>
            <a:srgbClr val="2E9CCA"/>
          </a:solidFill>
          <a:ln/>
        </p:spPr>
      </p:sp>
      <p:sp>
        <p:nvSpPr>
          <p:cNvPr id="13" name="Text 11"/>
          <p:cNvSpPr/>
          <p:nvPr/>
        </p:nvSpPr>
        <p:spPr>
          <a:xfrm>
            <a:off x="548640" y="3712464"/>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14" name="Text 12"/>
          <p:cNvSpPr/>
          <p:nvPr/>
        </p:nvSpPr>
        <p:spPr>
          <a:xfrm>
            <a:off x="1280160" y="3666744"/>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Comparer les interventions réalisées aux exigences du cahier des charges afin d'identifier les écarts éventuels.</a:t>
            </a:r>
            <a:endParaRPr lang="en-US" sz="1500" dirty="0"/>
          </a:p>
        </p:txBody>
      </p:sp>
      <p:sp>
        <p:nvSpPr>
          <p:cNvPr id="15" name="Shape 13"/>
          <p:cNvSpPr/>
          <p:nvPr/>
        </p:nvSpPr>
        <p:spPr>
          <a:xfrm>
            <a:off x="548640" y="4773168"/>
            <a:ext cx="11094415" cy="0"/>
          </a:xfrm>
          <a:prstGeom prst="line">
            <a:avLst/>
          </a:prstGeom>
          <a:noFill/>
          <a:ln w="12700">
            <a:solidFill>
              <a:srgbClr val="D7E3EA"/>
            </a:solidFill>
            <a:prstDash val="solid"/>
          </a:ln>
        </p:spPr>
      </p:sp>
      <p:sp>
        <p:nvSpPr>
          <p:cNvPr id="16" name="Shape 14"/>
          <p:cNvSpPr/>
          <p:nvPr/>
        </p:nvSpPr>
        <p:spPr>
          <a:xfrm>
            <a:off x="548640" y="4882896"/>
            <a:ext cx="502920" cy="502920"/>
          </a:xfrm>
          <a:prstGeom prst="roundRect">
            <a:avLst>
              <a:gd name="adj" fmla="val 18182"/>
            </a:avLst>
          </a:prstGeom>
          <a:solidFill>
            <a:srgbClr val="2E9CCA"/>
          </a:solidFill>
          <a:ln/>
        </p:spPr>
      </p:sp>
      <p:sp>
        <p:nvSpPr>
          <p:cNvPr id="17" name="Text 15"/>
          <p:cNvSpPr/>
          <p:nvPr/>
        </p:nvSpPr>
        <p:spPr>
          <a:xfrm>
            <a:off x="548640" y="4882896"/>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8</a:t>
            </a:r>
            <a:endParaRPr lang="en-US" sz="1800" dirty="0"/>
          </a:p>
        </p:txBody>
      </p:sp>
      <p:sp>
        <p:nvSpPr>
          <p:cNvPr id="18" name="Text 16"/>
          <p:cNvSpPr/>
          <p:nvPr/>
        </p:nvSpPr>
        <p:spPr>
          <a:xfrm>
            <a:off x="1280160" y="4837176"/>
            <a:ext cx="10362895" cy="1078992"/>
          </a:xfrm>
          <a:prstGeom prst="rect">
            <a:avLst/>
          </a:prstGeom>
          <a:noFill/>
          <a:ln/>
        </p:spPr>
        <p:txBody>
          <a:bodyPr wrap="square" lIns="0" tIns="0" rIns="0" bIns="0" rtlCol="0" anchor="ctr"/>
          <a:lstStyle/>
          <a:p>
            <a:pPr indent="0" marL="0">
              <a:lnSpc>
                <a:spcPct val="110000"/>
              </a:lnSpc>
              <a:buNone/>
            </a:pPr>
            <a:r>
              <a:rPr lang="en-US" sz="1500" dirty="0">
                <a:solidFill>
                  <a:srgbClr val="1B2430"/>
                </a:solidFill>
                <a:latin typeface="Arial" pitchFamily="34" charset="0"/>
                <a:ea typeface="Arial" pitchFamily="34" charset="-122"/>
                <a:cs typeface="Arial" pitchFamily="34" charset="-120"/>
              </a:rPr>
              <a:t>Utiliser les outils de suivi pour assurer la traçabilité des interventions jusqu'à leur clôture.</a:t>
            </a:r>
            <a:endParaRPr lang="en-US" sz="1500" dirty="0"/>
          </a:p>
        </p:txBody>
      </p:sp>
      <p:sp>
        <p:nvSpPr>
          <p:cNvPr id="19"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0" name="Text 1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p:spPr>
      </p:sp>
      <p:sp>
        <p:nvSpPr>
          <p:cNvPr id="3" name="Shape 1"/>
          <p:cNvSpPr/>
          <p:nvPr/>
        </p:nvSpPr>
        <p:spPr>
          <a:xfrm>
            <a:off x="8076895" y="-1828800"/>
            <a:ext cx="5486400" cy="5486400"/>
          </a:xfrm>
          <a:prstGeom prst="ellipse">
            <a:avLst/>
          </a:prstGeom>
          <a:solidFill>
            <a:srgbClr val="1F4368"/>
          </a:solidFill>
          <a:ln/>
        </p:spPr>
      </p:sp>
      <p:sp>
        <p:nvSpPr>
          <p:cNvPr id="4" name="Shape 2"/>
          <p:cNvSpPr/>
          <p:nvPr/>
        </p:nvSpPr>
        <p:spPr>
          <a:xfrm>
            <a:off x="9265615" y="-731520"/>
            <a:ext cx="3291840" cy="3291840"/>
          </a:xfrm>
          <a:prstGeom prst="ellipse">
            <a:avLst/>
          </a:prstGeom>
          <a:solidFill>
            <a:srgbClr val="2E9CCA">
              <a:alpha val="45000"/>
            </a:srgbClr>
          </a:solidFill>
          <a:ln/>
        </p:spPr>
      </p:sp>
      <p:sp>
        <p:nvSpPr>
          <p:cNvPr id="5" name="Text 3"/>
          <p:cNvSpPr/>
          <p:nvPr/>
        </p:nvSpPr>
        <p:spPr>
          <a:xfrm>
            <a:off x="548640" y="2286000"/>
            <a:ext cx="3657600" cy="457200"/>
          </a:xfrm>
          <a:prstGeom prst="rect">
            <a:avLst/>
          </a:prstGeom>
          <a:noFill/>
          <a:ln/>
        </p:spPr>
        <p:txBody>
          <a:bodyPr wrap="square" lIns="0" tIns="0" rIns="0" bIns="0" rtlCol="0" anchor="ctr"/>
          <a:lstStyle/>
          <a:p>
            <a:pPr indent="0" marL="0">
              <a:buNone/>
            </a:pPr>
            <a:r>
              <a:rPr lang="en-US" sz="1600" b="1" spc="300" kern="0" dirty="0">
                <a:solidFill>
                  <a:srgbClr val="2E9CCA"/>
                </a:solidFill>
                <a:latin typeface="Arial" pitchFamily="34" charset="0"/>
                <a:ea typeface="Arial" pitchFamily="34" charset="-122"/>
                <a:cs typeface="Arial" pitchFamily="34" charset="-120"/>
              </a:rPr>
              <a:t>BLOC 1</a:t>
            </a:r>
            <a:endParaRPr lang="en-US" sz="1600" dirty="0"/>
          </a:p>
        </p:txBody>
      </p:sp>
      <p:sp>
        <p:nvSpPr>
          <p:cNvPr id="6" name="Text 4"/>
          <p:cNvSpPr/>
          <p:nvPr/>
        </p:nvSpPr>
        <p:spPr>
          <a:xfrm>
            <a:off x="548640" y="2743200"/>
            <a:ext cx="9601200" cy="155448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Arial" pitchFamily="34" charset="0"/>
                <a:ea typeface="Arial" pitchFamily="34" charset="-122"/>
                <a:cs typeface="Arial" pitchFamily="34" charset="-120"/>
              </a:rPr>
              <a:t>Planifier l'utilisation des ressources</a:t>
            </a:r>
            <a:endParaRPr lang="en-US" sz="3800" dirty="0"/>
          </a:p>
        </p:txBody>
      </p:sp>
      <p:sp>
        <p:nvSpPr>
          <p:cNvPr id="7" name="Text 5"/>
          <p:cNvSpPr/>
          <p:nvPr/>
        </p:nvSpPr>
        <p:spPr>
          <a:xfrm>
            <a:off x="548640" y="4343400"/>
            <a:ext cx="9144000" cy="548640"/>
          </a:xfrm>
          <a:prstGeom prst="rect">
            <a:avLst/>
          </a:prstGeom>
          <a:noFill/>
          <a:ln/>
        </p:spPr>
        <p:txBody>
          <a:bodyPr wrap="square" lIns="0" tIns="0" rIns="0" bIns="0" rtlCol="0" anchor="ctr"/>
          <a:lstStyle/>
          <a:p>
            <a:pPr indent="0" marL="0">
              <a:buNone/>
            </a:pPr>
            <a:r>
              <a:rPr lang="en-US" sz="1500" i="1" dirty="0">
                <a:solidFill>
                  <a:srgbClr val="AFC8DC"/>
                </a:solidFill>
                <a:latin typeface="Arial" pitchFamily="34" charset="0"/>
                <a:ea typeface="Arial" pitchFamily="34" charset="-122"/>
                <a:cs typeface="Arial" pitchFamily="34" charset="-120"/>
              </a:rPr>
              <a:t>Analyser les besoins, arbitrer les priorités et aménager les espaces</a:t>
            </a:r>
            <a:endParaRPr lang="en-US" sz="1500" dirty="0"/>
          </a:p>
        </p:txBody>
      </p:sp>
      <p:sp>
        <p:nvSpPr>
          <p:cNvPr id="8"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8CC"/>
                </a:solidFill>
                <a:latin typeface="Arial" pitchFamily="34" charset="0"/>
                <a:ea typeface="Arial" pitchFamily="34" charset="-122"/>
                <a:cs typeface="Arial" pitchFamily="34" charset="-120"/>
              </a:rPr>
              <a:t>CQP CAE – M20 – Coordination et suivi opérationnel</a:t>
            </a:r>
            <a:endParaRPr lang="en-US" sz="900" dirty="0"/>
          </a:p>
        </p:txBody>
      </p:sp>
      <p:sp>
        <p:nvSpPr>
          <p:cNvPr id="9" name="Text 7"/>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9FB8C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463040" cy="384048"/>
          </a:xfrm>
          <a:prstGeom prst="roundRect">
            <a:avLst>
              <a:gd name="adj" fmla="val 19048"/>
            </a:avLst>
          </a:prstGeom>
          <a:solidFill>
            <a:srgbClr val="16324F"/>
          </a:solidFill>
          <a:ln/>
        </p:spPr>
      </p:sp>
      <p:sp>
        <p:nvSpPr>
          <p:cNvPr id="3" name="Text 1"/>
          <p:cNvSpPr/>
          <p:nvPr/>
        </p:nvSpPr>
        <p:spPr>
          <a:xfrm>
            <a:off x="548640" y="457200"/>
            <a:ext cx="14630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BLOC 1</a:t>
            </a:r>
            <a:endParaRPr lang="en-US" sz="1200" dirty="0"/>
          </a:p>
        </p:txBody>
      </p:sp>
      <p:sp>
        <p:nvSpPr>
          <p:cNvPr id="4" name="Text 2"/>
          <p:cNvSpPr/>
          <p:nvPr/>
        </p:nvSpPr>
        <p:spPr>
          <a:xfrm>
            <a:off x="2286000" y="457200"/>
            <a:ext cx="7772400" cy="384048"/>
          </a:xfrm>
          <a:prstGeom prst="rect">
            <a:avLst/>
          </a:prstGeom>
          <a:noFill/>
          <a:ln/>
        </p:spPr>
        <p:txBody>
          <a:bodyPr wrap="square" lIns="0" tIns="0" rIns="0" bIns="0" rtlCol="0" anchor="ctr"/>
          <a:lstStyle/>
          <a:p>
            <a:pPr indent="0" marL="0">
              <a:buNone/>
            </a:pPr>
            <a:r>
              <a:rPr lang="en-US" sz="1600" b="1" dirty="0">
                <a:solidFill>
                  <a:srgbClr val="16324F"/>
                </a:solidFill>
                <a:latin typeface="Arial" pitchFamily="34" charset="0"/>
                <a:ea typeface="Arial" pitchFamily="34" charset="-122"/>
                <a:cs typeface="Arial" pitchFamily="34" charset="-120"/>
              </a:rPr>
              <a:t>Compétence visée et critères d'évaluation</a:t>
            </a:r>
            <a:endParaRPr lang="en-US" sz="1600" dirty="0"/>
          </a:p>
        </p:txBody>
      </p:sp>
      <p:sp>
        <p:nvSpPr>
          <p:cNvPr id="5" name="Shape 3"/>
          <p:cNvSpPr/>
          <p:nvPr/>
        </p:nvSpPr>
        <p:spPr>
          <a:xfrm>
            <a:off x="548640" y="1051560"/>
            <a:ext cx="11094415" cy="1051560"/>
          </a:xfrm>
          <a:prstGeom prst="roundRect">
            <a:avLst>
              <a:gd name="adj" fmla="val 6957"/>
            </a:avLst>
          </a:prstGeom>
          <a:solidFill>
            <a:srgbClr val="16324F"/>
          </a:solidFill>
          <a:ln/>
        </p:spPr>
      </p:sp>
      <p:sp>
        <p:nvSpPr>
          <p:cNvPr id="6" name="Text 4"/>
          <p:cNvSpPr/>
          <p:nvPr/>
        </p:nvSpPr>
        <p:spPr>
          <a:xfrm>
            <a:off x="822960" y="1051560"/>
            <a:ext cx="10545775" cy="1051560"/>
          </a:xfrm>
          <a:prstGeom prst="rect">
            <a:avLst/>
          </a:prstGeom>
          <a:noFill/>
          <a:ln/>
        </p:spPr>
        <p:txBody>
          <a:bodyPr wrap="square" lIns="0" tIns="0" rIns="0" bIns="0" rtlCol="0" anchor="ctr"/>
          <a:lstStyle/>
          <a:p>
            <a:pPr indent="0" marL="0">
              <a:lnSpc>
                <a:spcPct val="115000"/>
              </a:lnSpc>
              <a:buNone/>
            </a:pPr>
            <a:r>
              <a:rPr lang="en-US" sz="1350" dirty="0">
                <a:solidFill>
                  <a:srgbClr val="FFFFFF"/>
                </a:solidFill>
                <a:latin typeface="Arial" pitchFamily="34" charset="0"/>
                <a:ea typeface="Arial" pitchFamily="34" charset="-122"/>
                <a:cs typeface="Arial" pitchFamily="34" charset="-120"/>
              </a:rPr>
              <a:t>Planifier l'utilisation des ressources en analysant les besoins, en arbitrant les priorités si nécessaire, et en aménageant les espaces selon les consignes prescrites, tout en veillant à l'accessibilité pour les personnes à mobilité réduite et en traçant rigoureusement les opérations afin d'optimiser l'organisation des espaces et de garantir un environnement fonctionnel et inclusif.</a:t>
            </a:r>
            <a:endParaRPr lang="en-US" sz="1350" dirty="0"/>
          </a:p>
        </p:txBody>
      </p:sp>
      <p:sp>
        <p:nvSpPr>
          <p:cNvPr id="7" name="Text 5"/>
          <p:cNvSpPr/>
          <p:nvPr/>
        </p:nvSpPr>
        <p:spPr>
          <a:xfrm>
            <a:off x="548640" y="2331720"/>
            <a:ext cx="7315200" cy="320040"/>
          </a:xfrm>
          <a:prstGeom prst="rect">
            <a:avLst/>
          </a:prstGeom>
          <a:noFill/>
          <a:ln/>
        </p:spPr>
        <p:txBody>
          <a:bodyPr wrap="square" lIns="0" tIns="0" rIns="0" bIns="0" rtlCol="0" anchor="ctr"/>
          <a:lstStyle/>
          <a:p>
            <a:pPr indent="0" marL="0">
              <a:buNone/>
            </a:pPr>
            <a:r>
              <a:rPr lang="en-US" sz="1200" b="1" spc="100" kern="0" dirty="0">
                <a:solidFill>
                  <a:srgbClr val="2E9CCA"/>
                </a:solidFill>
                <a:latin typeface="Arial" pitchFamily="34" charset="0"/>
                <a:ea typeface="Arial" pitchFamily="34" charset="-122"/>
                <a:cs typeface="Arial" pitchFamily="34" charset="-120"/>
              </a:rPr>
              <a:t>CRITÈRES D'ÉVALUATION ASSOCIÉS</a:t>
            </a:r>
            <a:endParaRPr lang="en-US" sz="1200" dirty="0"/>
          </a:p>
        </p:txBody>
      </p:sp>
      <p:sp>
        <p:nvSpPr>
          <p:cNvPr id="8" name="Shape 6"/>
          <p:cNvSpPr/>
          <p:nvPr/>
        </p:nvSpPr>
        <p:spPr>
          <a:xfrm>
            <a:off x="548640" y="2743200"/>
            <a:ext cx="146304" cy="146304"/>
          </a:xfrm>
          <a:prstGeom prst="ellipse">
            <a:avLst/>
          </a:prstGeom>
          <a:solidFill>
            <a:srgbClr val="E4572E"/>
          </a:solidFill>
          <a:ln/>
        </p:spPr>
      </p:sp>
      <p:sp>
        <p:nvSpPr>
          <p:cNvPr id="9" name="Text 7"/>
          <p:cNvSpPr/>
          <p:nvPr/>
        </p:nvSpPr>
        <p:spPr>
          <a:xfrm>
            <a:off x="868680" y="2624328"/>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L'aménagement des espaces est réalisé selon les consignes et en garantissant l'accessibilité.</a:t>
            </a:r>
            <a:endParaRPr lang="en-US" sz="1200" dirty="0"/>
          </a:p>
        </p:txBody>
      </p:sp>
      <p:sp>
        <p:nvSpPr>
          <p:cNvPr id="10" name="Shape 8"/>
          <p:cNvSpPr/>
          <p:nvPr/>
        </p:nvSpPr>
        <p:spPr>
          <a:xfrm>
            <a:off x="548640" y="3310128"/>
            <a:ext cx="146304" cy="146304"/>
          </a:xfrm>
          <a:prstGeom prst="ellipse">
            <a:avLst/>
          </a:prstGeom>
          <a:solidFill>
            <a:srgbClr val="E4572E"/>
          </a:solidFill>
          <a:ln/>
        </p:spPr>
      </p:sp>
      <p:sp>
        <p:nvSpPr>
          <p:cNvPr id="11" name="Text 9"/>
          <p:cNvSpPr/>
          <p:nvPr/>
        </p:nvSpPr>
        <p:spPr>
          <a:xfrm>
            <a:off x="868680" y="3191256"/>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La planification et l'aménagement des salles de réunion et autres ressources sont effectives.</a:t>
            </a:r>
            <a:endParaRPr lang="en-US" sz="1200" dirty="0"/>
          </a:p>
        </p:txBody>
      </p:sp>
      <p:sp>
        <p:nvSpPr>
          <p:cNvPr id="12" name="Shape 10"/>
          <p:cNvSpPr/>
          <p:nvPr/>
        </p:nvSpPr>
        <p:spPr>
          <a:xfrm>
            <a:off x="548640" y="3877056"/>
            <a:ext cx="146304" cy="146304"/>
          </a:xfrm>
          <a:prstGeom prst="ellipse">
            <a:avLst/>
          </a:prstGeom>
          <a:solidFill>
            <a:srgbClr val="E4572E"/>
          </a:solidFill>
          <a:ln/>
        </p:spPr>
      </p:sp>
      <p:sp>
        <p:nvSpPr>
          <p:cNvPr id="13" name="Text 11"/>
          <p:cNvSpPr/>
          <p:nvPr/>
        </p:nvSpPr>
        <p:spPr>
          <a:xfrm>
            <a:off x="868680" y="3758184"/>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Le suivi de l'utilisation des ressources, incluant la traçabilité et la responsabilité des équipements, est rigoureux.</a:t>
            </a:r>
            <a:endParaRPr lang="en-US" sz="1200" dirty="0"/>
          </a:p>
        </p:txBody>
      </p:sp>
      <p:sp>
        <p:nvSpPr>
          <p:cNvPr id="14" name="Text 12"/>
          <p:cNvSpPr/>
          <p:nvPr/>
        </p:nvSpPr>
        <p:spPr>
          <a:xfrm>
            <a:off x="548640" y="6035040"/>
            <a:ext cx="11094415" cy="365760"/>
          </a:xfrm>
          <a:prstGeom prst="rect">
            <a:avLst/>
          </a:prstGeom>
          <a:noFill/>
          <a:ln/>
        </p:spPr>
        <p:txBody>
          <a:bodyPr wrap="square" lIns="0" tIns="0" rIns="0" bIns="0" rtlCol="0" anchor="ctr"/>
          <a:lstStyle/>
          <a:p>
            <a:pPr indent="0" marL="0">
              <a:buNone/>
            </a:pPr>
            <a:r>
              <a:rPr lang="en-US" sz="1150" i="1" dirty="0">
                <a:solidFill>
                  <a:srgbClr val="51606E"/>
                </a:solidFill>
                <a:latin typeface="Arial" pitchFamily="34" charset="0"/>
                <a:ea typeface="Arial" pitchFamily="34" charset="-122"/>
                <a:cs typeface="Arial" pitchFamily="34" charset="-120"/>
              </a:rPr>
              <a:t>Séquences de ce bloc : 1. Analyse des besoins – 2. Aménagement des espaces (PMR) – 3. Traçabilité des ressources</a:t>
            </a:r>
            <a:endParaRPr lang="en-US" sz="1150" dirty="0"/>
          </a:p>
        </p:txBody>
      </p:sp>
      <p:sp>
        <p:nvSpPr>
          <p:cNvPr id="15"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6" name="Text 1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1</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Analyser les besoins en ressources</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Analyser les besoins en ressources afin d'en planifier l'utilisation selon les priorités définies.</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Identifier les différents types de ressources à mobiliser : salles, matériels, intervenants.</a:t>
            </a:r>
            <a:endParaRPr lang="en-US" sz="1400" dirty="0"/>
          </a:p>
        </p:txBody>
      </p:sp>
      <p:sp>
        <p:nvSpPr>
          <p:cNvPr id="11" name="Shape 9"/>
          <p:cNvSpPr/>
          <p:nvPr/>
        </p:nvSpPr>
        <p:spPr>
          <a:xfrm>
            <a:off x="548640" y="2932938"/>
            <a:ext cx="310896" cy="310896"/>
          </a:xfrm>
          <a:prstGeom prst="roundRect">
            <a:avLst>
              <a:gd name="adj" fmla="val 20588"/>
            </a:avLst>
          </a:prstGeom>
          <a:solidFill>
            <a:srgbClr val="16324F"/>
          </a:solidFill>
          <a:ln/>
        </p:spPr>
      </p:sp>
      <p:sp>
        <p:nvSpPr>
          <p:cNvPr id="12" name="Text 10"/>
          <p:cNvSpPr/>
          <p:nvPr/>
        </p:nvSpPr>
        <p:spPr>
          <a:xfrm>
            <a:off x="548640" y="293293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284149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Recenser et qualifier les besoins exprimés par les occupants ou les services.</a:t>
            </a:r>
            <a:endParaRPr lang="en-US" sz="1400" dirty="0"/>
          </a:p>
        </p:txBody>
      </p:sp>
      <p:sp>
        <p:nvSpPr>
          <p:cNvPr id="14" name="Shape 12"/>
          <p:cNvSpPr/>
          <p:nvPr/>
        </p:nvSpPr>
        <p:spPr>
          <a:xfrm>
            <a:off x="548640" y="3424428"/>
            <a:ext cx="310896" cy="310896"/>
          </a:xfrm>
          <a:prstGeom prst="roundRect">
            <a:avLst>
              <a:gd name="adj" fmla="val 20588"/>
            </a:avLst>
          </a:prstGeom>
          <a:solidFill>
            <a:srgbClr val="16324F"/>
          </a:solidFill>
          <a:ln/>
        </p:spPr>
      </p:sp>
      <p:sp>
        <p:nvSpPr>
          <p:cNvPr id="15" name="Text 13"/>
          <p:cNvSpPr/>
          <p:nvPr/>
        </p:nvSpPr>
        <p:spPr>
          <a:xfrm>
            <a:off x="548640" y="342442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33298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Distinguer besoin réel, urgence et priorité pour éviter les arbitrages hasardeux.</a:t>
            </a:r>
            <a:endParaRPr lang="en-US" sz="1400" dirty="0"/>
          </a:p>
        </p:txBody>
      </p:sp>
      <p:sp>
        <p:nvSpPr>
          <p:cNvPr id="17" name="Shape 15"/>
          <p:cNvSpPr/>
          <p:nvPr/>
        </p:nvSpPr>
        <p:spPr>
          <a:xfrm>
            <a:off x="548640" y="3915918"/>
            <a:ext cx="310896" cy="310896"/>
          </a:xfrm>
          <a:prstGeom prst="roundRect">
            <a:avLst>
              <a:gd name="adj" fmla="val 20588"/>
            </a:avLst>
          </a:prstGeom>
          <a:solidFill>
            <a:srgbClr val="16324F"/>
          </a:solidFill>
          <a:ln/>
        </p:spPr>
      </p:sp>
      <p:sp>
        <p:nvSpPr>
          <p:cNvPr id="18" name="Text 16"/>
          <p:cNvSpPr/>
          <p:nvPr/>
        </p:nvSpPr>
        <p:spPr>
          <a:xfrm>
            <a:off x="548640" y="391591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9" name="Text 17"/>
          <p:cNvSpPr/>
          <p:nvPr/>
        </p:nvSpPr>
        <p:spPr>
          <a:xfrm>
            <a:off x="1051560" y="382447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Utiliser une matrice de priorisation pour arbitrer entre besoins concurrents.</a:t>
            </a:r>
            <a:endParaRPr lang="en-US" sz="1400" dirty="0"/>
          </a:p>
        </p:txBody>
      </p:sp>
      <p:sp>
        <p:nvSpPr>
          <p:cNvPr id="20" name="Shape 18"/>
          <p:cNvSpPr/>
          <p:nvPr/>
        </p:nvSpPr>
        <p:spPr>
          <a:xfrm>
            <a:off x="548640" y="5806440"/>
            <a:ext cx="11094415" cy="502920"/>
          </a:xfrm>
          <a:prstGeom prst="roundRect">
            <a:avLst>
              <a:gd name="adj" fmla="val 14545"/>
            </a:avLst>
          </a:prstGeom>
          <a:solidFill>
            <a:srgbClr val="EAF5FB"/>
          </a:solidFill>
          <a:ln/>
        </p:spPr>
      </p:sp>
      <p:sp>
        <p:nvSpPr>
          <p:cNvPr id="21" name="Text 19"/>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PowerPoint du module ; tableau de planification ; étude de cas ; brainstorming guidé.</a:t>
            </a:r>
            <a:endParaRPr lang="en-US" sz="110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3" name="Text 2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1</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Étude de cas : identifier et prioriser les besoins</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À partir d'un cas client donné, identifier les ressources nécessaires (salles, matériel, intervenants).</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Qualifier les contraintes associées à chaque besoin identifié.</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Classer les besoins par ordre de priorité à l'aide de critères objectifs.</a:t>
            </a:r>
            <a:endParaRPr lang="en-US" sz="1300" dirty="0"/>
          </a:p>
        </p:txBody>
      </p:sp>
      <p:sp>
        <p:nvSpPr>
          <p:cNvPr id="19" name="Shape 17"/>
          <p:cNvSpPr/>
          <p:nvPr/>
        </p:nvSpPr>
        <p:spPr>
          <a:xfrm>
            <a:off x="914400" y="4334256"/>
            <a:ext cx="384048" cy="384048"/>
          </a:xfrm>
          <a:prstGeom prst="ellipse">
            <a:avLst/>
          </a:prstGeom>
          <a:solidFill>
            <a:srgbClr val="1B6E93"/>
          </a:solidFill>
          <a:ln/>
        </p:spPr>
      </p:sp>
      <p:sp>
        <p:nvSpPr>
          <p:cNvPr id="20" name="Text 18"/>
          <p:cNvSpPr/>
          <p:nvPr/>
        </p:nvSpPr>
        <p:spPr>
          <a:xfrm>
            <a:off x="914400"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1" name="Text 19"/>
          <p:cNvSpPr/>
          <p:nvPr/>
        </p:nvSpPr>
        <p:spPr>
          <a:xfrm>
            <a:off x="1463040" y="4261104"/>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Construire collectivement un planning simple intégrant les arbitrages retenus.</a:t>
            </a:r>
            <a:endParaRPr lang="en-US" sz="1300" dirty="0"/>
          </a:p>
        </p:txBody>
      </p:sp>
      <p:sp>
        <p:nvSpPr>
          <p:cNvPr id="22" name="Shape 20"/>
          <p:cNvSpPr/>
          <p:nvPr/>
        </p:nvSpPr>
        <p:spPr>
          <a:xfrm>
            <a:off x="914400" y="5074920"/>
            <a:ext cx="10362895" cy="411480"/>
          </a:xfrm>
          <a:prstGeom prst="roundRect">
            <a:avLst>
              <a:gd name="adj" fmla="val 13333"/>
            </a:avLst>
          </a:prstGeom>
          <a:solidFill>
            <a:srgbClr val="E7F2F8"/>
          </a:solidFill>
          <a:ln/>
        </p:spPr>
      </p:sp>
      <p:sp>
        <p:nvSpPr>
          <p:cNvPr id="23" name="Text 21"/>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collectif, à partir d'un cas client – 15 minutes.</a:t>
            </a:r>
            <a:endParaRPr lang="en-US" sz="1150" dirty="0"/>
          </a:p>
        </p:txBody>
      </p:sp>
      <p:sp>
        <p:nvSpPr>
          <p:cNvPr id="24"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5" name="Text 23"/>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1</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Debrief sur les arbitrages de priorisation</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Retour collectif sur les ressources identifiées et les contraintes qualifiées.</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Justification orale des choix de priorisation retenus dans le planning.</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une priorisation intuitive, avec confusion entre besoin et urgence.</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s'appuyer sur des critères explicites, des exemples contrastés et une matrice de priorisation formalisée.</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2</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Aménager les espaces dans le respect de l'accessibilité</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Appliquer les consignes d'aménagement des espaces en tenant compte des exigences d'accessibilité pour les personnes à mobilité réduite (PMR).</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Connaître les consignes d'aménagement des espaces et leur cadre de référence.</a:t>
            </a:r>
            <a:endParaRPr lang="en-US" sz="1400" dirty="0"/>
          </a:p>
        </p:txBody>
      </p:sp>
      <p:sp>
        <p:nvSpPr>
          <p:cNvPr id="11" name="Shape 9"/>
          <p:cNvSpPr/>
          <p:nvPr/>
        </p:nvSpPr>
        <p:spPr>
          <a:xfrm>
            <a:off x="548640" y="2932938"/>
            <a:ext cx="310896" cy="310896"/>
          </a:xfrm>
          <a:prstGeom prst="roundRect">
            <a:avLst>
              <a:gd name="adj" fmla="val 20588"/>
            </a:avLst>
          </a:prstGeom>
          <a:solidFill>
            <a:srgbClr val="16324F"/>
          </a:solidFill>
          <a:ln/>
        </p:spPr>
      </p:sp>
      <p:sp>
        <p:nvSpPr>
          <p:cNvPr id="12" name="Text 10"/>
          <p:cNvSpPr/>
          <p:nvPr/>
        </p:nvSpPr>
        <p:spPr>
          <a:xfrm>
            <a:off x="548640" y="293293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284149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Identifier les exigences d'accessibilité pour les personnes à mobilité réduite.</a:t>
            </a:r>
            <a:endParaRPr lang="en-US" sz="1400" dirty="0"/>
          </a:p>
        </p:txBody>
      </p:sp>
      <p:sp>
        <p:nvSpPr>
          <p:cNvPr id="14" name="Shape 12"/>
          <p:cNvSpPr/>
          <p:nvPr/>
        </p:nvSpPr>
        <p:spPr>
          <a:xfrm>
            <a:off x="548640" y="3424428"/>
            <a:ext cx="310896" cy="310896"/>
          </a:xfrm>
          <a:prstGeom prst="roundRect">
            <a:avLst>
              <a:gd name="adj" fmla="val 20588"/>
            </a:avLst>
          </a:prstGeom>
          <a:solidFill>
            <a:srgbClr val="16324F"/>
          </a:solidFill>
          <a:ln/>
        </p:spPr>
      </p:sp>
      <p:sp>
        <p:nvSpPr>
          <p:cNvPr id="15" name="Text 13"/>
          <p:cNvSpPr/>
          <p:nvPr/>
        </p:nvSpPr>
        <p:spPr>
          <a:xfrm>
            <a:off x="548640" y="342442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33298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Vérifier les circulations, les largeurs de passage et les points d'accès.</a:t>
            </a:r>
            <a:endParaRPr lang="en-US" sz="1400" dirty="0"/>
          </a:p>
        </p:txBody>
      </p:sp>
      <p:sp>
        <p:nvSpPr>
          <p:cNvPr id="17" name="Shape 15"/>
          <p:cNvSpPr/>
          <p:nvPr/>
        </p:nvSpPr>
        <p:spPr>
          <a:xfrm>
            <a:off x="548640" y="3915918"/>
            <a:ext cx="310896" cy="310896"/>
          </a:xfrm>
          <a:prstGeom prst="roundRect">
            <a:avLst>
              <a:gd name="adj" fmla="val 20588"/>
            </a:avLst>
          </a:prstGeom>
          <a:solidFill>
            <a:srgbClr val="16324F"/>
          </a:solidFill>
          <a:ln/>
        </p:spPr>
      </p:sp>
      <p:sp>
        <p:nvSpPr>
          <p:cNvPr id="18" name="Text 16"/>
          <p:cNvSpPr/>
          <p:nvPr/>
        </p:nvSpPr>
        <p:spPr>
          <a:xfrm>
            <a:off x="548640" y="391591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9" name="Text 17"/>
          <p:cNvSpPr/>
          <p:nvPr/>
        </p:nvSpPr>
        <p:spPr>
          <a:xfrm>
            <a:off x="1051560" y="382447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Objectiver le contrôle à l'aide d'une grille d'observation dédiée.</a:t>
            </a:r>
            <a:endParaRPr lang="en-US" sz="1400" dirty="0"/>
          </a:p>
        </p:txBody>
      </p:sp>
      <p:sp>
        <p:nvSpPr>
          <p:cNvPr id="20" name="Shape 18"/>
          <p:cNvSpPr/>
          <p:nvPr/>
        </p:nvSpPr>
        <p:spPr>
          <a:xfrm>
            <a:off x="548640" y="5806440"/>
            <a:ext cx="11094415" cy="502920"/>
          </a:xfrm>
          <a:prstGeom prst="roundRect">
            <a:avLst>
              <a:gd name="adj" fmla="val 14545"/>
            </a:avLst>
          </a:prstGeom>
          <a:solidFill>
            <a:srgbClr val="EAF5FB"/>
          </a:solidFill>
          <a:ln/>
        </p:spPr>
      </p:sp>
      <p:sp>
        <p:nvSpPr>
          <p:cNvPr id="21" name="Text 19"/>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Plan d'espace / fiche de consignes ; grille d'observation PMR ; mise en situation d'aménagement.</a:t>
            </a:r>
            <a:endParaRPr lang="en-US" sz="110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3" name="Text 2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2</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Mise en situation d'aménagement d'un espace</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En sous-groupes, analyser un plan d'espace fourni.</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Proposer une implantation répondant aux consignes d'aménagement.</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Vérifier les circulations et les accès au regard de la grille d'observation PMR.</a:t>
            </a:r>
            <a:endParaRPr lang="en-US" sz="1300" dirty="0"/>
          </a:p>
        </p:txBody>
      </p:sp>
      <p:sp>
        <p:nvSpPr>
          <p:cNvPr id="19" name="Shape 17"/>
          <p:cNvSpPr/>
          <p:nvPr/>
        </p:nvSpPr>
        <p:spPr>
          <a:xfrm>
            <a:off x="914400" y="5074920"/>
            <a:ext cx="10362895" cy="411480"/>
          </a:xfrm>
          <a:prstGeom prst="roundRect">
            <a:avLst>
              <a:gd name="adj" fmla="val 13333"/>
            </a:avLst>
          </a:prstGeom>
          <a:solidFill>
            <a:srgbClr val="E7F2F8"/>
          </a:solidFill>
          <a:ln/>
        </p:spPr>
      </p:sp>
      <p:sp>
        <p:nvSpPr>
          <p:cNvPr id="20" name="Text 18"/>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en sous-groupes – 15 minutes, restitution comprise.</a:t>
            </a:r>
            <a:endParaRPr lang="en-US" sz="1150" dirty="0"/>
          </a:p>
        </p:txBody>
      </p:sp>
      <p:sp>
        <p:nvSpPr>
          <p:cNvPr id="21"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2"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2</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Correction collective argumentée</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Présentation des propositions d'implantation par chaque sous-groupe.</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Argumentation collective sur la conformité des choix aux exigences d'accessibilité.</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une focalisation sur l'esthétique de l'aménagement au détriment de l'accessibilité.</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systématiser la vérification des contraintes PMR à l'aide de la grille de contrôle.</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3</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Assurer la traçabilité des ressources et équipements</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Utiliser les outils de suivi pour assurer la traçabilité de l'utilisation des ressources et des équipements.</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Présenter les outils de suivi de l'utilisation des ressources : registre, tableau de suivi.</a:t>
            </a:r>
            <a:endParaRPr lang="en-US" sz="1400" dirty="0"/>
          </a:p>
        </p:txBody>
      </p:sp>
      <p:sp>
        <p:nvSpPr>
          <p:cNvPr id="11" name="Shape 9"/>
          <p:cNvSpPr/>
          <p:nvPr/>
        </p:nvSpPr>
        <p:spPr>
          <a:xfrm>
            <a:off x="548640" y="3096768"/>
            <a:ext cx="310896" cy="310896"/>
          </a:xfrm>
          <a:prstGeom prst="roundRect">
            <a:avLst>
              <a:gd name="adj" fmla="val 20588"/>
            </a:avLst>
          </a:prstGeom>
          <a:solidFill>
            <a:srgbClr val="16324F"/>
          </a:solidFill>
          <a:ln/>
        </p:spPr>
      </p:sp>
      <p:sp>
        <p:nvSpPr>
          <p:cNvPr id="12" name="Text 10"/>
          <p:cNvSpPr/>
          <p:nvPr/>
        </p:nvSpPr>
        <p:spPr>
          <a:xfrm>
            <a:off x="548640" y="30967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300532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Identifier les informations indispensables à tracer : affectation, utilisation, retour, responsable.</a:t>
            </a:r>
            <a:endParaRPr lang="en-US" sz="1400" dirty="0"/>
          </a:p>
        </p:txBody>
      </p:sp>
      <p:sp>
        <p:nvSpPr>
          <p:cNvPr id="14" name="Shape 12"/>
          <p:cNvSpPr/>
          <p:nvPr/>
        </p:nvSpPr>
        <p:spPr>
          <a:xfrm>
            <a:off x="548640" y="3752088"/>
            <a:ext cx="310896" cy="310896"/>
          </a:xfrm>
          <a:prstGeom prst="roundRect">
            <a:avLst>
              <a:gd name="adj" fmla="val 20588"/>
            </a:avLst>
          </a:prstGeom>
          <a:solidFill>
            <a:srgbClr val="16324F"/>
          </a:solidFill>
          <a:ln/>
        </p:spPr>
      </p:sp>
      <p:sp>
        <p:nvSpPr>
          <p:cNvPr id="15" name="Text 13"/>
          <p:cNvSpPr/>
          <p:nvPr/>
        </p:nvSpPr>
        <p:spPr>
          <a:xfrm>
            <a:off x="548640" y="375208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66064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Garantir la responsabilité et la traçabilité tout au long du cycle d'utilisation.</a:t>
            </a:r>
            <a:endParaRPr lang="en-US" sz="1400" dirty="0"/>
          </a:p>
        </p:txBody>
      </p:sp>
      <p:sp>
        <p:nvSpPr>
          <p:cNvPr id="17" name="Shape 15"/>
          <p:cNvSpPr/>
          <p:nvPr/>
        </p:nvSpPr>
        <p:spPr>
          <a:xfrm>
            <a:off x="548640" y="5806440"/>
            <a:ext cx="11094415" cy="502920"/>
          </a:xfrm>
          <a:prstGeom prst="roundRect">
            <a:avLst>
              <a:gd name="adj" fmla="val 14545"/>
            </a:avLst>
          </a:prstGeom>
          <a:solidFill>
            <a:srgbClr val="EAF5FB"/>
          </a:solidFill>
          <a:ln/>
        </p:spPr>
      </p:sp>
      <p:sp>
        <p:nvSpPr>
          <p:cNvPr id="18" name="Text 16"/>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Tableau ou registre de suivi ; fiche ressource / équipement ; exercice de traçabilité.</a:t>
            </a:r>
            <a:endParaRPr lang="en-US" sz="1100" dirty="0"/>
          </a:p>
        </p:txBody>
      </p:sp>
      <p:sp>
        <p:nvSpPr>
          <p:cNvPr id="19"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0" name="Text 1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3</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Renseigner et contrôler un outil de suivi</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Renseigner l'affectation, l'utilisation et le retour d'une ressource ou d'un équipement.</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Rechercher, en binôme, une anomalie de traçabilité dans un exemple fourni.</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Identifier les informations manquantes nécessaires à une traçabilité complète.</a:t>
            </a:r>
            <a:endParaRPr lang="en-US" sz="1300" dirty="0"/>
          </a:p>
        </p:txBody>
      </p:sp>
      <p:sp>
        <p:nvSpPr>
          <p:cNvPr id="19" name="Shape 17"/>
          <p:cNvSpPr/>
          <p:nvPr/>
        </p:nvSpPr>
        <p:spPr>
          <a:xfrm>
            <a:off x="914400" y="5074920"/>
            <a:ext cx="10362895" cy="411480"/>
          </a:xfrm>
          <a:prstGeom prst="roundRect">
            <a:avLst>
              <a:gd name="adj" fmla="val 13333"/>
            </a:avLst>
          </a:prstGeom>
          <a:solidFill>
            <a:srgbClr val="E7F2F8"/>
          </a:solidFill>
          <a:ln/>
        </p:spPr>
      </p:sp>
      <p:sp>
        <p:nvSpPr>
          <p:cNvPr id="20" name="Text 18"/>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en binôme, avec contrôle croisé – 15 minutes.</a:t>
            </a:r>
            <a:endParaRPr lang="en-US" sz="1150" dirty="0"/>
          </a:p>
        </p:txBody>
      </p:sp>
      <p:sp>
        <p:nvSpPr>
          <p:cNvPr id="21"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2"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3</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Correction guidée sur les informations indispensables</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Rappel collectif des informations indispensables à toute fiche de suivi.</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Mise en commun des anomalies repérées par les binômes.</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des saisies incomplètes ou une chronologie non respectée dans le suivi.</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utiliser un modèle de fiche standardisé, démontré pas à pas, avec contrôle croisé systématique.</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548640" y="502920"/>
            <a:ext cx="7315200" cy="365760"/>
          </a:xfrm>
          <a:prstGeom prst="rect">
            <a:avLst/>
          </a:prstGeom>
          <a:noFill/>
          <a:ln/>
        </p:spPr>
        <p:txBody>
          <a:bodyPr wrap="square" lIns="0" tIns="0" rIns="0" bIns="0" rtlCol="0" anchor="ctr"/>
          <a:lstStyle/>
          <a:p>
            <a:pPr indent="0" marL="0">
              <a:buNone/>
            </a:pPr>
            <a:r>
              <a:rPr lang="en-US" sz="1400" b="1" spc="200" kern="0" dirty="0">
                <a:solidFill>
                  <a:srgbClr val="2E9CCA"/>
                </a:solidFill>
                <a:latin typeface="Arial" pitchFamily="34" charset="0"/>
                <a:ea typeface="Arial" pitchFamily="34" charset="-122"/>
                <a:cs typeface="Arial" pitchFamily="34" charset="-120"/>
              </a:rPr>
              <a:t>SYNTHÈSE – BLOC 1</a:t>
            </a:r>
            <a:endParaRPr lang="en-US" sz="1400" dirty="0"/>
          </a:p>
        </p:txBody>
      </p:sp>
      <p:sp>
        <p:nvSpPr>
          <p:cNvPr id="3" name="Text 1"/>
          <p:cNvSpPr/>
          <p:nvPr/>
        </p:nvSpPr>
        <p:spPr>
          <a:xfrm>
            <a:off x="548640" y="914400"/>
            <a:ext cx="9601200" cy="6400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Planifier l'utilisation des ressources</a:t>
            </a:r>
            <a:endParaRPr lang="en-US" sz="2400" dirty="0"/>
          </a:p>
        </p:txBody>
      </p:sp>
      <p:sp>
        <p:nvSpPr>
          <p:cNvPr id="4" name="Text 2"/>
          <p:cNvSpPr/>
          <p:nvPr/>
        </p:nvSpPr>
        <p:spPr>
          <a:xfrm>
            <a:off x="548640" y="1691640"/>
            <a:ext cx="7315200" cy="320040"/>
          </a:xfrm>
          <a:prstGeom prst="rect">
            <a:avLst/>
          </a:prstGeom>
          <a:noFill/>
          <a:ln/>
        </p:spPr>
        <p:txBody>
          <a:bodyPr wrap="square" lIns="0" tIns="0" rIns="0" bIns="0" rtlCol="0" anchor="ctr"/>
          <a:lstStyle/>
          <a:p>
            <a:pPr indent="0" marL="0">
              <a:buNone/>
            </a:pPr>
            <a:r>
              <a:rPr lang="en-US" sz="1300" i="1" dirty="0">
                <a:solidFill>
                  <a:srgbClr val="AFC8DC"/>
                </a:solidFill>
                <a:latin typeface="Arial" pitchFamily="34" charset="0"/>
                <a:ea typeface="Arial" pitchFamily="34" charset="-122"/>
                <a:cs typeface="Arial" pitchFamily="34" charset="-120"/>
              </a:rPr>
              <a:t>Ce qui doit être acquis à ce stade :</a:t>
            </a:r>
            <a:endParaRPr lang="en-US" sz="1300" dirty="0"/>
          </a:p>
        </p:txBody>
      </p:sp>
      <p:sp>
        <p:nvSpPr>
          <p:cNvPr id="5" name="Shape 3"/>
          <p:cNvSpPr/>
          <p:nvPr/>
        </p:nvSpPr>
        <p:spPr>
          <a:xfrm>
            <a:off x="548640" y="2057400"/>
            <a:ext cx="11094415" cy="777240"/>
          </a:xfrm>
          <a:prstGeom prst="roundRect">
            <a:avLst>
              <a:gd name="adj" fmla="val 9412"/>
            </a:avLst>
          </a:prstGeom>
          <a:solidFill>
            <a:srgbClr val="1F4368"/>
          </a:solidFill>
          <a:ln/>
        </p:spPr>
      </p:sp>
      <p:sp>
        <p:nvSpPr>
          <p:cNvPr id="6" name="Shape 4"/>
          <p:cNvSpPr/>
          <p:nvPr/>
        </p:nvSpPr>
        <p:spPr>
          <a:xfrm>
            <a:off x="777240" y="2350008"/>
            <a:ext cx="182880" cy="182880"/>
          </a:xfrm>
          <a:prstGeom prst="ellipse">
            <a:avLst/>
          </a:prstGeom>
          <a:solidFill>
            <a:srgbClr val="2E9CCA"/>
          </a:solidFill>
          <a:ln/>
        </p:spPr>
      </p:sp>
      <p:sp>
        <p:nvSpPr>
          <p:cNvPr id="7" name="Text 5"/>
          <p:cNvSpPr/>
          <p:nvPr/>
        </p:nvSpPr>
        <p:spPr>
          <a:xfrm>
            <a:off x="1143000" y="21305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L'aménagement des espaces est réalisé selon les consignes et en garantissant l'accessibilité.</a:t>
            </a:r>
            <a:endParaRPr lang="en-US" sz="1250" dirty="0"/>
          </a:p>
        </p:txBody>
      </p:sp>
      <p:sp>
        <p:nvSpPr>
          <p:cNvPr id="8" name="Shape 6"/>
          <p:cNvSpPr/>
          <p:nvPr/>
        </p:nvSpPr>
        <p:spPr>
          <a:xfrm>
            <a:off x="548640" y="2971800"/>
            <a:ext cx="11094415" cy="777240"/>
          </a:xfrm>
          <a:prstGeom prst="roundRect">
            <a:avLst>
              <a:gd name="adj" fmla="val 9412"/>
            </a:avLst>
          </a:prstGeom>
          <a:solidFill>
            <a:srgbClr val="1F4368"/>
          </a:solidFill>
          <a:ln/>
        </p:spPr>
      </p:sp>
      <p:sp>
        <p:nvSpPr>
          <p:cNvPr id="9" name="Shape 7"/>
          <p:cNvSpPr/>
          <p:nvPr/>
        </p:nvSpPr>
        <p:spPr>
          <a:xfrm>
            <a:off x="777240" y="3264408"/>
            <a:ext cx="182880" cy="182880"/>
          </a:xfrm>
          <a:prstGeom prst="ellipse">
            <a:avLst/>
          </a:prstGeom>
          <a:solidFill>
            <a:srgbClr val="2E9CCA"/>
          </a:solidFill>
          <a:ln/>
        </p:spPr>
      </p:sp>
      <p:sp>
        <p:nvSpPr>
          <p:cNvPr id="10" name="Text 8"/>
          <p:cNvSpPr/>
          <p:nvPr/>
        </p:nvSpPr>
        <p:spPr>
          <a:xfrm>
            <a:off x="1143000" y="30449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La planification et l'aménagement des salles de réunion et autres ressources sont effectives.</a:t>
            </a:r>
            <a:endParaRPr lang="en-US" sz="1250" dirty="0"/>
          </a:p>
        </p:txBody>
      </p:sp>
      <p:sp>
        <p:nvSpPr>
          <p:cNvPr id="11" name="Shape 9"/>
          <p:cNvSpPr/>
          <p:nvPr/>
        </p:nvSpPr>
        <p:spPr>
          <a:xfrm>
            <a:off x="548640" y="3886200"/>
            <a:ext cx="11094415" cy="777240"/>
          </a:xfrm>
          <a:prstGeom prst="roundRect">
            <a:avLst>
              <a:gd name="adj" fmla="val 9412"/>
            </a:avLst>
          </a:prstGeom>
          <a:solidFill>
            <a:srgbClr val="1F4368"/>
          </a:solidFill>
          <a:ln/>
        </p:spPr>
      </p:sp>
      <p:sp>
        <p:nvSpPr>
          <p:cNvPr id="12" name="Shape 10"/>
          <p:cNvSpPr/>
          <p:nvPr/>
        </p:nvSpPr>
        <p:spPr>
          <a:xfrm>
            <a:off x="777240" y="4178808"/>
            <a:ext cx="182880" cy="182880"/>
          </a:xfrm>
          <a:prstGeom prst="ellipse">
            <a:avLst/>
          </a:prstGeom>
          <a:solidFill>
            <a:srgbClr val="2E9CCA"/>
          </a:solidFill>
          <a:ln/>
        </p:spPr>
      </p:sp>
      <p:sp>
        <p:nvSpPr>
          <p:cNvPr id="13" name="Text 11"/>
          <p:cNvSpPr/>
          <p:nvPr/>
        </p:nvSpPr>
        <p:spPr>
          <a:xfrm>
            <a:off x="1143000" y="39593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Le suivi de l'utilisation des ressources, incluant la traçabilité et la responsabilité des équipements, est rigoureux.</a:t>
            </a:r>
            <a:endParaRPr lang="en-US" sz="1250" dirty="0"/>
          </a:p>
        </p:txBody>
      </p:sp>
      <p:sp>
        <p:nvSpPr>
          <p:cNvPr id="14" name="Text 12"/>
          <p:cNvSpPr/>
          <p:nvPr/>
        </p:nvSpPr>
        <p:spPr>
          <a:xfrm>
            <a:off x="548640" y="4892040"/>
            <a:ext cx="11094415" cy="457200"/>
          </a:xfrm>
          <a:prstGeom prst="rect">
            <a:avLst/>
          </a:prstGeom>
          <a:noFill/>
          <a:ln/>
        </p:spPr>
        <p:txBody>
          <a:bodyPr wrap="square" lIns="0" tIns="0" rIns="0" bIns="0" rtlCol="0" anchor="ctr"/>
          <a:lstStyle/>
          <a:p>
            <a:pPr indent="0" marL="0">
              <a:buNone/>
            </a:pPr>
            <a:r>
              <a:rPr lang="en-US" sz="1300" i="1" dirty="0">
                <a:solidFill>
                  <a:srgbClr val="2E9CCA"/>
                </a:solidFill>
                <a:latin typeface="Arial" pitchFamily="34" charset="0"/>
                <a:ea typeface="Arial" pitchFamily="34" charset="-122"/>
                <a:cs typeface="Arial" pitchFamily="34" charset="-120"/>
              </a:rPr>
              <a:t>Passons maintenant à l'approvisionnement des fournitures nécessaires aux activités des occupants.</a:t>
            </a:r>
            <a:endParaRPr lang="en-US" sz="1300" dirty="0"/>
          </a:p>
        </p:txBody>
      </p:sp>
      <p:sp>
        <p:nvSpPr>
          <p:cNvPr id="15"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8CC"/>
                </a:solidFill>
                <a:latin typeface="Arial" pitchFamily="34" charset="0"/>
                <a:ea typeface="Arial" pitchFamily="34" charset="-122"/>
                <a:cs typeface="Arial" pitchFamily="34" charset="-120"/>
              </a:rPr>
              <a:t>CQP CAE – M20 – Coordination et suivi opérationnel</a:t>
            </a:r>
            <a:endParaRPr lang="en-US" sz="900" dirty="0"/>
          </a:p>
        </p:txBody>
      </p:sp>
      <p:sp>
        <p:nvSpPr>
          <p:cNvPr id="16" name="Text 1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9FB8CC"/>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p:spPr>
      </p:sp>
      <p:sp>
        <p:nvSpPr>
          <p:cNvPr id="3" name="Shape 1"/>
          <p:cNvSpPr/>
          <p:nvPr/>
        </p:nvSpPr>
        <p:spPr>
          <a:xfrm>
            <a:off x="8076895" y="-1828800"/>
            <a:ext cx="5486400" cy="5486400"/>
          </a:xfrm>
          <a:prstGeom prst="ellipse">
            <a:avLst/>
          </a:prstGeom>
          <a:solidFill>
            <a:srgbClr val="1F4368"/>
          </a:solidFill>
          <a:ln/>
        </p:spPr>
      </p:sp>
      <p:sp>
        <p:nvSpPr>
          <p:cNvPr id="4" name="Shape 2"/>
          <p:cNvSpPr/>
          <p:nvPr/>
        </p:nvSpPr>
        <p:spPr>
          <a:xfrm>
            <a:off x="9265615" y="-731520"/>
            <a:ext cx="3291840" cy="3291840"/>
          </a:xfrm>
          <a:prstGeom prst="ellipse">
            <a:avLst/>
          </a:prstGeom>
          <a:solidFill>
            <a:srgbClr val="2E9CCA">
              <a:alpha val="45000"/>
            </a:srgbClr>
          </a:solidFill>
          <a:ln/>
        </p:spPr>
      </p:sp>
      <p:sp>
        <p:nvSpPr>
          <p:cNvPr id="5" name="Text 3"/>
          <p:cNvSpPr/>
          <p:nvPr/>
        </p:nvSpPr>
        <p:spPr>
          <a:xfrm>
            <a:off x="548640" y="2286000"/>
            <a:ext cx="3657600" cy="457200"/>
          </a:xfrm>
          <a:prstGeom prst="rect">
            <a:avLst/>
          </a:prstGeom>
          <a:noFill/>
          <a:ln/>
        </p:spPr>
        <p:txBody>
          <a:bodyPr wrap="square" lIns="0" tIns="0" rIns="0" bIns="0" rtlCol="0" anchor="ctr"/>
          <a:lstStyle/>
          <a:p>
            <a:pPr indent="0" marL="0">
              <a:buNone/>
            </a:pPr>
            <a:r>
              <a:rPr lang="en-US" sz="1600" b="1" spc="300" kern="0" dirty="0">
                <a:solidFill>
                  <a:srgbClr val="2E9CCA"/>
                </a:solidFill>
                <a:latin typeface="Arial" pitchFamily="34" charset="0"/>
                <a:ea typeface="Arial" pitchFamily="34" charset="-122"/>
                <a:cs typeface="Arial" pitchFamily="34" charset="-120"/>
              </a:rPr>
              <a:t>BLOC 2</a:t>
            </a:r>
            <a:endParaRPr lang="en-US" sz="1600" dirty="0"/>
          </a:p>
        </p:txBody>
      </p:sp>
      <p:sp>
        <p:nvSpPr>
          <p:cNvPr id="6" name="Text 4"/>
          <p:cNvSpPr/>
          <p:nvPr/>
        </p:nvSpPr>
        <p:spPr>
          <a:xfrm>
            <a:off x="548640" y="2743200"/>
            <a:ext cx="9601200" cy="155448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Arial" pitchFamily="34" charset="0"/>
                <a:ea typeface="Arial" pitchFamily="34" charset="-122"/>
                <a:cs typeface="Arial" pitchFamily="34" charset="-120"/>
              </a:rPr>
              <a:t>Approvisionner en fournitures</a:t>
            </a:r>
            <a:endParaRPr lang="en-US" sz="3800" dirty="0"/>
          </a:p>
        </p:txBody>
      </p:sp>
      <p:sp>
        <p:nvSpPr>
          <p:cNvPr id="7" name="Text 5"/>
          <p:cNvSpPr/>
          <p:nvPr/>
        </p:nvSpPr>
        <p:spPr>
          <a:xfrm>
            <a:off x="548640" y="4343400"/>
            <a:ext cx="9144000" cy="548640"/>
          </a:xfrm>
          <a:prstGeom prst="rect">
            <a:avLst/>
          </a:prstGeom>
          <a:noFill/>
          <a:ln/>
        </p:spPr>
        <p:txBody>
          <a:bodyPr wrap="square" lIns="0" tIns="0" rIns="0" bIns="0" rtlCol="0" anchor="ctr"/>
          <a:lstStyle/>
          <a:p>
            <a:pPr indent="0" marL="0">
              <a:buNone/>
            </a:pPr>
            <a:r>
              <a:rPr lang="en-US" sz="1500" i="1" dirty="0">
                <a:solidFill>
                  <a:srgbClr val="AFC8DC"/>
                </a:solidFill>
                <a:latin typeface="Arial" pitchFamily="34" charset="0"/>
                <a:ea typeface="Arial" pitchFamily="34" charset="-122"/>
                <a:cs typeface="Arial" pitchFamily="34" charset="-120"/>
              </a:rPr>
              <a:t>Suivre les consommations, respecter les délais et intégrer la Transition Écologique et Énergétique</a:t>
            </a:r>
            <a:endParaRPr lang="en-US" sz="1500" dirty="0"/>
          </a:p>
        </p:txBody>
      </p:sp>
      <p:sp>
        <p:nvSpPr>
          <p:cNvPr id="8"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8CC"/>
                </a:solidFill>
                <a:latin typeface="Arial" pitchFamily="34" charset="0"/>
                <a:ea typeface="Arial" pitchFamily="34" charset="-122"/>
                <a:cs typeface="Arial" pitchFamily="34" charset="-120"/>
              </a:rPr>
              <a:t>CQP CAE – M20 – Coordination et suivi opérationnel</a:t>
            </a:r>
            <a:endParaRPr lang="en-US" sz="900" dirty="0"/>
          </a:p>
        </p:txBody>
      </p:sp>
      <p:sp>
        <p:nvSpPr>
          <p:cNvPr id="9" name="Text 7"/>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9FB8CC"/>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463040" cy="384048"/>
          </a:xfrm>
          <a:prstGeom prst="roundRect">
            <a:avLst>
              <a:gd name="adj" fmla="val 19048"/>
            </a:avLst>
          </a:prstGeom>
          <a:solidFill>
            <a:srgbClr val="16324F"/>
          </a:solidFill>
          <a:ln/>
        </p:spPr>
      </p:sp>
      <p:sp>
        <p:nvSpPr>
          <p:cNvPr id="3" name="Text 1"/>
          <p:cNvSpPr/>
          <p:nvPr/>
        </p:nvSpPr>
        <p:spPr>
          <a:xfrm>
            <a:off x="548640" y="457200"/>
            <a:ext cx="14630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BLOC 2</a:t>
            </a:r>
            <a:endParaRPr lang="en-US" sz="1200" dirty="0"/>
          </a:p>
        </p:txBody>
      </p:sp>
      <p:sp>
        <p:nvSpPr>
          <p:cNvPr id="4" name="Text 2"/>
          <p:cNvSpPr/>
          <p:nvPr/>
        </p:nvSpPr>
        <p:spPr>
          <a:xfrm>
            <a:off x="2286000" y="457200"/>
            <a:ext cx="7772400" cy="384048"/>
          </a:xfrm>
          <a:prstGeom prst="rect">
            <a:avLst/>
          </a:prstGeom>
          <a:noFill/>
          <a:ln/>
        </p:spPr>
        <p:txBody>
          <a:bodyPr wrap="square" lIns="0" tIns="0" rIns="0" bIns="0" rtlCol="0" anchor="ctr"/>
          <a:lstStyle/>
          <a:p>
            <a:pPr indent="0" marL="0">
              <a:buNone/>
            </a:pPr>
            <a:r>
              <a:rPr lang="en-US" sz="1600" b="1" dirty="0">
                <a:solidFill>
                  <a:srgbClr val="16324F"/>
                </a:solidFill>
                <a:latin typeface="Arial" pitchFamily="34" charset="0"/>
                <a:ea typeface="Arial" pitchFamily="34" charset="-122"/>
                <a:cs typeface="Arial" pitchFamily="34" charset="-120"/>
              </a:rPr>
              <a:t>Compétence visée et critères d'évaluation</a:t>
            </a:r>
            <a:endParaRPr lang="en-US" sz="1600" dirty="0"/>
          </a:p>
        </p:txBody>
      </p:sp>
      <p:sp>
        <p:nvSpPr>
          <p:cNvPr id="5" name="Shape 3"/>
          <p:cNvSpPr/>
          <p:nvPr/>
        </p:nvSpPr>
        <p:spPr>
          <a:xfrm>
            <a:off x="548640" y="1051560"/>
            <a:ext cx="11094415" cy="1051560"/>
          </a:xfrm>
          <a:prstGeom prst="roundRect">
            <a:avLst>
              <a:gd name="adj" fmla="val 6957"/>
            </a:avLst>
          </a:prstGeom>
          <a:solidFill>
            <a:srgbClr val="16324F"/>
          </a:solidFill>
          <a:ln/>
        </p:spPr>
      </p:sp>
      <p:sp>
        <p:nvSpPr>
          <p:cNvPr id="6" name="Text 4"/>
          <p:cNvSpPr/>
          <p:nvPr/>
        </p:nvSpPr>
        <p:spPr>
          <a:xfrm>
            <a:off x="822960" y="1051560"/>
            <a:ext cx="10545775" cy="1051560"/>
          </a:xfrm>
          <a:prstGeom prst="rect">
            <a:avLst/>
          </a:prstGeom>
          <a:noFill/>
          <a:ln/>
        </p:spPr>
        <p:txBody>
          <a:bodyPr wrap="square" lIns="0" tIns="0" rIns="0" bIns="0" rtlCol="0" anchor="ctr"/>
          <a:lstStyle/>
          <a:p>
            <a:pPr indent="0" marL="0">
              <a:lnSpc>
                <a:spcPct val="115000"/>
              </a:lnSpc>
              <a:buNone/>
            </a:pPr>
            <a:r>
              <a:rPr lang="en-US" sz="1350" dirty="0">
                <a:solidFill>
                  <a:srgbClr val="FFFFFF"/>
                </a:solidFill>
                <a:latin typeface="Arial" pitchFamily="34" charset="0"/>
                <a:ea typeface="Arial" pitchFamily="34" charset="-122"/>
                <a:cs typeface="Arial" pitchFamily="34" charset="-120"/>
              </a:rPr>
              <a:t>Approvisionner en fournitures nécessaires aux activités des occupants, en suivant les consommations, en respectant les délais de livraison et en archivant les documents administratifs, afin de maintenir la continuité des activités et optimiser l'organisation du travail.</a:t>
            </a:r>
            <a:endParaRPr lang="en-US" sz="1350" dirty="0"/>
          </a:p>
        </p:txBody>
      </p:sp>
      <p:sp>
        <p:nvSpPr>
          <p:cNvPr id="7" name="Text 5"/>
          <p:cNvSpPr/>
          <p:nvPr/>
        </p:nvSpPr>
        <p:spPr>
          <a:xfrm>
            <a:off x="548640" y="2331720"/>
            <a:ext cx="7315200" cy="320040"/>
          </a:xfrm>
          <a:prstGeom prst="rect">
            <a:avLst/>
          </a:prstGeom>
          <a:noFill/>
          <a:ln/>
        </p:spPr>
        <p:txBody>
          <a:bodyPr wrap="square" lIns="0" tIns="0" rIns="0" bIns="0" rtlCol="0" anchor="ctr"/>
          <a:lstStyle/>
          <a:p>
            <a:pPr indent="0" marL="0">
              <a:buNone/>
            </a:pPr>
            <a:r>
              <a:rPr lang="en-US" sz="1200" b="1" spc="100" kern="0" dirty="0">
                <a:solidFill>
                  <a:srgbClr val="2E9CCA"/>
                </a:solidFill>
                <a:latin typeface="Arial" pitchFamily="34" charset="0"/>
                <a:ea typeface="Arial" pitchFamily="34" charset="-122"/>
                <a:cs typeface="Arial" pitchFamily="34" charset="-120"/>
              </a:rPr>
              <a:t>CRITÈRES D'ÉVALUATION ASSOCIÉS</a:t>
            </a:r>
            <a:endParaRPr lang="en-US" sz="1200" dirty="0"/>
          </a:p>
        </p:txBody>
      </p:sp>
      <p:sp>
        <p:nvSpPr>
          <p:cNvPr id="8" name="Shape 6"/>
          <p:cNvSpPr/>
          <p:nvPr/>
        </p:nvSpPr>
        <p:spPr>
          <a:xfrm>
            <a:off x="548640" y="2743200"/>
            <a:ext cx="146304" cy="146304"/>
          </a:xfrm>
          <a:prstGeom prst="ellipse">
            <a:avLst/>
          </a:prstGeom>
          <a:solidFill>
            <a:srgbClr val="E4572E"/>
          </a:solidFill>
          <a:ln/>
        </p:spPr>
      </p:sp>
      <p:sp>
        <p:nvSpPr>
          <p:cNvPr id="9" name="Text 7"/>
          <p:cNvSpPr/>
          <p:nvPr/>
        </p:nvSpPr>
        <p:spPr>
          <a:xfrm>
            <a:off x="868680" y="2624328"/>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Les besoins sont anticipés et les commandes sont passées en respectant les délais.</a:t>
            </a:r>
            <a:endParaRPr lang="en-US" sz="1200" dirty="0"/>
          </a:p>
        </p:txBody>
      </p:sp>
      <p:sp>
        <p:nvSpPr>
          <p:cNvPr id="10" name="Shape 8"/>
          <p:cNvSpPr/>
          <p:nvPr/>
        </p:nvSpPr>
        <p:spPr>
          <a:xfrm>
            <a:off x="548640" y="3310128"/>
            <a:ext cx="146304" cy="146304"/>
          </a:xfrm>
          <a:prstGeom prst="ellipse">
            <a:avLst/>
          </a:prstGeom>
          <a:solidFill>
            <a:srgbClr val="E4572E"/>
          </a:solidFill>
          <a:ln/>
        </p:spPr>
      </p:sp>
      <p:sp>
        <p:nvSpPr>
          <p:cNvPr id="11" name="Text 9"/>
          <p:cNvSpPr/>
          <p:nvPr/>
        </p:nvSpPr>
        <p:spPr>
          <a:xfrm>
            <a:off x="868680" y="3191256"/>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L'approvisionnement et la gestion des stocks de fournitures nécessaires sont efficaces.</a:t>
            </a:r>
            <a:endParaRPr lang="en-US" sz="1200" dirty="0"/>
          </a:p>
        </p:txBody>
      </p:sp>
      <p:sp>
        <p:nvSpPr>
          <p:cNvPr id="12" name="Shape 10"/>
          <p:cNvSpPr/>
          <p:nvPr/>
        </p:nvSpPr>
        <p:spPr>
          <a:xfrm>
            <a:off x="548640" y="3877056"/>
            <a:ext cx="146304" cy="146304"/>
          </a:xfrm>
          <a:prstGeom prst="ellipse">
            <a:avLst/>
          </a:prstGeom>
          <a:solidFill>
            <a:srgbClr val="E4572E"/>
          </a:solidFill>
          <a:ln/>
        </p:spPr>
      </p:sp>
      <p:sp>
        <p:nvSpPr>
          <p:cNvPr id="13" name="Text 11"/>
          <p:cNvSpPr/>
          <p:nvPr/>
        </p:nvSpPr>
        <p:spPr>
          <a:xfrm>
            <a:off x="868680" y="3758184"/>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L'inventaire et la gestion raisonnée dans le cadre de la Transition Écologique et Énergétique des consommations sont maintenus à jour pour éviter les ruptures de stock.</a:t>
            </a:r>
            <a:endParaRPr lang="en-US" sz="1200" dirty="0"/>
          </a:p>
        </p:txBody>
      </p:sp>
      <p:sp>
        <p:nvSpPr>
          <p:cNvPr id="14" name="Text 12"/>
          <p:cNvSpPr/>
          <p:nvPr/>
        </p:nvSpPr>
        <p:spPr>
          <a:xfrm>
            <a:off x="548640" y="6035040"/>
            <a:ext cx="11094415" cy="365760"/>
          </a:xfrm>
          <a:prstGeom prst="rect">
            <a:avLst/>
          </a:prstGeom>
          <a:noFill/>
          <a:ln/>
        </p:spPr>
        <p:txBody>
          <a:bodyPr wrap="square" lIns="0" tIns="0" rIns="0" bIns="0" rtlCol="0" anchor="ctr"/>
          <a:lstStyle/>
          <a:p>
            <a:pPr indent="0" marL="0">
              <a:buNone/>
            </a:pPr>
            <a:r>
              <a:rPr lang="en-US" sz="1150" i="1" dirty="0">
                <a:solidFill>
                  <a:srgbClr val="51606E"/>
                </a:solidFill>
                <a:latin typeface="Arial" pitchFamily="34" charset="0"/>
                <a:ea typeface="Arial" pitchFamily="34" charset="-122"/>
                <a:cs typeface="Arial" pitchFamily="34" charset="-120"/>
              </a:rPr>
              <a:t>Séquences de ce bloc : 4. Processus d'approvisionnement – 5. Suivi des stocks et TEE</a:t>
            </a:r>
            <a:endParaRPr lang="en-US" sz="1150" dirty="0"/>
          </a:p>
        </p:txBody>
      </p:sp>
      <p:sp>
        <p:nvSpPr>
          <p:cNvPr id="15"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6" name="Text 1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4</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Appliquer le processus d'approvisionnement</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Appliquer le processus d'approvisionnement des fournitures en fonction des consommations et des besoins identifiés.</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Connaître les étapes du processus d'approvisionnement : recensement du besoin, commande, réception, archivage.</a:t>
            </a:r>
            <a:endParaRPr lang="en-US" sz="1400" dirty="0"/>
          </a:p>
        </p:txBody>
      </p:sp>
      <p:sp>
        <p:nvSpPr>
          <p:cNvPr id="11" name="Shape 9"/>
          <p:cNvSpPr/>
          <p:nvPr/>
        </p:nvSpPr>
        <p:spPr>
          <a:xfrm>
            <a:off x="548640" y="2932938"/>
            <a:ext cx="310896" cy="310896"/>
          </a:xfrm>
          <a:prstGeom prst="roundRect">
            <a:avLst>
              <a:gd name="adj" fmla="val 20588"/>
            </a:avLst>
          </a:prstGeom>
          <a:solidFill>
            <a:srgbClr val="16324F"/>
          </a:solidFill>
          <a:ln/>
        </p:spPr>
      </p:sp>
      <p:sp>
        <p:nvSpPr>
          <p:cNvPr id="12" name="Text 10"/>
          <p:cNvSpPr/>
          <p:nvPr/>
        </p:nvSpPr>
        <p:spPr>
          <a:xfrm>
            <a:off x="548640" y="293293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284149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Identifier les informations nécessaires à une demande d'approvisionnement : délais, quantités, fournisseurs.</a:t>
            </a:r>
            <a:endParaRPr lang="en-US" sz="1400" dirty="0"/>
          </a:p>
        </p:txBody>
      </p:sp>
      <p:sp>
        <p:nvSpPr>
          <p:cNvPr id="14" name="Shape 12"/>
          <p:cNvSpPr/>
          <p:nvPr/>
        </p:nvSpPr>
        <p:spPr>
          <a:xfrm>
            <a:off x="548640" y="3424428"/>
            <a:ext cx="310896" cy="310896"/>
          </a:xfrm>
          <a:prstGeom prst="roundRect">
            <a:avLst>
              <a:gd name="adj" fmla="val 20588"/>
            </a:avLst>
          </a:prstGeom>
          <a:solidFill>
            <a:srgbClr val="16324F"/>
          </a:solidFill>
          <a:ln/>
        </p:spPr>
      </p:sp>
      <p:sp>
        <p:nvSpPr>
          <p:cNvPr id="15" name="Text 13"/>
          <p:cNvSpPr/>
          <p:nvPr/>
        </p:nvSpPr>
        <p:spPr>
          <a:xfrm>
            <a:off x="548640" y="342442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33298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Distinguer besoin réel, stock disponible et quantité à commander.</a:t>
            </a:r>
            <a:endParaRPr lang="en-US" sz="1400" dirty="0"/>
          </a:p>
        </p:txBody>
      </p:sp>
      <p:sp>
        <p:nvSpPr>
          <p:cNvPr id="17" name="Shape 15"/>
          <p:cNvSpPr/>
          <p:nvPr/>
        </p:nvSpPr>
        <p:spPr>
          <a:xfrm>
            <a:off x="548640" y="3915918"/>
            <a:ext cx="310896" cy="310896"/>
          </a:xfrm>
          <a:prstGeom prst="roundRect">
            <a:avLst>
              <a:gd name="adj" fmla="val 20588"/>
            </a:avLst>
          </a:prstGeom>
          <a:solidFill>
            <a:srgbClr val="16324F"/>
          </a:solidFill>
          <a:ln/>
        </p:spPr>
      </p:sp>
      <p:sp>
        <p:nvSpPr>
          <p:cNvPr id="18" name="Text 16"/>
          <p:cNvSpPr/>
          <p:nvPr/>
        </p:nvSpPr>
        <p:spPr>
          <a:xfrm>
            <a:off x="548640" y="391591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9" name="Text 17"/>
          <p:cNvSpPr/>
          <p:nvPr/>
        </p:nvSpPr>
        <p:spPr>
          <a:xfrm>
            <a:off x="1051560" y="382447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Respecter les délais de livraison pour garantir la continuité des activités.</a:t>
            </a:r>
            <a:endParaRPr lang="en-US" sz="1400" dirty="0"/>
          </a:p>
        </p:txBody>
      </p:sp>
      <p:sp>
        <p:nvSpPr>
          <p:cNvPr id="20" name="Shape 18"/>
          <p:cNvSpPr/>
          <p:nvPr/>
        </p:nvSpPr>
        <p:spPr>
          <a:xfrm>
            <a:off x="548640" y="5806440"/>
            <a:ext cx="11094415" cy="502920"/>
          </a:xfrm>
          <a:prstGeom prst="roundRect">
            <a:avLst>
              <a:gd name="adj" fmla="val 14545"/>
            </a:avLst>
          </a:prstGeom>
          <a:solidFill>
            <a:srgbClr val="EAF5FB"/>
          </a:solidFill>
          <a:ln/>
        </p:spPr>
      </p:sp>
      <p:sp>
        <p:nvSpPr>
          <p:cNvPr id="21" name="Text 19"/>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Fiche de besoin ; bon de commande / demande d'approvisionnement simulée ; étude de cas sur les consommations.</a:t>
            </a:r>
            <a:endParaRPr lang="en-US" sz="110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3" name="Text 2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4</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Étude de cas : simuler une demande d'approvisionnement</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À partir d'un niveau de consommation et d'un besoin à venir, déterminer quoi approvisionner, en quelle quantité et à quel moment.</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Simuler une demande d'approvisionnement en vérifiant les informations nécessaires.</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Ordonner les étapes du processus d'approvisionnement.</a:t>
            </a:r>
            <a:endParaRPr lang="en-US" sz="1300" dirty="0"/>
          </a:p>
        </p:txBody>
      </p:sp>
      <p:sp>
        <p:nvSpPr>
          <p:cNvPr id="19" name="Shape 17"/>
          <p:cNvSpPr/>
          <p:nvPr/>
        </p:nvSpPr>
        <p:spPr>
          <a:xfrm>
            <a:off x="914400" y="5074920"/>
            <a:ext cx="10362895" cy="411480"/>
          </a:xfrm>
          <a:prstGeom prst="roundRect">
            <a:avLst>
              <a:gd name="adj" fmla="val 13333"/>
            </a:avLst>
          </a:prstGeom>
          <a:solidFill>
            <a:srgbClr val="E7F2F8"/>
          </a:solidFill>
          <a:ln/>
        </p:spPr>
      </p:sp>
      <p:sp>
        <p:nvSpPr>
          <p:cNvPr id="20" name="Text 18"/>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individuel puis mise en commun – 18 minutes.</a:t>
            </a:r>
            <a:endParaRPr lang="en-US" sz="1150" dirty="0"/>
          </a:p>
        </p:txBody>
      </p:sp>
      <p:sp>
        <p:nvSpPr>
          <p:cNvPr id="21"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2"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4</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Correction du cas chiffré</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Validation collective de la quantité et du délai retenus dans le cas.</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Reprise ordonnée des étapes du processus d'approvisionnement.</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une confusion entre besoin réel, stock disponible et quantité à commander.</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s'appuyer sur un cas chiffré simple et une check-list du processus d'approvisionnement.</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5</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Suivre les stocks et intégrer la Transition Écologique et Énergétique</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Mettre en œuvre le suivi des stocks et des consommations de fournitures en intégrant les exigences de gestion raisonnée liées à la Transition Écologique et Énergétique (TEE).</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Réaliser et mettre à jour un inventaire des fournitures.</a:t>
            </a:r>
            <a:endParaRPr lang="en-US" sz="1400" dirty="0"/>
          </a:p>
        </p:txBody>
      </p:sp>
      <p:sp>
        <p:nvSpPr>
          <p:cNvPr id="11" name="Shape 9"/>
          <p:cNvSpPr/>
          <p:nvPr/>
        </p:nvSpPr>
        <p:spPr>
          <a:xfrm>
            <a:off x="548640" y="2932938"/>
            <a:ext cx="310896" cy="310896"/>
          </a:xfrm>
          <a:prstGeom prst="roundRect">
            <a:avLst>
              <a:gd name="adj" fmla="val 20588"/>
            </a:avLst>
          </a:prstGeom>
          <a:solidFill>
            <a:srgbClr val="16324F"/>
          </a:solidFill>
          <a:ln/>
        </p:spPr>
      </p:sp>
      <p:sp>
        <p:nvSpPr>
          <p:cNvPr id="12" name="Text 10"/>
          <p:cNvSpPr/>
          <p:nvPr/>
        </p:nvSpPr>
        <p:spPr>
          <a:xfrm>
            <a:off x="548640" y="293293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284149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Suivre les indicateurs de consommation et identifier les seuils d'alerte (risque de rupture de stock).</a:t>
            </a:r>
            <a:endParaRPr lang="en-US" sz="1400" dirty="0"/>
          </a:p>
        </p:txBody>
      </p:sp>
      <p:sp>
        <p:nvSpPr>
          <p:cNvPr id="14" name="Shape 12"/>
          <p:cNvSpPr/>
          <p:nvPr/>
        </p:nvSpPr>
        <p:spPr>
          <a:xfrm>
            <a:off x="548640" y="3424428"/>
            <a:ext cx="310896" cy="310896"/>
          </a:xfrm>
          <a:prstGeom prst="roundRect">
            <a:avLst>
              <a:gd name="adj" fmla="val 20588"/>
            </a:avLst>
          </a:prstGeom>
          <a:solidFill>
            <a:srgbClr val="16324F"/>
          </a:solidFill>
          <a:ln/>
        </p:spPr>
      </p:sp>
      <p:sp>
        <p:nvSpPr>
          <p:cNvPr id="15" name="Text 13"/>
          <p:cNvSpPr/>
          <p:nvPr/>
        </p:nvSpPr>
        <p:spPr>
          <a:xfrm>
            <a:off x="548640" y="342442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33298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Intégrer les exigences de gestion raisonnée liées à la Transition Écologique et Énergétique.</a:t>
            </a:r>
            <a:endParaRPr lang="en-US" sz="1400" dirty="0"/>
          </a:p>
        </p:txBody>
      </p:sp>
      <p:sp>
        <p:nvSpPr>
          <p:cNvPr id="17" name="Shape 15"/>
          <p:cNvSpPr/>
          <p:nvPr/>
        </p:nvSpPr>
        <p:spPr>
          <a:xfrm>
            <a:off x="548640" y="3915918"/>
            <a:ext cx="310896" cy="310896"/>
          </a:xfrm>
          <a:prstGeom prst="roundRect">
            <a:avLst>
              <a:gd name="adj" fmla="val 20588"/>
            </a:avLst>
          </a:prstGeom>
          <a:solidFill>
            <a:srgbClr val="16324F"/>
          </a:solidFill>
          <a:ln/>
        </p:spPr>
      </p:sp>
      <p:sp>
        <p:nvSpPr>
          <p:cNvPr id="18" name="Text 16"/>
          <p:cNvSpPr/>
          <p:nvPr/>
        </p:nvSpPr>
        <p:spPr>
          <a:xfrm>
            <a:off x="548640" y="391591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9" name="Text 17"/>
          <p:cNvSpPr/>
          <p:nvPr/>
        </p:nvSpPr>
        <p:spPr>
          <a:xfrm>
            <a:off x="1051560" y="382447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Limiter le gaspillage, le surstockage et les commandes inutiles.</a:t>
            </a:r>
            <a:endParaRPr lang="en-US" sz="1400" dirty="0"/>
          </a:p>
        </p:txBody>
      </p:sp>
      <p:sp>
        <p:nvSpPr>
          <p:cNvPr id="20" name="Shape 18"/>
          <p:cNvSpPr/>
          <p:nvPr/>
        </p:nvSpPr>
        <p:spPr>
          <a:xfrm>
            <a:off x="548640" y="5806440"/>
            <a:ext cx="11094415" cy="502920"/>
          </a:xfrm>
          <a:prstGeom prst="roundRect">
            <a:avLst>
              <a:gd name="adj" fmla="val 14545"/>
            </a:avLst>
          </a:prstGeom>
          <a:solidFill>
            <a:srgbClr val="EAF5FB"/>
          </a:solidFill>
          <a:ln/>
        </p:spPr>
      </p:sp>
      <p:sp>
        <p:nvSpPr>
          <p:cNvPr id="21" name="Text 19"/>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Fiche de stock ; inventaire simulé ; indicateurs de consommation ; exercice de gestion raisonnée et TEE.</a:t>
            </a:r>
            <a:endParaRPr lang="en-US" sz="110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3" name="Text 2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5</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Mini-inventaire et gestion raisonnée</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Réaliser un mini-inventaire et calculer / repérer les consommations.</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Identifier les seuils de stock nécessitant une action.</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Proposer des mesures limitant le gaspillage, le surstockage et les commandes inutiles, en lien avec la TEE.</a:t>
            </a:r>
            <a:endParaRPr lang="en-US" sz="1300" dirty="0"/>
          </a:p>
        </p:txBody>
      </p:sp>
      <p:sp>
        <p:nvSpPr>
          <p:cNvPr id="19" name="Shape 17"/>
          <p:cNvSpPr/>
          <p:nvPr/>
        </p:nvSpPr>
        <p:spPr>
          <a:xfrm>
            <a:off x="914400" y="5074920"/>
            <a:ext cx="10362895" cy="411480"/>
          </a:xfrm>
          <a:prstGeom prst="roundRect">
            <a:avLst>
              <a:gd name="adj" fmla="val 13333"/>
            </a:avLst>
          </a:prstGeom>
          <a:solidFill>
            <a:srgbClr val="E7F2F8"/>
          </a:solidFill>
          <a:ln/>
        </p:spPr>
      </p:sp>
      <p:sp>
        <p:nvSpPr>
          <p:cNvPr id="20" name="Text 18"/>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en sous-groupes – 18 minutes.</a:t>
            </a:r>
            <a:endParaRPr lang="en-US" sz="1150" dirty="0"/>
          </a:p>
        </p:txBody>
      </p:sp>
      <p:sp>
        <p:nvSpPr>
          <p:cNvPr id="21"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2"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5</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Mise en commun des mesures proposées</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Présentation des mesures proposées par chaque sous-groupe et de leur pertinence.</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Échange sur les leviers de gestion raisonnée des consommations.</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une difficulté à relier concrètement gestion de stock et Transition Écologique et Énergétique.</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illustrer avec des exemples concrets : surconsommation, gaspillage, réemploi, ajustement des seuils.</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548640" y="502920"/>
            <a:ext cx="7315200" cy="365760"/>
          </a:xfrm>
          <a:prstGeom prst="rect">
            <a:avLst/>
          </a:prstGeom>
          <a:noFill/>
          <a:ln/>
        </p:spPr>
        <p:txBody>
          <a:bodyPr wrap="square" lIns="0" tIns="0" rIns="0" bIns="0" rtlCol="0" anchor="ctr"/>
          <a:lstStyle/>
          <a:p>
            <a:pPr indent="0" marL="0">
              <a:buNone/>
            </a:pPr>
            <a:r>
              <a:rPr lang="en-US" sz="1400" b="1" spc="200" kern="0" dirty="0">
                <a:solidFill>
                  <a:srgbClr val="2E9CCA"/>
                </a:solidFill>
                <a:latin typeface="Arial" pitchFamily="34" charset="0"/>
                <a:ea typeface="Arial" pitchFamily="34" charset="-122"/>
                <a:cs typeface="Arial" pitchFamily="34" charset="-120"/>
              </a:rPr>
              <a:t>SYNTHÈSE – BLOC 2</a:t>
            </a:r>
            <a:endParaRPr lang="en-US" sz="1400" dirty="0"/>
          </a:p>
        </p:txBody>
      </p:sp>
      <p:sp>
        <p:nvSpPr>
          <p:cNvPr id="3" name="Text 1"/>
          <p:cNvSpPr/>
          <p:nvPr/>
        </p:nvSpPr>
        <p:spPr>
          <a:xfrm>
            <a:off x="548640" y="914400"/>
            <a:ext cx="9601200" cy="6400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Approvisionner en fournitures</a:t>
            </a:r>
            <a:endParaRPr lang="en-US" sz="2400" dirty="0"/>
          </a:p>
        </p:txBody>
      </p:sp>
      <p:sp>
        <p:nvSpPr>
          <p:cNvPr id="4" name="Text 2"/>
          <p:cNvSpPr/>
          <p:nvPr/>
        </p:nvSpPr>
        <p:spPr>
          <a:xfrm>
            <a:off x="548640" y="1691640"/>
            <a:ext cx="7315200" cy="320040"/>
          </a:xfrm>
          <a:prstGeom prst="rect">
            <a:avLst/>
          </a:prstGeom>
          <a:noFill/>
          <a:ln/>
        </p:spPr>
        <p:txBody>
          <a:bodyPr wrap="square" lIns="0" tIns="0" rIns="0" bIns="0" rtlCol="0" anchor="ctr"/>
          <a:lstStyle/>
          <a:p>
            <a:pPr indent="0" marL="0">
              <a:buNone/>
            </a:pPr>
            <a:r>
              <a:rPr lang="en-US" sz="1300" i="1" dirty="0">
                <a:solidFill>
                  <a:srgbClr val="AFC8DC"/>
                </a:solidFill>
                <a:latin typeface="Arial" pitchFamily="34" charset="0"/>
                <a:ea typeface="Arial" pitchFamily="34" charset="-122"/>
                <a:cs typeface="Arial" pitchFamily="34" charset="-120"/>
              </a:rPr>
              <a:t>Ce qui doit être acquis à ce stade :</a:t>
            </a:r>
            <a:endParaRPr lang="en-US" sz="1300" dirty="0"/>
          </a:p>
        </p:txBody>
      </p:sp>
      <p:sp>
        <p:nvSpPr>
          <p:cNvPr id="5" name="Shape 3"/>
          <p:cNvSpPr/>
          <p:nvPr/>
        </p:nvSpPr>
        <p:spPr>
          <a:xfrm>
            <a:off x="548640" y="2057400"/>
            <a:ext cx="11094415" cy="777240"/>
          </a:xfrm>
          <a:prstGeom prst="roundRect">
            <a:avLst>
              <a:gd name="adj" fmla="val 9412"/>
            </a:avLst>
          </a:prstGeom>
          <a:solidFill>
            <a:srgbClr val="1F4368"/>
          </a:solidFill>
          <a:ln/>
        </p:spPr>
      </p:sp>
      <p:sp>
        <p:nvSpPr>
          <p:cNvPr id="6" name="Shape 4"/>
          <p:cNvSpPr/>
          <p:nvPr/>
        </p:nvSpPr>
        <p:spPr>
          <a:xfrm>
            <a:off x="777240" y="2350008"/>
            <a:ext cx="182880" cy="182880"/>
          </a:xfrm>
          <a:prstGeom prst="ellipse">
            <a:avLst/>
          </a:prstGeom>
          <a:solidFill>
            <a:srgbClr val="2E9CCA"/>
          </a:solidFill>
          <a:ln/>
        </p:spPr>
      </p:sp>
      <p:sp>
        <p:nvSpPr>
          <p:cNvPr id="7" name="Text 5"/>
          <p:cNvSpPr/>
          <p:nvPr/>
        </p:nvSpPr>
        <p:spPr>
          <a:xfrm>
            <a:off x="1143000" y="21305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Les besoins sont anticipés et les commandes sont passées en respectant les délais.</a:t>
            </a:r>
            <a:endParaRPr lang="en-US" sz="1250" dirty="0"/>
          </a:p>
        </p:txBody>
      </p:sp>
      <p:sp>
        <p:nvSpPr>
          <p:cNvPr id="8" name="Shape 6"/>
          <p:cNvSpPr/>
          <p:nvPr/>
        </p:nvSpPr>
        <p:spPr>
          <a:xfrm>
            <a:off x="548640" y="2971800"/>
            <a:ext cx="11094415" cy="777240"/>
          </a:xfrm>
          <a:prstGeom prst="roundRect">
            <a:avLst>
              <a:gd name="adj" fmla="val 9412"/>
            </a:avLst>
          </a:prstGeom>
          <a:solidFill>
            <a:srgbClr val="1F4368"/>
          </a:solidFill>
          <a:ln/>
        </p:spPr>
      </p:sp>
      <p:sp>
        <p:nvSpPr>
          <p:cNvPr id="9" name="Shape 7"/>
          <p:cNvSpPr/>
          <p:nvPr/>
        </p:nvSpPr>
        <p:spPr>
          <a:xfrm>
            <a:off x="777240" y="3264408"/>
            <a:ext cx="182880" cy="182880"/>
          </a:xfrm>
          <a:prstGeom prst="ellipse">
            <a:avLst/>
          </a:prstGeom>
          <a:solidFill>
            <a:srgbClr val="2E9CCA"/>
          </a:solidFill>
          <a:ln/>
        </p:spPr>
      </p:sp>
      <p:sp>
        <p:nvSpPr>
          <p:cNvPr id="10" name="Text 8"/>
          <p:cNvSpPr/>
          <p:nvPr/>
        </p:nvSpPr>
        <p:spPr>
          <a:xfrm>
            <a:off x="1143000" y="30449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L'approvisionnement et la gestion des stocks de fournitures nécessaires sont efficaces.</a:t>
            </a:r>
            <a:endParaRPr lang="en-US" sz="1250" dirty="0"/>
          </a:p>
        </p:txBody>
      </p:sp>
      <p:sp>
        <p:nvSpPr>
          <p:cNvPr id="11" name="Shape 9"/>
          <p:cNvSpPr/>
          <p:nvPr/>
        </p:nvSpPr>
        <p:spPr>
          <a:xfrm>
            <a:off x="548640" y="3886200"/>
            <a:ext cx="11094415" cy="777240"/>
          </a:xfrm>
          <a:prstGeom prst="roundRect">
            <a:avLst>
              <a:gd name="adj" fmla="val 9412"/>
            </a:avLst>
          </a:prstGeom>
          <a:solidFill>
            <a:srgbClr val="1F4368"/>
          </a:solidFill>
          <a:ln/>
        </p:spPr>
      </p:sp>
      <p:sp>
        <p:nvSpPr>
          <p:cNvPr id="12" name="Shape 10"/>
          <p:cNvSpPr/>
          <p:nvPr/>
        </p:nvSpPr>
        <p:spPr>
          <a:xfrm>
            <a:off x="777240" y="4178808"/>
            <a:ext cx="182880" cy="182880"/>
          </a:xfrm>
          <a:prstGeom prst="ellipse">
            <a:avLst/>
          </a:prstGeom>
          <a:solidFill>
            <a:srgbClr val="2E9CCA"/>
          </a:solidFill>
          <a:ln/>
        </p:spPr>
      </p:sp>
      <p:sp>
        <p:nvSpPr>
          <p:cNvPr id="13" name="Text 11"/>
          <p:cNvSpPr/>
          <p:nvPr/>
        </p:nvSpPr>
        <p:spPr>
          <a:xfrm>
            <a:off x="1143000" y="39593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L'inventaire et la gestion raisonnée (TEE) des consommations sont maintenus à jour pour éviter les ruptures de stock.</a:t>
            </a:r>
            <a:endParaRPr lang="en-US" sz="1250" dirty="0"/>
          </a:p>
        </p:txBody>
      </p:sp>
      <p:sp>
        <p:nvSpPr>
          <p:cNvPr id="14" name="Text 12"/>
          <p:cNvSpPr/>
          <p:nvPr/>
        </p:nvSpPr>
        <p:spPr>
          <a:xfrm>
            <a:off x="548640" y="4892040"/>
            <a:ext cx="11094415" cy="457200"/>
          </a:xfrm>
          <a:prstGeom prst="rect">
            <a:avLst/>
          </a:prstGeom>
          <a:noFill/>
          <a:ln/>
        </p:spPr>
        <p:txBody>
          <a:bodyPr wrap="square" lIns="0" tIns="0" rIns="0" bIns="0" rtlCol="0" anchor="ctr"/>
          <a:lstStyle/>
          <a:p>
            <a:pPr indent="0" marL="0">
              <a:buNone/>
            </a:pPr>
            <a:r>
              <a:rPr lang="en-US" sz="1300" i="1" dirty="0">
                <a:solidFill>
                  <a:srgbClr val="2E9CCA"/>
                </a:solidFill>
                <a:latin typeface="Arial" pitchFamily="34" charset="0"/>
                <a:ea typeface="Arial" pitchFamily="34" charset="-122"/>
                <a:cs typeface="Arial" pitchFamily="34" charset="-120"/>
              </a:rPr>
              <a:t>Passons maintenant au suivi des interventions des prestataires jusqu'à leur clôture.</a:t>
            </a:r>
            <a:endParaRPr lang="en-US" sz="1300" dirty="0"/>
          </a:p>
        </p:txBody>
      </p:sp>
      <p:sp>
        <p:nvSpPr>
          <p:cNvPr id="15"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8CC"/>
                </a:solidFill>
                <a:latin typeface="Arial" pitchFamily="34" charset="0"/>
                <a:ea typeface="Arial" pitchFamily="34" charset="-122"/>
                <a:cs typeface="Arial" pitchFamily="34" charset="-120"/>
              </a:rPr>
              <a:t>CQP CAE – M20 – Coordination et suivi opérationnel</a:t>
            </a:r>
            <a:endParaRPr lang="en-US" sz="900" dirty="0"/>
          </a:p>
        </p:txBody>
      </p:sp>
      <p:sp>
        <p:nvSpPr>
          <p:cNvPr id="16" name="Text 1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9FB8CC"/>
                </a:solidFill>
                <a:latin typeface="Arial" pitchFamily="34" charset="0"/>
                <a:ea typeface="Arial" pitchFamily="34" charset="-122"/>
                <a:cs typeface="Arial"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p:spPr>
      </p:sp>
      <p:sp>
        <p:nvSpPr>
          <p:cNvPr id="3" name="Shape 1"/>
          <p:cNvSpPr/>
          <p:nvPr/>
        </p:nvSpPr>
        <p:spPr>
          <a:xfrm>
            <a:off x="8076895" y="-1828800"/>
            <a:ext cx="5486400" cy="5486400"/>
          </a:xfrm>
          <a:prstGeom prst="ellipse">
            <a:avLst/>
          </a:prstGeom>
          <a:solidFill>
            <a:srgbClr val="1F4368"/>
          </a:solidFill>
          <a:ln/>
        </p:spPr>
      </p:sp>
      <p:sp>
        <p:nvSpPr>
          <p:cNvPr id="4" name="Shape 2"/>
          <p:cNvSpPr/>
          <p:nvPr/>
        </p:nvSpPr>
        <p:spPr>
          <a:xfrm>
            <a:off x="9265615" y="-731520"/>
            <a:ext cx="3291840" cy="3291840"/>
          </a:xfrm>
          <a:prstGeom prst="ellipse">
            <a:avLst/>
          </a:prstGeom>
          <a:solidFill>
            <a:srgbClr val="2E9CCA">
              <a:alpha val="45000"/>
            </a:srgbClr>
          </a:solidFill>
          <a:ln/>
        </p:spPr>
      </p:sp>
      <p:sp>
        <p:nvSpPr>
          <p:cNvPr id="5" name="Text 3"/>
          <p:cNvSpPr/>
          <p:nvPr/>
        </p:nvSpPr>
        <p:spPr>
          <a:xfrm>
            <a:off x="548640" y="2286000"/>
            <a:ext cx="3657600" cy="457200"/>
          </a:xfrm>
          <a:prstGeom prst="rect">
            <a:avLst/>
          </a:prstGeom>
          <a:noFill/>
          <a:ln/>
        </p:spPr>
        <p:txBody>
          <a:bodyPr wrap="square" lIns="0" tIns="0" rIns="0" bIns="0" rtlCol="0" anchor="ctr"/>
          <a:lstStyle/>
          <a:p>
            <a:pPr indent="0" marL="0">
              <a:buNone/>
            </a:pPr>
            <a:r>
              <a:rPr lang="en-US" sz="1600" b="1" spc="300" kern="0" dirty="0">
                <a:solidFill>
                  <a:srgbClr val="2E9CCA"/>
                </a:solidFill>
                <a:latin typeface="Arial" pitchFamily="34" charset="0"/>
                <a:ea typeface="Arial" pitchFamily="34" charset="-122"/>
                <a:cs typeface="Arial" pitchFamily="34" charset="-120"/>
              </a:rPr>
              <a:t>BLOC 3</a:t>
            </a:r>
            <a:endParaRPr lang="en-US" sz="1600" dirty="0"/>
          </a:p>
        </p:txBody>
      </p:sp>
      <p:sp>
        <p:nvSpPr>
          <p:cNvPr id="6" name="Text 4"/>
          <p:cNvSpPr/>
          <p:nvPr/>
        </p:nvSpPr>
        <p:spPr>
          <a:xfrm>
            <a:off x="548640" y="2743200"/>
            <a:ext cx="9601200" cy="155448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Arial" pitchFamily="34" charset="0"/>
                <a:ea typeface="Arial" pitchFamily="34" charset="-122"/>
                <a:cs typeface="Arial" pitchFamily="34" charset="-120"/>
              </a:rPr>
              <a:t>Suivre les interventions des prestataires</a:t>
            </a:r>
            <a:endParaRPr lang="en-US" sz="3800" dirty="0"/>
          </a:p>
        </p:txBody>
      </p:sp>
      <p:sp>
        <p:nvSpPr>
          <p:cNvPr id="7" name="Text 5"/>
          <p:cNvSpPr/>
          <p:nvPr/>
        </p:nvSpPr>
        <p:spPr>
          <a:xfrm>
            <a:off x="548640" y="4343400"/>
            <a:ext cx="9144000" cy="548640"/>
          </a:xfrm>
          <a:prstGeom prst="rect">
            <a:avLst/>
          </a:prstGeom>
          <a:noFill/>
          <a:ln/>
        </p:spPr>
        <p:txBody>
          <a:bodyPr wrap="square" lIns="0" tIns="0" rIns="0" bIns="0" rtlCol="0" anchor="ctr"/>
          <a:lstStyle/>
          <a:p>
            <a:pPr indent="0" marL="0">
              <a:buNone/>
            </a:pPr>
            <a:r>
              <a:rPr lang="en-US" sz="1500" i="1" dirty="0">
                <a:solidFill>
                  <a:srgbClr val="AFC8DC"/>
                </a:solidFill>
                <a:latin typeface="Arial" pitchFamily="34" charset="0"/>
                <a:ea typeface="Arial" pitchFamily="34" charset="-122"/>
                <a:cs typeface="Arial" pitchFamily="34" charset="-120"/>
              </a:rPr>
              <a:t>Enregistrer, contrôler et assurer la traçabilité jusqu'à la clôture</a:t>
            </a:r>
            <a:endParaRPr lang="en-US" sz="1500" dirty="0"/>
          </a:p>
        </p:txBody>
      </p:sp>
      <p:sp>
        <p:nvSpPr>
          <p:cNvPr id="8"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8CC"/>
                </a:solidFill>
                <a:latin typeface="Arial" pitchFamily="34" charset="0"/>
                <a:ea typeface="Arial" pitchFamily="34" charset="-122"/>
                <a:cs typeface="Arial" pitchFamily="34" charset="-120"/>
              </a:rPr>
              <a:t>CQP CAE – M20 – Coordination et suivi opérationnel</a:t>
            </a:r>
            <a:endParaRPr lang="en-US" sz="900" dirty="0"/>
          </a:p>
        </p:txBody>
      </p:sp>
      <p:sp>
        <p:nvSpPr>
          <p:cNvPr id="9" name="Text 7"/>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9FB8CC"/>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463040" cy="384048"/>
          </a:xfrm>
          <a:prstGeom prst="roundRect">
            <a:avLst>
              <a:gd name="adj" fmla="val 19048"/>
            </a:avLst>
          </a:prstGeom>
          <a:solidFill>
            <a:srgbClr val="16324F"/>
          </a:solidFill>
          <a:ln/>
        </p:spPr>
      </p:sp>
      <p:sp>
        <p:nvSpPr>
          <p:cNvPr id="3" name="Text 1"/>
          <p:cNvSpPr/>
          <p:nvPr/>
        </p:nvSpPr>
        <p:spPr>
          <a:xfrm>
            <a:off x="548640" y="457200"/>
            <a:ext cx="14630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BLOC 3</a:t>
            </a:r>
            <a:endParaRPr lang="en-US" sz="1200" dirty="0"/>
          </a:p>
        </p:txBody>
      </p:sp>
      <p:sp>
        <p:nvSpPr>
          <p:cNvPr id="4" name="Text 2"/>
          <p:cNvSpPr/>
          <p:nvPr/>
        </p:nvSpPr>
        <p:spPr>
          <a:xfrm>
            <a:off x="2286000" y="457200"/>
            <a:ext cx="7772400" cy="384048"/>
          </a:xfrm>
          <a:prstGeom prst="rect">
            <a:avLst/>
          </a:prstGeom>
          <a:noFill/>
          <a:ln/>
        </p:spPr>
        <p:txBody>
          <a:bodyPr wrap="square" lIns="0" tIns="0" rIns="0" bIns="0" rtlCol="0" anchor="ctr"/>
          <a:lstStyle/>
          <a:p>
            <a:pPr indent="0" marL="0">
              <a:buNone/>
            </a:pPr>
            <a:r>
              <a:rPr lang="en-US" sz="1600" b="1" dirty="0">
                <a:solidFill>
                  <a:srgbClr val="16324F"/>
                </a:solidFill>
                <a:latin typeface="Arial" pitchFamily="34" charset="0"/>
                <a:ea typeface="Arial" pitchFamily="34" charset="-122"/>
                <a:cs typeface="Arial" pitchFamily="34" charset="-120"/>
              </a:rPr>
              <a:t>Compétence visée et critères d'évaluation</a:t>
            </a:r>
            <a:endParaRPr lang="en-US" sz="1600" dirty="0"/>
          </a:p>
        </p:txBody>
      </p:sp>
      <p:sp>
        <p:nvSpPr>
          <p:cNvPr id="5" name="Shape 3"/>
          <p:cNvSpPr/>
          <p:nvPr/>
        </p:nvSpPr>
        <p:spPr>
          <a:xfrm>
            <a:off x="548640" y="1051560"/>
            <a:ext cx="11094415" cy="1051560"/>
          </a:xfrm>
          <a:prstGeom prst="roundRect">
            <a:avLst>
              <a:gd name="adj" fmla="val 6957"/>
            </a:avLst>
          </a:prstGeom>
          <a:solidFill>
            <a:srgbClr val="16324F"/>
          </a:solidFill>
          <a:ln/>
        </p:spPr>
      </p:sp>
      <p:sp>
        <p:nvSpPr>
          <p:cNvPr id="6" name="Text 4"/>
          <p:cNvSpPr/>
          <p:nvPr/>
        </p:nvSpPr>
        <p:spPr>
          <a:xfrm>
            <a:off x="822960" y="1051560"/>
            <a:ext cx="10545775" cy="1051560"/>
          </a:xfrm>
          <a:prstGeom prst="rect">
            <a:avLst/>
          </a:prstGeom>
          <a:noFill/>
          <a:ln/>
        </p:spPr>
        <p:txBody>
          <a:bodyPr wrap="square" lIns="0" tIns="0" rIns="0" bIns="0" rtlCol="0" anchor="ctr"/>
          <a:lstStyle/>
          <a:p>
            <a:pPr indent="0" marL="0">
              <a:lnSpc>
                <a:spcPct val="115000"/>
              </a:lnSpc>
              <a:buNone/>
            </a:pPr>
            <a:r>
              <a:rPr lang="en-US" sz="1350" dirty="0">
                <a:solidFill>
                  <a:srgbClr val="FFFFFF"/>
                </a:solidFill>
                <a:latin typeface="Arial" pitchFamily="34" charset="0"/>
                <a:ea typeface="Arial" pitchFamily="34" charset="-122"/>
                <a:cs typeface="Arial" pitchFamily="34" charset="-120"/>
              </a:rPr>
              <a:t>Suivre les interventions des prestataires jusqu'à leur clôture, en utilisant des outils de suivi appropriés et en s'appuyant sur des applicatifs informatiques pour préserver l'efficacité des prestations et la traçabilité des actions.</a:t>
            </a:r>
            <a:endParaRPr lang="en-US" sz="1350" dirty="0"/>
          </a:p>
        </p:txBody>
      </p:sp>
      <p:sp>
        <p:nvSpPr>
          <p:cNvPr id="7" name="Text 5"/>
          <p:cNvSpPr/>
          <p:nvPr/>
        </p:nvSpPr>
        <p:spPr>
          <a:xfrm>
            <a:off x="548640" y="2331720"/>
            <a:ext cx="7315200" cy="320040"/>
          </a:xfrm>
          <a:prstGeom prst="rect">
            <a:avLst/>
          </a:prstGeom>
          <a:noFill/>
          <a:ln/>
        </p:spPr>
        <p:txBody>
          <a:bodyPr wrap="square" lIns="0" tIns="0" rIns="0" bIns="0" rtlCol="0" anchor="ctr"/>
          <a:lstStyle/>
          <a:p>
            <a:pPr indent="0" marL="0">
              <a:buNone/>
            </a:pPr>
            <a:r>
              <a:rPr lang="en-US" sz="1200" b="1" spc="100" kern="0" dirty="0">
                <a:solidFill>
                  <a:srgbClr val="2E9CCA"/>
                </a:solidFill>
                <a:latin typeface="Arial" pitchFamily="34" charset="0"/>
                <a:ea typeface="Arial" pitchFamily="34" charset="-122"/>
                <a:cs typeface="Arial" pitchFamily="34" charset="-120"/>
              </a:rPr>
              <a:t>CRITÈRES D'ÉVALUATION ASSOCIÉS</a:t>
            </a:r>
            <a:endParaRPr lang="en-US" sz="1200" dirty="0"/>
          </a:p>
        </p:txBody>
      </p:sp>
      <p:sp>
        <p:nvSpPr>
          <p:cNvPr id="8" name="Shape 6"/>
          <p:cNvSpPr/>
          <p:nvPr/>
        </p:nvSpPr>
        <p:spPr>
          <a:xfrm>
            <a:off x="548640" y="2743200"/>
            <a:ext cx="146304" cy="146304"/>
          </a:xfrm>
          <a:prstGeom prst="ellipse">
            <a:avLst/>
          </a:prstGeom>
          <a:solidFill>
            <a:srgbClr val="E4572E"/>
          </a:solidFill>
          <a:ln/>
        </p:spPr>
      </p:sp>
      <p:sp>
        <p:nvSpPr>
          <p:cNvPr id="9" name="Text 7"/>
          <p:cNvSpPr/>
          <p:nvPr/>
        </p:nvSpPr>
        <p:spPr>
          <a:xfrm>
            <a:off x="868680" y="2624328"/>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Les demandes d'interventions sont enregistrées et planifiées en fonction des priorités définies. Les délais d'exécution et les engagements contractuels sont vérifiés à chaque intervention.</a:t>
            </a:r>
            <a:endParaRPr lang="en-US" sz="1200" dirty="0"/>
          </a:p>
        </p:txBody>
      </p:sp>
      <p:sp>
        <p:nvSpPr>
          <p:cNvPr id="10" name="Shape 8"/>
          <p:cNvSpPr/>
          <p:nvPr/>
        </p:nvSpPr>
        <p:spPr>
          <a:xfrm>
            <a:off x="548640" y="3310128"/>
            <a:ext cx="146304" cy="146304"/>
          </a:xfrm>
          <a:prstGeom prst="ellipse">
            <a:avLst/>
          </a:prstGeom>
          <a:solidFill>
            <a:srgbClr val="E4572E"/>
          </a:solidFill>
          <a:ln/>
        </p:spPr>
      </p:sp>
      <p:sp>
        <p:nvSpPr>
          <p:cNvPr id="11" name="Text 9"/>
          <p:cNvSpPr/>
          <p:nvPr/>
        </p:nvSpPr>
        <p:spPr>
          <a:xfrm>
            <a:off x="868680" y="3191256"/>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Les interventions réalisées sont comparées aux exigences du cahier des charges. Les écarts éventuels sont identifiés et signalés aux services concernés.</a:t>
            </a:r>
            <a:endParaRPr lang="en-US" sz="1200" dirty="0"/>
          </a:p>
        </p:txBody>
      </p:sp>
      <p:sp>
        <p:nvSpPr>
          <p:cNvPr id="12" name="Shape 10"/>
          <p:cNvSpPr/>
          <p:nvPr/>
        </p:nvSpPr>
        <p:spPr>
          <a:xfrm>
            <a:off x="548640" y="3877056"/>
            <a:ext cx="146304" cy="146304"/>
          </a:xfrm>
          <a:prstGeom prst="ellipse">
            <a:avLst/>
          </a:prstGeom>
          <a:solidFill>
            <a:srgbClr val="E4572E"/>
          </a:solidFill>
          <a:ln/>
        </p:spPr>
      </p:sp>
      <p:sp>
        <p:nvSpPr>
          <p:cNvPr id="13" name="Text 11"/>
          <p:cNvSpPr/>
          <p:nvPr/>
        </p:nvSpPr>
        <p:spPr>
          <a:xfrm>
            <a:off x="868680" y="3758184"/>
            <a:ext cx="10774375" cy="566928"/>
          </a:xfrm>
          <a:prstGeom prst="rect">
            <a:avLst/>
          </a:prstGeom>
          <a:noFill/>
          <a:ln/>
        </p:spPr>
        <p:txBody>
          <a:bodyPr wrap="square" lIns="0" tIns="0" rIns="0" bIns="0" rtlCol="0" anchor="t"/>
          <a:lstStyle/>
          <a:p>
            <a:pPr indent="0" marL="0">
              <a:lnSpc>
                <a:spcPct val="105000"/>
              </a:lnSpc>
              <a:buNone/>
            </a:pPr>
            <a:r>
              <a:rPr lang="en-US" sz="1200" dirty="0">
                <a:solidFill>
                  <a:srgbClr val="1B2430"/>
                </a:solidFill>
                <a:latin typeface="Arial" pitchFamily="34" charset="0"/>
                <a:ea typeface="Arial" pitchFamily="34" charset="-122"/>
                <a:cs typeface="Arial" pitchFamily="34" charset="-120"/>
              </a:rPr>
              <a:t>La traçabilité des interventions est assurée via les outils de suivi.</a:t>
            </a:r>
            <a:endParaRPr lang="en-US" sz="1200" dirty="0"/>
          </a:p>
        </p:txBody>
      </p:sp>
      <p:sp>
        <p:nvSpPr>
          <p:cNvPr id="14" name="Text 12"/>
          <p:cNvSpPr/>
          <p:nvPr/>
        </p:nvSpPr>
        <p:spPr>
          <a:xfrm>
            <a:off x="548640" y="6035040"/>
            <a:ext cx="11094415" cy="365760"/>
          </a:xfrm>
          <a:prstGeom prst="rect">
            <a:avLst/>
          </a:prstGeom>
          <a:noFill/>
          <a:ln/>
        </p:spPr>
        <p:txBody>
          <a:bodyPr wrap="square" lIns="0" tIns="0" rIns="0" bIns="0" rtlCol="0" anchor="ctr"/>
          <a:lstStyle/>
          <a:p>
            <a:pPr indent="0" marL="0">
              <a:buNone/>
            </a:pPr>
            <a:r>
              <a:rPr lang="en-US" sz="1150" i="1" dirty="0">
                <a:solidFill>
                  <a:srgbClr val="51606E"/>
                </a:solidFill>
                <a:latin typeface="Arial" pitchFamily="34" charset="0"/>
                <a:ea typeface="Arial" pitchFamily="34" charset="-122"/>
                <a:cs typeface="Arial" pitchFamily="34" charset="-120"/>
              </a:rPr>
              <a:t>Séquences de ce bloc : 6. Enregistrement et priorisation – 7. Contrôle du cahier des charges – 8. Traçabilité jusqu'à clôture</a:t>
            </a:r>
            <a:endParaRPr lang="en-US" sz="1150" dirty="0"/>
          </a:p>
        </p:txBody>
      </p:sp>
      <p:sp>
        <p:nvSpPr>
          <p:cNvPr id="15"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6" name="Text 1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6</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Enregistrer et planifier les demandes d'intervention</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Appliquer les modalités d'enregistrement et de planification des demandes d'intervention selon les priorités définies.</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Identifier les informations utiles à collecter lors de l'enregistrement d'une demande d'intervention.</a:t>
            </a:r>
            <a:endParaRPr lang="en-US" sz="1400" dirty="0"/>
          </a:p>
        </p:txBody>
      </p:sp>
      <p:sp>
        <p:nvSpPr>
          <p:cNvPr id="11" name="Shape 9"/>
          <p:cNvSpPr/>
          <p:nvPr/>
        </p:nvSpPr>
        <p:spPr>
          <a:xfrm>
            <a:off x="548640" y="2932938"/>
            <a:ext cx="310896" cy="310896"/>
          </a:xfrm>
          <a:prstGeom prst="roundRect">
            <a:avLst>
              <a:gd name="adj" fmla="val 20588"/>
            </a:avLst>
          </a:prstGeom>
          <a:solidFill>
            <a:srgbClr val="16324F"/>
          </a:solidFill>
          <a:ln/>
        </p:spPr>
      </p:sp>
      <p:sp>
        <p:nvSpPr>
          <p:cNvPr id="12" name="Text 10"/>
          <p:cNvSpPr/>
          <p:nvPr/>
        </p:nvSpPr>
        <p:spPr>
          <a:xfrm>
            <a:off x="548640" y="293293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284149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Qualifier l'urgence et l'impact d'une demande.</a:t>
            </a:r>
            <a:endParaRPr lang="en-US" sz="1400" dirty="0"/>
          </a:p>
        </p:txBody>
      </p:sp>
      <p:sp>
        <p:nvSpPr>
          <p:cNvPr id="14" name="Shape 12"/>
          <p:cNvSpPr/>
          <p:nvPr/>
        </p:nvSpPr>
        <p:spPr>
          <a:xfrm>
            <a:off x="548640" y="3424428"/>
            <a:ext cx="310896" cy="310896"/>
          </a:xfrm>
          <a:prstGeom prst="roundRect">
            <a:avLst>
              <a:gd name="adj" fmla="val 20588"/>
            </a:avLst>
          </a:prstGeom>
          <a:solidFill>
            <a:srgbClr val="16324F"/>
          </a:solidFill>
          <a:ln/>
        </p:spPr>
      </p:sp>
      <p:sp>
        <p:nvSpPr>
          <p:cNvPr id="15" name="Text 13"/>
          <p:cNvSpPr/>
          <p:nvPr/>
        </p:nvSpPr>
        <p:spPr>
          <a:xfrm>
            <a:off x="548640" y="342442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33298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Prioriser et planifier les interventions en garantissant la continuité de service.</a:t>
            </a:r>
            <a:endParaRPr lang="en-US" sz="1400" dirty="0"/>
          </a:p>
        </p:txBody>
      </p:sp>
      <p:sp>
        <p:nvSpPr>
          <p:cNvPr id="17" name="Shape 15"/>
          <p:cNvSpPr/>
          <p:nvPr/>
        </p:nvSpPr>
        <p:spPr>
          <a:xfrm>
            <a:off x="548640" y="3915918"/>
            <a:ext cx="310896" cy="310896"/>
          </a:xfrm>
          <a:prstGeom prst="roundRect">
            <a:avLst>
              <a:gd name="adj" fmla="val 20588"/>
            </a:avLst>
          </a:prstGeom>
          <a:solidFill>
            <a:srgbClr val="16324F"/>
          </a:solidFill>
          <a:ln/>
        </p:spPr>
      </p:sp>
      <p:sp>
        <p:nvSpPr>
          <p:cNvPr id="18" name="Text 16"/>
          <p:cNvSpPr/>
          <p:nvPr/>
        </p:nvSpPr>
        <p:spPr>
          <a:xfrm>
            <a:off x="548640" y="391591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9" name="Text 17"/>
          <p:cNvSpPr/>
          <p:nvPr/>
        </p:nvSpPr>
        <p:spPr>
          <a:xfrm>
            <a:off x="1051560" y="3824478"/>
            <a:ext cx="10591495" cy="49149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Vérifier les délais d'exécution et les engagements contractuels à chaque intervention.</a:t>
            </a:r>
            <a:endParaRPr lang="en-US" sz="1400" dirty="0"/>
          </a:p>
        </p:txBody>
      </p:sp>
      <p:sp>
        <p:nvSpPr>
          <p:cNvPr id="20" name="Shape 18"/>
          <p:cNvSpPr/>
          <p:nvPr/>
        </p:nvSpPr>
        <p:spPr>
          <a:xfrm>
            <a:off x="548640" y="5806440"/>
            <a:ext cx="11094415" cy="502920"/>
          </a:xfrm>
          <a:prstGeom prst="roundRect">
            <a:avLst>
              <a:gd name="adj" fmla="val 14545"/>
            </a:avLst>
          </a:prstGeom>
          <a:solidFill>
            <a:srgbClr val="EAF5FB"/>
          </a:solidFill>
          <a:ln/>
        </p:spPr>
      </p:sp>
      <p:sp>
        <p:nvSpPr>
          <p:cNvPr id="21" name="Text 19"/>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Formulaire de demande d'intervention ; planning ; matrice de priorisation ; cas pratiques.</a:t>
            </a:r>
            <a:endParaRPr lang="en-US" sz="1100" dirty="0"/>
          </a:p>
        </p:txBody>
      </p:sp>
      <p:sp>
        <p:nvSpPr>
          <p:cNvPr id="22"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3" name="Text 2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6</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Cas pratiques : prioriser des demandes concurrentes</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Enregistrer les informations utiles de plusieurs demandes d'intervention concurrentes.</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Qualifier l'urgence et l'impact de chaque demande.</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Positionner les interventions dans un planning en justifiant les priorités retenues.</a:t>
            </a:r>
            <a:endParaRPr lang="en-US" sz="1300" dirty="0"/>
          </a:p>
        </p:txBody>
      </p:sp>
      <p:sp>
        <p:nvSpPr>
          <p:cNvPr id="19" name="Shape 17"/>
          <p:cNvSpPr/>
          <p:nvPr/>
        </p:nvSpPr>
        <p:spPr>
          <a:xfrm>
            <a:off x="914400" y="5074920"/>
            <a:ext cx="10362895" cy="411480"/>
          </a:xfrm>
          <a:prstGeom prst="roundRect">
            <a:avLst>
              <a:gd name="adj" fmla="val 13333"/>
            </a:avLst>
          </a:prstGeom>
          <a:solidFill>
            <a:srgbClr val="E7F2F8"/>
          </a:solidFill>
          <a:ln/>
        </p:spPr>
      </p:sp>
      <p:sp>
        <p:nvSpPr>
          <p:cNvPr id="20" name="Text 18"/>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en sous-groupes – 15 minutes.</a:t>
            </a:r>
            <a:endParaRPr lang="en-US" sz="1150" dirty="0"/>
          </a:p>
        </p:txBody>
      </p:sp>
      <p:sp>
        <p:nvSpPr>
          <p:cNvPr id="21"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2"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6</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Debrief sur les critères de priorité</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Échange sur les critères de priorité retenus par chaque sous-groupe.</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Mise en perspective avec l'exigence de continuité de service.</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une mauvaise qualification des priorités entre les demandes.</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s'entraîner sur des scénarios gradués, avec des critères urgence / impact et une justification orale systématique.</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7</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Comparer les interventions au cahier des charges</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Comparer les interventions réalisées aux exigences du cahier des charges afin d'identifier les écarts éventuels.</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Comparer un compte rendu d'intervention aux exigences du cahier des charges.</a:t>
            </a:r>
            <a:endParaRPr lang="en-US" sz="1400" dirty="0"/>
          </a:p>
        </p:txBody>
      </p:sp>
      <p:sp>
        <p:nvSpPr>
          <p:cNvPr id="11" name="Shape 9"/>
          <p:cNvSpPr/>
          <p:nvPr/>
        </p:nvSpPr>
        <p:spPr>
          <a:xfrm>
            <a:off x="548640" y="3096768"/>
            <a:ext cx="310896" cy="310896"/>
          </a:xfrm>
          <a:prstGeom prst="roundRect">
            <a:avLst>
              <a:gd name="adj" fmla="val 20588"/>
            </a:avLst>
          </a:prstGeom>
          <a:solidFill>
            <a:srgbClr val="16324F"/>
          </a:solidFill>
          <a:ln/>
        </p:spPr>
      </p:sp>
      <p:sp>
        <p:nvSpPr>
          <p:cNvPr id="12" name="Text 10"/>
          <p:cNvSpPr/>
          <p:nvPr/>
        </p:nvSpPr>
        <p:spPr>
          <a:xfrm>
            <a:off x="548640" y="30967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300532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Repérer les conformités, les écarts et les éléments manquants.</a:t>
            </a:r>
            <a:endParaRPr lang="en-US" sz="1400" dirty="0"/>
          </a:p>
        </p:txBody>
      </p:sp>
      <p:sp>
        <p:nvSpPr>
          <p:cNvPr id="14" name="Shape 12"/>
          <p:cNvSpPr/>
          <p:nvPr/>
        </p:nvSpPr>
        <p:spPr>
          <a:xfrm>
            <a:off x="548640" y="3752088"/>
            <a:ext cx="310896" cy="310896"/>
          </a:xfrm>
          <a:prstGeom prst="roundRect">
            <a:avLst>
              <a:gd name="adj" fmla="val 20588"/>
            </a:avLst>
          </a:prstGeom>
          <a:solidFill>
            <a:srgbClr val="16324F"/>
          </a:solidFill>
          <a:ln/>
        </p:spPr>
      </p:sp>
      <p:sp>
        <p:nvSpPr>
          <p:cNvPr id="15" name="Text 13"/>
          <p:cNvSpPr/>
          <p:nvPr/>
        </p:nvSpPr>
        <p:spPr>
          <a:xfrm>
            <a:off x="548640" y="375208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66064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Formuler des actions de suivi adaptées et les signaler aux services concernés.</a:t>
            </a:r>
            <a:endParaRPr lang="en-US" sz="1400" dirty="0"/>
          </a:p>
        </p:txBody>
      </p:sp>
      <p:sp>
        <p:nvSpPr>
          <p:cNvPr id="17" name="Shape 15"/>
          <p:cNvSpPr/>
          <p:nvPr/>
        </p:nvSpPr>
        <p:spPr>
          <a:xfrm>
            <a:off x="548640" y="5806440"/>
            <a:ext cx="11094415" cy="502920"/>
          </a:xfrm>
          <a:prstGeom prst="roundRect">
            <a:avLst>
              <a:gd name="adj" fmla="val 14545"/>
            </a:avLst>
          </a:prstGeom>
          <a:solidFill>
            <a:srgbClr val="EAF5FB"/>
          </a:solidFill>
          <a:ln/>
        </p:spPr>
      </p:sp>
      <p:sp>
        <p:nvSpPr>
          <p:cNvPr id="18" name="Text 16"/>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Cahier des charges simplifié ; compte rendu d'intervention ; grille de contrôle des écarts.</a:t>
            </a:r>
            <a:endParaRPr lang="en-US" sz="1100" dirty="0"/>
          </a:p>
        </p:txBody>
      </p:sp>
      <p:sp>
        <p:nvSpPr>
          <p:cNvPr id="19"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0" name="Text 1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7</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Grille de contrôle des écarts</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Mettre en parallèle un compte rendu d'intervention et un cahier des charges simplifié.</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Repérer les conformités, les écarts et les éléments manquants à l'aide de la grille de contrôle.</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Formuler les actions de suivi adaptées aux écarts identifiés.</a:t>
            </a:r>
            <a:endParaRPr lang="en-US" sz="1300" dirty="0"/>
          </a:p>
        </p:txBody>
      </p:sp>
      <p:sp>
        <p:nvSpPr>
          <p:cNvPr id="19" name="Shape 17"/>
          <p:cNvSpPr/>
          <p:nvPr/>
        </p:nvSpPr>
        <p:spPr>
          <a:xfrm>
            <a:off x="914400" y="5074920"/>
            <a:ext cx="10362895" cy="411480"/>
          </a:xfrm>
          <a:prstGeom prst="roundRect">
            <a:avLst>
              <a:gd name="adj" fmla="val 13333"/>
            </a:avLst>
          </a:prstGeom>
          <a:solidFill>
            <a:srgbClr val="E7F2F8"/>
          </a:solidFill>
          <a:ln/>
        </p:spPr>
      </p:sp>
      <p:sp>
        <p:nvSpPr>
          <p:cNvPr id="20" name="Text 18"/>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individuel puis mise en commun – 15 minutes.</a:t>
            </a:r>
            <a:endParaRPr lang="en-US" sz="1150" dirty="0"/>
          </a:p>
        </p:txBody>
      </p:sp>
      <p:sp>
        <p:nvSpPr>
          <p:cNvPr id="21"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2"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33</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7</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Justification des constats à partir de preuves factuelles</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Mise en commun des écarts identifiés et des actions de suivi proposées.</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Justification argumentée de chaque constat à partir d'éléments factuels.</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un contrôle superficiel du cahier des charges.</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utiliser une grille de comparaison critère par critère et exiger des preuves factuelles à l'appui de chaque constat.</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828800" cy="384048"/>
          </a:xfrm>
          <a:prstGeom prst="roundRect">
            <a:avLst>
              <a:gd name="adj" fmla="val 19048"/>
            </a:avLst>
          </a:prstGeom>
          <a:solidFill>
            <a:srgbClr val="2E9CCA"/>
          </a:solidFill>
          <a:ln/>
        </p:spPr>
      </p:sp>
      <p:sp>
        <p:nvSpPr>
          <p:cNvPr id="3" name="Text 1"/>
          <p:cNvSpPr/>
          <p:nvPr/>
        </p:nvSpPr>
        <p:spPr>
          <a:xfrm>
            <a:off x="548640" y="457200"/>
            <a:ext cx="18288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SÉQUENCE 8</a:t>
            </a:r>
            <a:endParaRPr lang="en-US" sz="1200" dirty="0"/>
          </a:p>
        </p:txBody>
      </p:sp>
      <p:sp>
        <p:nvSpPr>
          <p:cNvPr id="4" name="Shape 2"/>
          <p:cNvSpPr/>
          <p:nvPr/>
        </p:nvSpPr>
        <p:spPr>
          <a:xfrm>
            <a:off x="10271455" y="457200"/>
            <a:ext cx="1371600" cy="457200"/>
          </a:xfrm>
          <a:prstGeom prst="roundRect">
            <a:avLst>
              <a:gd name="adj" fmla="val 18000"/>
            </a:avLst>
          </a:prstGeom>
          <a:solidFill>
            <a:srgbClr val="16324F"/>
          </a:solidFill>
          <a:ln/>
        </p:spPr>
      </p:sp>
      <p:sp>
        <p:nvSpPr>
          <p:cNvPr id="5" name="Text 3"/>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6" name="Text 4"/>
          <p:cNvSpPr/>
          <p:nvPr/>
        </p:nvSpPr>
        <p:spPr>
          <a:xfrm>
            <a:off x="548640" y="960120"/>
            <a:ext cx="11094415" cy="685800"/>
          </a:xfrm>
          <a:prstGeom prst="rect">
            <a:avLst/>
          </a:prstGeom>
          <a:noFill/>
          <a:ln/>
        </p:spPr>
        <p:txBody>
          <a:bodyPr wrap="square" lIns="0" tIns="0" rIns="0" bIns="0" rtlCol="0" anchor="ctr"/>
          <a:lstStyle/>
          <a:p>
            <a:pPr indent="0" marL="0">
              <a:lnSpc>
                <a:spcPct val="105000"/>
              </a:lnSpc>
              <a:buNone/>
            </a:pPr>
            <a:r>
              <a:rPr lang="en-US" sz="2400" b="1" dirty="0">
                <a:solidFill>
                  <a:srgbClr val="16324F"/>
                </a:solidFill>
                <a:latin typeface="Arial" pitchFamily="34" charset="0"/>
                <a:ea typeface="Arial" pitchFamily="34" charset="-122"/>
                <a:cs typeface="Arial" pitchFamily="34" charset="-120"/>
              </a:rPr>
              <a:t>Assurer la traçabilité des interventions jusqu'à leur clôture</a:t>
            </a:r>
            <a:endParaRPr lang="en-US" sz="2400" dirty="0"/>
          </a:p>
        </p:txBody>
      </p:sp>
      <p:sp>
        <p:nvSpPr>
          <p:cNvPr id="7" name="Text 5"/>
          <p:cNvSpPr/>
          <p:nvPr/>
        </p:nvSpPr>
        <p:spPr>
          <a:xfrm>
            <a:off x="548640" y="1627632"/>
            <a:ext cx="11094415" cy="594360"/>
          </a:xfrm>
          <a:prstGeom prst="rect">
            <a:avLst/>
          </a:prstGeom>
          <a:noFill/>
          <a:ln/>
        </p:spPr>
        <p:txBody>
          <a:bodyPr wrap="square" lIns="0" tIns="0" rIns="0" bIns="0" rtlCol="0" anchor="ctr"/>
          <a:lstStyle/>
          <a:p>
            <a:pPr indent="0" marL="0">
              <a:lnSpc>
                <a:spcPct val="110000"/>
              </a:lnSpc>
              <a:buNone/>
            </a:pPr>
            <a:r>
              <a:rPr lang="en-US" sz="1250" b="1" dirty="0">
                <a:solidFill>
                  <a:srgbClr val="2E9CCA"/>
                </a:solidFill>
                <a:latin typeface="Arial" pitchFamily="34" charset="0"/>
                <a:ea typeface="Arial" pitchFamily="34" charset="-122"/>
                <a:cs typeface="Arial" pitchFamily="34" charset="-120"/>
              </a:rPr>
              <a:t>Objectif : </a:t>
            </a:r>
            <a:pPr indent="0" marL="0">
              <a:lnSpc>
                <a:spcPct val="110000"/>
              </a:lnSpc>
              <a:buNone/>
            </a:pPr>
            <a:r>
              <a:rPr lang="en-US" sz="1250" i="1" dirty="0">
                <a:solidFill>
                  <a:srgbClr val="51606E"/>
                </a:solidFill>
                <a:latin typeface="Arial" pitchFamily="34" charset="0"/>
                <a:ea typeface="Arial" pitchFamily="34" charset="-122"/>
                <a:cs typeface="Arial" pitchFamily="34" charset="-120"/>
              </a:rPr>
              <a:t>Utiliser les outils de suivi pour assurer la traçabilité des interventions jusqu'à leur clôture.</a:t>
            </a:r>
            <a:endParaRPr lang="en-US" sz="1250" dirty="0"/>
          </a:p>
        </p:txBody>
      </p:sp>
      <p:sp>
        <p:nvSpPr>
          <p:cNvPr id="8" name="Shape 6"/>
          <p:cNvSpPr/>
          <p:nvPr/>
        </p:nvSpPr>
        <p:spPr>
          <a:xfrm>
            <a:off x="548640" y="2441448"/>
            <a:ext cx="310896" cy="310896"/>
          </a:xfrm>
          <a:prstGeom prst="roundRect">
            <a:avLst>
              <a:gd name="adj" fmla="val 20588"/>
            </a:avLst>
          </a:prstGeom>
          <a:solidFill>
            <a:srgbClr val="16324F"/>
          </a:solidFill>
          <a:ln/>
        </p:spPr>
      </p:sp>
      <p:sp>
        <p:nvSpPr>
          <p:cNvPr id="9" name="Text 7"/>
          <p:cNvSpPr/>
          <p:nvPr/>
        </p:nvSpPr>
        <p:spPr>
          <a:xfrm>
            <a:off x="548640" y="244144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0" name="Text 8"/>
          <p:cNvSpPr/>
          <p:nvPr/>
        </p:nvSpPr>
        <p:spPr>
          <a:xfrm>
            <a:off x="1051560" y="235000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Assurer la traçabilité d'une intervention jusqu'à sa clôture : statut, preuve de réalisation, écarts, actions correctives.</a:t>
            </a:r>
            <a:endParaRPr lang="en-US" sz="1400" dirty="0"/>
          </a:p>
        </p:txBody>
      </p:sp>
      <p:sp>
        <p:nvSpPr>
          <p:cNvPr id="11" name="Shape 9"/>
          <p:cNvSpPr/>
          <p:nvPr/>
        </p:nvSpPr>
        <p:spPr>
          <a:xfrm>
            <a:off x="548640" y="3096768"/>
            <a:ext cx="310896" cy="310896"/>
          </a:xfrm>
          <a:prstGeom prst="roundRect">
            <a:avLst>
              <a:gd name="adj" fmla="val 20588"/>
            </a:avLst>
          </a:prstGeom>
          <a:solidFill>
            <a:srgbClr val="16324F"/>
          </a:solidFill>
          <a:ln/>
        </p:spPr>
      </p:sp>
      <p:sp>
        <p:nvSpPr>
          <p:cNvPr id="12" name="Text 10"/>
          <p:cNvSpPr/>
          <p:nvPr/>
        </p:nvSpPr>
        <p:spPr>
          <a:xfrm>
            <a:off x="548640" y="30967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3" name="Text 11"/>
          <p:cNvSpPr/>
          <p:nvPr/>
        </p:nvSpPr>
        <p:spPr>
          <a:xfrm>
            <a:off x="1051560" y="300532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Utiliser les outils de suivi et les applicatifs informatiques dédiés.</a:t>
            </a:r>
            <a:endParaRPr lang="en-US" sz="1400" dirty="0"/>
          </a:p>
        </p:txBody>
      </p:sp>
      <p:sp>
        <p:nvSpPr>
          <p:cNvPr id="14" name="Shape 12"/>
          <p:cNvSpPr/>
          <p:nvPr/>
        </p:nvSpPr>
        <p:spPr>
          <a:xfrm>
            <a:off x="548640" y="3752088"/>
            <a:ext cx="310896" cy="310896"/>
          </a:xfrm>
          <a:prstGeom prst="roundRect">
            <a:avLst>
              <a:gd name="adj" fmla="val 20588"/>
            </a:avLst>
          </a:prstGeom>
          <a:solidFill>
            <a:srgbClr val="16324F"/>
          </a:solidFill>
          <a:ln/>
        </p:spPr>
      </p:sp>
      <p:sp>
        <p:nvSpPr>
          <p:cNvPr id="15" name="Text 13"/>
          <p:cNvSpPr/>
          <p:nvPr/>
        </p:nvSpPr>
        <p:spPr>
          <a:xfrm>
            <a:off x="548640" y="375208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16" name="Text 14"/>
          <p:cNvSpPr/>
          <p:nvPr/>
        </p:nvSpPr>
        <p:spPr>
          <a:xfrm>
            <a:off x="1051560" y="3660648"/>
            <a:ext cx="10591495" cy="655320"/>
          </a:xfrm>
          <a:prstGeom prst="rect">
            <a:avLst/>
          </a:prstGeom>
          <a:noFill/>
          <a:ln/>
        </p:spPr>
        <p:txBody>
          <a:bodyPr wrap="square" lIns="0" tIns="0" rIns="0" bIns="0" rtlCol="0" anchor="t"/>
          <a:lstStyle/>
          <a:p>
            <a:pPr indent="0" marL="0">
              <a:lnSpc>
                <a:spcPct val="110000"/>
              </a:lnSpc>
              <a:buNone/>
            </a:pPr>
            <a:r>
              <a:rPr lang="en-US" sz="1400" dirty="0">
                <a:solidFill>
                  <a:srgbClr val="1B2430"/>
                </a:solidFill>
                <a:latin typeface="Arial" pitchFamily="34" charset="0"/>
                <a:ea typeface="Arial" pitchFamily="34" charset="-122"/>
                <a:cs typeface="Arial" pitchFamily="34" charset="-120"/>
              </a:rPr>
              <a:t>Sécuriser la clôture d'une intervention à l'aide d'une check-list dédiée.</a:t>
            </a:r>
            <a:endParaRPr lang="en-US" sz="1400" dirty="0"/>
          </a:p>
        </p:txBody>
      </p:sp>
      <p:sp>
        <p:nvSpPr>
          <p:cNvPr id="17" name="Shape 15"/>
          <p:cNvSpPr/>
          <p:nvPr/>
        </p:nvSpPr>
        <p:spPr>
          <a:xfrm>
            <a:off x="548640" y="5806440"/>
            <a:ext cx="11094415" cy="502920"/>
          </a:xfrm>
          <a:prstGeom prst="roundRect">
            <a:avLst>
              <a:gd name="adj" fmla="val 14545"/>
            </a:avLst>
          </a:prstGeom>
          <a:solidFill>
            <a:srgbClr val="EAF5FB"/>
          </a:solidFill>
          <a:ln/>
        </p:spPr>
      </p:sp>
      <p:sp>
        <p:nvSpPr>
          <p:cNvPr id="18" name="Text 16"/>
          <p:cNvSpPr/>
          <p:nvPr/>
        </p:nvSpPr>
        <p:spPr>
          <a:xfrm>
            <a:off x="731520" y="5806440"/>
            <a:ext cx="10728655" cy="502920"/>
          </a:xfrm>
          <a:prstGeom prst="rect">
            <a:avLst/>
          </a:prstGeom>
          <a:noFill/>
          <a:ln/>
        </p:spPr>
        <p:txBody>
          <a:bodyPr wrap="square" lIns="0" tIns="0" rIns="0" bIns="0" rtlCol="0" anchor="ctr"/>
          <a:lstStyle/>
          <a:p>
            <a:pPr indent="0" marL="0">
              <a:buNone/>
            </a:pPr>
            <a:r>
              <a:rPr lang="en-US" sz="1100" b="1" dirty="0">
                <a:solidFill>
                  <a:srgbClr val="16324F"/>
                </a:solidFill>
                <a:latin typeface="Arial" pitchFamily="34" charset="0"/>
                <a:ea typeface="Arial" pitchFamily="34" charset="-122"/>
                <a:cs typeface="Arial" pitchFamily="34" charset="-120"/>
              </a:rPr>
              <a:t>Supports &amp; outils : </a:t>
            </a:r>
            <a:pPr indent="0" marL="0">
              <a:buNone/>
            </a:pPr>
            <a:r>
              <a:rPr lang="en-US" sz="1100" dirty="0">
                <a:solidFill>
                  <a:srgbClr val="51606E"/>
                </a:solidFill>
                <a:latin typeface="Arial" pitchFamily="34" charset="0"/>
                <a:ea typeface="Arial" pitchFamily="34" charset="-122"/>
                <a:cs typeface="Arial" pitchFamily="34" charset="-120"/>
              </a:rPr>
              <a:t>Outil de suivi des interventions ; fiche de clôture ; exercice de synthèse ; QCM sommatif.</a:t>
            </a:r>
            <a:endParaRPr lang="en-US" sz="1100" dirty="0"/>
          </a:p>
        </p:txBody>
      </p:sp>
      <p:sp>
        <p:nvSpPr>
          <p:cNvPr id="19"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0" name="Text 1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7F2F8"/>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1B6E93"/>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4" name="Text 2"/>
          <p:cNvSpPr/>
          <p:nvPr/>
        </p:nvSpPr>
        <p:spPr>
          <a:xfrm>
            <a:off x="1371600" y="502920"/>
            <a:ext cx="5486400" cy="320040"/>
          </a:xfrm>
          <a:prstGeom prst="rect">
            <a:avLst/>
          </a:prstGeom>
          <a:noFill/>
          <a:ln/>
        </p:spPr>
        <p:txBody>
          <a:bodyPr wrap="square" lIns="0" tIns="0" rIns="0" bIns="0" rtlCol="0" anchor="ctr"/>
          <a:lstStyle/>
          <a:p>
            <a:pPr indent="0" marL="0">
              <a:buNone/>
            </a:pPr>
            <a:r>
              <a:rPr lang="en-US" sz="1300" b="1" spc="100" kern="0" dirty="0">
                <a:solidFill>
                  <a:srgbClr val="1B6E93"/>
                </a:solidFill>
                <a:latin typeface="Arial" pitchFamily="34" charset="0"/>
                <a:ea typeface="Arial" pitchFamily="34" charset="-122"/>
                <a:cs typeface="Arial" pitchFamily="34" charset="-120"/>
              </a:rPr>
              <a:t>ACTIVITÉ – SÉQUENCE 8</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Compléter le suivi d'une intervention jusqu'à sa clôture</a:t>
            </a:r>
            <a:endParaRPr lang="en-US" sz="1900" dirty="0"/>
          </a:p>
        </p:txBody>
      </p:sp>
      <p:sp>
        <p:nvSpPr>
          <p:cNvPr id="6" name="Shape 4"/>
          <p:cNvSpPr/>
          <p:nvPr/>
        </p:nvSpPr>
        <p:spPr>
          <a:xfrm>
            <a:off x="10271455" y="457200"/>
            <a:ext cx="1371600" cy="457200"/>
          </a:xfrm>
          <a:prstGeom prst="roundRect">
            <a:avLst>
              <a:gd name="adj" fmla="val 18000"/>
            </a:avLst>
          </a:prstGeom>
          <a:solidFill>
            <a:srgbClr val="1B6E93"/>
          </a:solidFill>
          <a:ln/>
        </p:spPr>
      </p:sp>
      <p:sp>
        <p:nvSpPr>
          <p:cNvPr id="7" name="Text 5"/>
          <p:cNvSpPr/>
          <p:nvPr/>
        </p:nvSpPr>
        <p:spPr>
          <a:xfrm>
            <a:off x="10271455" y="457200"/>
            <a:ext cx="13716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 min</a:t>
            </a:r>
            <a:endParaRPr lang="en-US" sz="1400" dirty="0"/>
          </a:p>
        </p:txBody>
      </p:sp>
      <p:sp>
        <p:nvSpPr>
          <p:cNvPr id="8" name="Shape 6"/>
          <p:cNvSpPr/>
          <p:nvPr/>
        </p:nvSpPr>
        <p:spPr>
          <a:xfrm>
            <a:off x="548640" y="1600200"/>
            <a:ext cx="11094415" cy="4023360"/>
          </a:xfrm>
          <a:prstGeom prst="roundRect">
            <a:avLst>
              <a:gd name="adj" fmla="val 2273"/>
            </a:avLst>
          </a:prstGeom>
          <a:solidFill>
            <a:srgbClr val="FFFFFF"/>
          </a:solidFill>
          <a:ln w="12700">
            <a:solidFill>
              <a:srgbClr val="CFE3EC"/>
            </a:solidFill>
            <a:prstDash val="solid"/>
          </a:ln>
        </p:spPr>
      </p:sp>
      <p:sp>
        <p:nvSpPr>
          <p:cNvPr id="9" name="Text 7"/>
          <p:cNvSpPr/>
          <p:nvPr/>
        </p:nvSpPr>
        <p:spPr>
          <a:xfrm>
            <a:off x="914400" y="1828800"/>
            <a:ext cx="5486400" cy="320040"/>
          </a:xfrm>
          <a:prstGeom prst="rect">
            <a:avLst/>
          </a:prstGeom>
          <a:noFill/>
          <a:ln/>
        </p:spPr>
        <p:txBody>
          <a:bodyPr wrap="square" lIns="0" tIns="0" rIns="0" bIns="0" rtlCol="0" anchor="ctr"/>
          <a:lstStyle/>
          <a:p>
            <a:pPr indent="0" marL="0">
              <a:buNone/>
            </a:pPr>
            <a:r>
              <a:rPr lang="en-US" sz="1200" b="1" spc="100" kern="0" dirty="0">
                <a:solidFill>
                  <a:srgbClr val="1B6E93"/>
                </a:solidFill>
                <a:latin typeface="Arial" pitchFamily="34" charset="0"/>
                <a:ea typeface="Arial" pitchFamily="34" charset="-122"/>
                <a:cs typeface="Arial" pitchFamily="34" charset="-120"/>
              </a:rPr>
              <a:t>CONSIGNES</a:t>
            </a:r>
            <a:endParaRPr lang="en-US" sz="1200" dirty="0"/>
          </a:p>
        </p:txBody>
      </p:sp>
      <p:sp>
        <p:nvSpPr>
          <p:cNvPr id="10" name="Shape 8"/>
          <p:cNvSpPr/>
          <p:nvPr/>
        </p:nvSpPr>
        <p:spPr>
          <a:xfrm>
            <a:off x="914400" y="2194560"/>
            <a:ext cx="384048" cy="384048"/>
          </a:xfrm>
          <a:prstGeom prst="ellipse">
            <a:avLst/>
          </a:prstGeom>
          <a:solidFill>
            <a:srgbClr val="1B6E93"/>
          </a:solidFill>
          <a:ln/>
        </p:spPr>
      </p:sp>
      <p:sp>
        <p:nvSpPr>
          <p:cNvPr id="11" name="Text 9"/>
          <p:cNvSpPr/>
          <p:nvPr/>
        </p:nvSpPr>
        <p:spPr>
          <a:xfrm>
            <a:off x="9144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2" name="Text 10"/>
          <p:cNvSpPr/>
          <p:nvPr/>
        </p:nvSpPr>
        <p:spPr>
          <a:xfrm>
            <a:off x="1463040" y="2121408"/>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Renseigner le statut, la preuve de réalisation, les écarts et les actions correctives d'une intervention.</a:t>
            </a:r>
            <a:endParaRPr lang="en-US" sz="1300" dirty="0"/>
          </a:p>
        </p:txBody>
      </p:sp>
      <p:sp>
        <p:nvSpPr>
          <p:cNvPr id="13" name="Shape 11"/>
          <p:cNvSpPr/>
          <p:nvPr/>
        </p:nvSpPr>
        <p:spPr>
          <a:xfrm>
            <a:off x="914400" y="2907792"/>
            <a:ext cx="384048" cy="384048"/>
          </a:xfrm>
          <a:prstGeom prst="ellipse">
            <a:avLst/>
          </a:prstGeom>
          <a:solidFill>
            <a:srgbClr val="1B6E93"/>
          </a:solidFill>
          <a:ln/>
        </p:spPr>
      </p:sp>
      <p:sp>
        <p:nvSpPr>
          <p:cNvPr id="14" name="Text 12"/>
          <p:cNvSpPr/>
          <p:nvPr/>
        </p:nvSpPr>
        <p:spPr>
          <a:xfrm>
            <a:off x="914400" y="29077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3"/>
          <p:cNvSpPr/>
          <p:nvPr/>
        </p:nvSpPr>
        <p:spPr>
          <a:xfrm>
            <a:off x="1463040" y="2834640"/>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Finaliser la clôture de l'intervention dans l'outil de suivi.</a:t>
            </a:r>
            <a:endParaRPr lang="en-US" sz="1300" dirty="0"/>
          </a:p>
        </p:txBody>
      </p:sp>
      <p:sp>
        <p:nvSpPr>
          <p:cNvPr id="16" name="Shape 14"/>
          <p:cNvSpPr/>
          <p:nvPr/>
        </p:nvSpPr>
        <p:spPr>
          <a:xfrm>
            <a:off x="914400" y="3621024"/>
            <a:ext cx="384048" cy="384048"/>
          </a:xfrm>
          <a:prstGeom prst="ellipse">
            <a:avLst/>
          </a:prstGeom>
          <a:solidFill>
            <a:srgbClr val="1B6E93"/>
          </a:solidFill>
          <a:ln/>
        </p:spPr>
      </p:sp>
      <p:sp>
        <p:nvSpPr>
          <p:cNvPr id="17" name="Text 15"/>
          <p:cNvSpPr/>
          <p:nvPr/>
        </p:nvSpPr>
        <p:spPr>
          <a:xfrm>
            <a:off x="914400" y="36210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p:nvPr/>
        </p:nvSpPr>
        <p:spPr>
          <a:xfrm>
            <a:off x="1463040" y="3547872"/>
            <a:ext cx="9814255" cy="713232"/>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Répondre au QCM sommatif de contrôle continu du module.</a:t>
            </a:r>
            <a:endParaRPr lang="en-US" sz="1300" dirty="0"/>
          </a:p>
        </p:txBody>
      </p:sp>
      <p:sp>
        <p:nvSpPr>
          <p:cNvPr id="19" name="Shape 17"/>
          <p:cNvSpPr/>
          <p:nvPr/>
        </p:nvSpPr>
        <p:spPr>
          <a:xfrm>
            <a:off x="914400" y="5074920"/>
            <a:ext cx="10362895" cy="411480"/>
          </a:xfrm>
          <a:prstGeom prst="roundRect">
            <a:avLst>
              <a:gd name="adj" fmla="val 13333"/>
            </a:avLst>
          </a:prstGeom>
          <a:solidFill>
            <a:srgbClr val="E7F2F8"/>
          </a:solidFill>
          <a:ln/>
        </p:spPr>
      </p:sp>
      <p:sp>
        <p:nvSpPr>
          <p:cNvPr id="20" name="Text 18"/>
          <p:cNvSpPr/>
          <p:nvPr/>
        </p:nvSpPr>
        <p:spPr>
          <a:xfrm>
            <a:off x="1097280" y="5074920"/>
            <a:ext cx="9997135" cy="411480"/>
          </a:xfrm>
          <a:prstGeom prst="rect">
            <a:avLst/>
          </a:prstGeom>
          <a:noFill/>
          <a:ln/>
        </p:spPr>
        <p:txBody>
          <a:bodyPr wrap="square" lIns="0" tIns="0" rIns="0" bIns="0" rtlCol="0" anchor="ctr"/>
          <a:lstStyle/>
          <a:p>
            <a:pPr indent="0" marL="0">
              <a:buNone/>
            </a:pPr>
            <a:r>
              <a:rPr lang="en-US" sz="1150" b="1" dirty="0">
                <a:solidFill>
                  <a:srgbClr val="1B6E93"/>
                </a:solidFill>
                <a:latin typeface="Arial" pitchFamily="34" charset="0"/>
                <a:ea typeface="Arial" pitchFamily="34" charset="-122"/>
                <a:cs typeface="Arial" pitchFamily="34" charset="-120"/>
              </a:rPr>
              <a:t>Modalité : </a:t>
            </a:r>
            <a:pPr indent="0" marL="0">
              <a:buNone/>
            </a:pPr>
            <a:r>
              <a:rPr lang="en-US" sz="1150" dirty="0">
                <a:solidFill>
                  <a:srgbClr val="1B2430"/>
                </a:solidFill>
                <a:latin typeface="Arial" pitchFamily="34" charset="0"/>
                <a:ea typeface="Arial" pitchFamily="34" charset="-122"/>
                <a:cs typeface="Arial" pitchFamily="34" charset="-120"/>
              </a:rPr>
              <a:t>Travail individuel – 15 minutes, puis QCM sommatif.</a:t>
            </a:r>
            <a:endParaRPr lang="en-US" sz="1150" dirty="0"/>
          </a:p>
        </p:txBody>
      </p:sp>
      <p:sp>
        <p:nvSpPr>
          <p:cNvPr id="21"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2" name="Text 20"/>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FF7EC"/>
        </a:solidFill>
      </p:bgPr>
    </p:bg>
    <p:spTree>
      <p:nvGrpSpPr>
        <p:cNvPr id="1" name=""/>
        <p:cNvGrpSpPr/>
        <p:nvPr/>
      </p:nvGrpSpPr>
      <p:grpSpPr>
        <a:xfrm>
          <a:off x="0" y="0"/>
          <a:ext cx="0" cy="0"/>
          <a:chOff x="0" y="0"/>
          <a:chExt cx="0" cy="0"/>
        </a:xfrm>
      </p:grpSpPr>
      <p:sp>
        <p:nvSpPr>
          <p:cNvPr id="2" name="Shape 0"/>
          <p:cNvSpPr/>
          <p:nvPr/>
        </p:nvSpPr>
        <p:spPr>
          <a:xfrm>
            <a:off x="548640" y="457200"/>
            <a:ext cx="640080" cy="640080"/>
          </a:xfrm>
          <a:prstGeom prst="ellipse">
            <a:avLst/>
          </a:prstGeom>
          <a:solidFill>
            <a:srgbClr val="3E8E58"/>
          </a:solidFill>
          <a:ln/>
        </p:spPr>
      </p:sp>
      <p:sp>
        <p:nvSpPr>
          <p:cNvPr id="3" name="Text 1"/>
          <p:cNvSpPr/>
          <p:nvPr/>
        </p:nvSpPr>
        <p:spPr>
          <a:xfrm>
            <a:off x="548640" y="457200"/>
            <a:ext cx="640080" cy="640080"/>
          </a:xfrm>
          <a:prstGeom prst="rect">
            <a:avLst/>
          </a:prstGeom>
          <a:noFill/>
          <a:ln/>
        </p:spPr>
        <p:txBody>
          <a:bodyPr wrap="square" lIns="0" tIns="0" rIns="0" bIns="0" rtlCol="0" anchor="ctr"/>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4" name="Text 2"/>
          <p:cNvSpPr/>
          <p:nvPr/>
        </p:nvSpPr>
        <p:spPr>
          <a:xfrm>
            <a:off x="1371600" y="502920"/>
            <a:ext cx="6400800" cy="320040"/>
          </a:xfrm>
          <a:prstGeom prst="rect">
            <a:avLst/>
          </a:prstGeom>
          <a:noFill/>
          <a:ln/>
        </p:spPr>
        <p:txBody>
          <a:bodyPr wrap="square" lIns="0" tIns="0" rIns="0" bIns="0" rtlCol="0" anchor="ctr"/>
          <a:lstStyle/>
          <a:p>
            <a:pPr indent="0" marL="0">
              <a:buNone/>
            </a:pPr>
            <a:r>
              <a:rPr lang="en-US" sz="1300" b="1" spc="100" kern="0" dirty="0">
                <a:solidFill>
                  <a:srgbClr val="3E8E58"/>
                </a:solidFill>
                <a:latin typeface="Arial" pitchFamily="34" charset="0"/>
                <a:ea typeface="Arial" pitchFamily="34" charset="-122"/>
                <a:cs typeface="Arial" pitchFamily="34" charset="-120"/>
              </a:rPr>
              <a:t>CORRECTION – SÉQUENCE 8</a:t>
            </a:r>
            <a:endParaRPr lang="en-US" sz="1300" dirty="0"/>
          </a:p>
        </p:txBody>
      </p:sp>
      <p:sp>
        <p:nvSpPr>
          <p:cNvPr id="5" name="Text 3"/>
          <p:cNvSpPr/>
          <p:nvPr/>
        </p:nvSpPr>
        <p:spPr>
          <a:xfrm>
            <a:off x="1371600" y="804672"/>
            <a:ext cx="7772400" cy="411480"/>
          </a:xfrm>
          <a:prstGeom prst="rect">
            <a:avLst/>
          </a:prstGeom>
          <a:noFill/>
          <a:ln/>
        </p:spPr>
        <p:txBody>
          <a:bodyPr wrap="square" lIns="0" tIns="0" rIns="0" bIns="0" rtlCol="0" anchor="ctr"/>
          <a:lstStyle/>
          <a:p>
            <a:pPr indent="0" marL="0">
              <a:buNone/>
            </a:pPr>
            <a:r>
              <a:rPr lang="en-US" sz="1900" b="1" dirty="0">
                <a:solidFill>
                  <a:srgbClr val="1B2430"/>
                </a:solidFill>
                <a:latin typeface="Arial" pitchFamily="34" charset="0"/>
                <a:ea typeface="Arial" pitchFamily="34" charset="-122"/>
                <a:cs typeface="Arial" pitchFamily="34" charset="-120"/>
              </a:rPr>
              <a:t>Correction commentée du QCM sommatif</a:t>
            </a:r>
            <a:endParaRPr lang="en-US" sz="1900" dirty="0"/>
          </a:p>
        </p:txBody>
      </p:sp>
      <p:sp>
        <p:nvSpPr>
          <p:cNvPr id="6" name="Text 4"/>
          <p:cNvSpPr/>
          <p:nvPr/>
        </p:nvSpPr>
        <p:spPr>
          <a:xfrm>
            <a:off x="548640" y="1645920"/>
            <a:ext cx="5486400" cy="320040"/>
          </a:xfrm>
          <a:prstGeom prst="rect">
            <a:avLst/>
          </a:prstGeom>
          <a:noFill/>
          <a:ln/>
        </p:spPr>
        <p:txBody>
          <a:bodyPr wrap="square" lIns="0" tIns="0" rIns="0" bIns="0" rtlCol="0" anchor="ctr"/>
          <a:lstStyle/>
          <a:p>
            <a:pPr indent="0" marL="0">
              <a:buNone/>
            </a:pPr>
            <a:r>
              <a:rPr lang="en-US" sz="1200" b="1" spc="100" kern="0" dirty="0">
                <a:solidFill>
                  <a:srgbClr val="3E8E58"/>
                </a:solidFill>
                <a:latin typeface="Arial" pitchFamily="34" charset="0"/>
                <a:ea typeface="Arial" pitchFamily="34" charset="-122"/>
                <a:cs typeface="Arial" pitchFamily="34" charset="-120"/>
              </a:rPr>
              <a:t>POINTS CLÉS DU DÉBRIEF</a:t>
            </a:r>
            <a:endParaRPr lang="en-US" sz="1200" dirty="0"/>
          </a:p>
        </p:txBody>
      </p:sp>
      <p:sp>
        <p:nvSpPr>
          <p:cNvPr id="7" name="Shape 5"/>
          <p:cNvSpPr/>
          <p:nvPr/>
        </p:nvSpPr>
        <p:spPr>
          <a:xfrm>
            <a:off x="548640" y="2066544"/>
            <a:ext cx="128016" cy="128016"/>
          </a:xfrm>
          <a:prstGeom prst="ellipse">
            <a:avLst/>
          </a:prstGeom>
          <a:solidFill>
            <a:srgbClr val="3E8E58"/>
          </a:solidFill>
          <a:ln/>
        </p:spPr>
      </p:sp>
      <p:sp>
        <p:nvSpPr>
          <p:cNvPr id="8" name="Text 6"/>
          <p:cNvSpPr/>
          <p:nvPr/>
        </p:nvSpPr>
        <p:spPr>
          <a:xfrm>
            <a:off x="868680" y="195681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Synthèse du module et reprise des points essentiels de traçabilité.</a:t>
            </a:r>
            <a:endParaRPr lang="en-US" sz="1300" dirty="0"/>
          </a:p>
        </p:txBody>
      </p:sp>
      <p:sp>
        <p:nvSpPr>
          <p:cNvPr id="9" name="Shape 7"/>
          <p:cNvSpPr/>
          <p:nvPr/>
        </p:nvSpPr>
        <p:spPr>
          <a:xfrm>
            <a:off x="548640" y="2569464"/>
            <a:ext cx="128016" cy="128016"/>
          </a:xfrm>
          <a:prstGeom prst="ellipse">
            <a:avLst/>
          </a:prstGeom>
          <a:solidFill>
            <a:srgbClr val="3E8E58"/>
          </a:solidFill>
          <a:ln/>
        </p:spPr>
      </p:sp>
      <p:sp>
        <p:nvSpPr>
          <p:cNvPr id="10" name="Text 8"/>
          <p:cNvSpPr/>
          <p:nvPr/>
        </p:nvSpPr>
        <p:spPr>
          <a:xfrm>
            <a:off x="868680" y="2459736"/>
            <a:ext cx="10774375" cy="502920"/>
          </a:xfrm>
          <a:prstGeom prst="rect">
            <a:avLst/>
          </a:prstGeom>
          <a:noFill/>
          <a:ln/>
        </p:spPr>
        <p:txBody>
          <a:bodyPr wrap="square" lIns="0" tIns="0" rIns="0" bIns="0" rtlCol="0" anchor="t"/>
          <a:lstStyle/>
          <a:p>
            <a:pPr indent="0" marL="0">
              <a:lnSpc>
                <a:spcPct val="110000"/>
              </a:lnSpc>
              <a:buNone/>
            </a:pPr>
            <a:r>
              <a:rPr lang="en-US" sz="1300" dirty="0">
                <a:solidFill>
                  <a:srgbClr val="1B2430"/>
                </a:solidFill>
                <a:latin typeface="Arial" pitchFamily="34" charset="0"/>
                <a:ea typeface="Arial" pitchFamily="34" charset="-122"/>
                <a:cs typeface="Arial" pitchFamily="34" charset="-120"/>
              </a:rPr>
              <a:t>Correction commentée du QCM sommatif, question par question.</a:t>
            </a:r>
            <a:endParaRPr lang="en-US" sz="1300" dirty="0"/>
          </a:p>
        </p:txBody>
      </p:sp>
      <p:sp>
        <p:nvSpPr>
          <p:cNvPr id="11" name="Shape 9"/>
          <p:cNvSpPr/>
          <p:nvPr/>
        </p:nvSpPr>
        <p:spPr>
          <a:xfrm>
            <a:off x="548640" y="3154680"/>
            <a:ext cx="11094415" cy="1783080"/>
          </a:xfrm>
          <a:prstGeom prst="roundRect">
            <a:avLst>
              <a:gd name="adj" fmla="val 5128"/>
            </a:avLst>
          </a:prstGeom>
          <a:solidFill>
            <a:srgbClr val="FFFFFF"/>
          </a:solidFill>
          <a:ln w="15875">
            <a:solidFill>
              <a:srgbClr val="F0C9BB"/>
            </a:solidFill>
            <a:prstDash val="solid"/>
          </a:ln>
        </p:spPr>
      </p:sp>
      <p:sp>
        <p:nvSpPr>
          <p:cNvPr id="12" name="Shape 10"/>
          <p:cNvSpPr/>
          <p:nvPr/>
        </p:nvSpPr>
        <p:spPr>
          <a:xfrm>
            <a:off x="822960" y="3429000"/>
            <a:ext cx="457200" cy="457200"/>
          </a:xfrm>
          <a:prstGeom prst="ellipse">
            <a:avLst/>
          </a:prstGeom>
          <a:solidFill>
            <a:srgbClr val="E4572E"/>
          </a:solidFill>
          <a:ln/>
        </p:spPr>
      </p:sp>
      <p:sp>
        <p:nvSpPr>
          <p:cNvPr id="13" name="Text 11"/>
          <p:cNvSpPr/>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t>
            </a:r>
            <a:endParaRPr lang="en-US" sz="2000" dirty="0"/>
          </a:p>
        </p:txBody>
      </p:sp>
      <p:sp>
        <p:nvSpPr>
          <p:cNvPr id="14" name="Text 12"/>
          <p:cNvSpPr/>
          <p:nvPr/>
        </p:nvSpPr>
        <p:spPr>
          <a:xfrm>
            <a:off x="1463040" y="3319272"/>
            <a:ext cx="9905695" cy="777240"/>
          </a:xfrm>
          <a:prstGeom prst="rect">
            <a:avLst/>
          </a:prstGeom>
          <a:noFill/>
          <a:ln/>
        </p:spPr>
        <p:txBody>
          <a:bodyPr wrap="square" lIns="0" tIns="0" rIns="0" bIns="0" rtlCol="0" anchor="t"/>
          <a:lstStyle/>
          <a:p>
            <a:pPr indent="0" marL="0">
              <a:lnSpc>
                <a:spcPct val="115000"/>
              </a:lnSpc>
              <a:buNone/>
            </a:pPr>
            <a:r>
              <a:rPr lang="en-US" sz="1250" b="1" dirty="0">
                <a:solidFill>
                  <a:srgbClr val="E4572E"/>
                </a:solidFill>
                <a:latin typeface="Arial" pitchFamily="34" charset="0"/>
                <a:ea typeface="Arial" pitchFamily="34" charset="-122"/>
                <a:cs typeface="Arial" pitchFamily="34" charset="-120"/>
              </a:rPr>
              <a:t>Point de vigilance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une clôture prématurée de l'intervention ou une absence de preuve de réalisation.</a:t>
            </a:r>
            <a:endParaRPr lang="en-US" sz="1250" dirty="0"/>
          </a:p>
        </p:txBody>
      </p:sp>
      <p:sp>
        <p:nvSpPr>
          <p:cNvPr id="15" name="Text 13"/>
          <p:cNvSpPr/>
          <p:nvPr/>
        </p:nvSpPr>
        <p:spPr>
          <a:xfrm>
            <a:off x="1463040" y="4069080"/>
            <a:ext cx="9905695" cy="822960"/>
          </a:xfrm>
          <a:prstGeom prst="rect">
            <a:avLst/>
          </a:prstGeom>
          <a:noFill/>
          <a:ln/>
        </p:spPr>
        <p:txBody>
          <a:bodyPr wrap="square" lIns="0" tIns="0" rIns="0" bIns="0" rtlCol="0" anchor="t"/>
          <a:lstStyle/>
          <a:p>
            <a:pPr indent="0" marL="0">
              <a:lnSpc>
                <a:spcPct val="115000"/>
              </a:lnSpc>
              <a:buNone/>
            </a:pPr>
            <a:r>
              <a:rPr lang="en-US" sz="1250" b="1" dirty="0">
                <a:solidFill>
                  <a:srgbClr val="3E8E58"/>
                </a:solidFill>
                <a:latin typeface="Arial" pitchFamily="34" charset="0"/>
                <a:ea typeface="Arial" pitchFamily="34" charset="-122"/>
                <a:cs typeface="Arial" pitchFamily="34" charset="-120"/>
              </a:rPr>
              <a:t>À retenir : </a:t>
            </a:r>
            <a:pPr indent="0" marL="0">
              <a:lnSpc>
                <a:spcPct val="115000"/>
              </a:lnSpc>
              <a:buNone/>
            </a:pPr>
            <a:r>
              <a:rPr lang="en-US" sz="1250" dirty="0">
                <a:solidFill>
                  <a:srgbClr val="1B2430"/>
                </a:solidFill>
                <a:latin typeface="Arial" pitchFamily="34" charset="0"/>
                <a:ea typeface="Arial" pitchFamily="34" charset="-122"/>
                <a:cs typeface="Arial" pitchFamily="34" charset="-120"/>
              </a:rPr>
              <a:t>systématiser une check-list de clôture et revenir sur les erreurs fréquentes repérées lors de la correction.</a:t>
            </a:r>
            <a:endParaRPr lang="en-US" sz="1250" dirty="0"/>
          </a:p>
        </p:txBody>
      </p:sp>
      <p:sp>
        <p:nvSpPr>
          <p:cNvPr id="16" name="Text 1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17" name="Text 15"/>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6324F"/>
        </a:solidFill>
      </p:bgPr>
    </p:bg>
    <p:spTree>
      <p:nvGrpSpPr>
        <p:cNvPr id="1" name=""/>
        <p:cNvGrpSpPr/>
        <p:nvPr/>
      </p:nvGrpSpPr>
      <p:grpSpPr>
        <a:xfrm>
          <a:off x="0" y="0"/>
          <a:ext cx="0" cy="0"/>
          <a:chOff x="0" y="0"/>
          <a:chExt cx="0" cy="0"/>
        </a:xfrm>
      </p:grpSpPr>
      <p:sp>
        <p:nvSpPr>
          <p:cNvPr id="2" name="Text 0"/>
          <p:cNvSpPr/>
          <p:nvPr/>
        </p:nvSpPr>
        <p:spPr>
          <a:xfrm>
            <a:off x="548640" y="502920"/>
            <a:ext cx="7315200" cy="365760"/>
          </a:xfrm>
          <a:prstGeom prst="rect">
            <a:avLst/>
          </a:prstGeom>
          <a:noFill/>
          <a:ln/>
        </p:spPr>
        <p:txBody>
          <a:bodyPr wrap="square" lIns="0" tIns="0" rIns="0" bIns="0" rtlCol="0" anchor="ctr"/>
          <a:lstStyle/>
          <a:p>
            <a:pPr indent="0" marL="0">
              <a:buNone/>
            </a:pPr>
            <a:r>
              <a:rPr lang="en-US" sz="1400" b="1" spc="200" kern="0" dirty="0">
                <a:solidFill>
                  <a:srgbClr val="2E9CCA"/>
                </a:solidFill>
                <a:latin typeface="Arial" pitchFamily="34" charset="0"/>
                <a:ea typeface="Arial" pitchFamily="34" charset="-122"/>
                <a:cs typeface="Arial" pitchFamily="34" charset="-120"/>
              </a:rPr>
              <a:t>SYNTHÈSE – BLOC 3</a:t>
            </a:r>
            <a:endParaRPr lang="en-US" sz="1400" dirty="0"/>
          </a:p>
        </p:txBody>
      </p:sp>
      <p:sp>
        <p:nvSpPr>
          <p:cNvPr id="3" name="Text 1"/>
          <p:cNvSpPr/>
          <p:nvPr/>
        </p:nvSpPr>
        <p:spPr>
          <a:xfrm>
            <a:off x="548640" y="914400"/>
            <a:ext cx="9601200" cy="6400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Suivre les interventions des prestataires</a:t>
            </a:r>
            <a:endParaRPr lang="en-US" sz="2400" dirty="0"/>
          </a:p>
        </p:txBody>
      </p:sp>
      <p:sp>
        <p:nvSpPr>
          <p:cNvPr id="4" name="Text 2"/>
          <p:cNvSpPr/>
          <p:nvPr/>
        </p:nvSpPr>
        <p:spPr>
          <a:xfrm>
            <a:off x="548640" y="1691640"/>
            <a:ext cx="7315200" cy="320040"/>
          </a:xfrm>
          <a:prstGeom prst="rect">
            <a:avLst/>
          </a:prstGeom>
          <a:noFill/>
          <a:ln/>
        </p:spPr>
        <p:txBody>
          <a:bodyPr wrap="square" lIns="0" tIns="0" rIns="0" bIns="0" rtlCol="0" anchor="ctr"/>
          <a:lstStyle/>
          <a:p>
            <a:pPr indent="0" marL="0">
              <a:buNone/>
            </a:pPr>
            <a:r>
              <a:rPr lang="en-US" sz="1300" i="1" dirty="0">
                <a:solidFill>
                  <a:srgbClr val="AFC8DC"/>
                </a:solidFill>
                <a:latin typeface="Arial" pitchFamily="34" charset="0"/>
                <a:ea typeface="Arial" pitchFamily="34" charset="-122"/>
                <a:cs typeface="Arial" pitchFamily="34" charset="-120"/>
              </a:rPr>
              <a:t>Ce qui doit être acquis à ce stade :</a:t>
            </a:r>
            <a:endParaRPr lang="en-US" sz="1300" dirty="0"/>
          </a:p>
        </p:txBody>
      </p:sp>
      <p:sp>
        <p:nvSpPr>
          <p:cNvPr id="5" name="Shape 3"/>
          <p:cNvSpPr/>
          <p:nvPr/>
        </p:nvSpPr>
        <p:spPr>
          <a:xfrm>
            <a:off x="548640" y="2057400"/>
            <a:ext cx="11094415" cy="777240"/>
          </a:xfrm>
          <a:prstGeom prst="roundRect">
            <a:avLst>
              <a:gd name="adj" fmla="val 9412"/>
            </a:avLst>
          </a:prstGeom>
          <a:solidFill>
            <a:srgbClr val="1F4368"/>
          </a:solidFill>
          <a:ln/>
        </p:spPr>
      </p:sp>
      <p:sp>
        <p:nvSpPr>
          <p:cNvPr id="6" name="Shape 4"/>
          <p:cNvSpPr/>
          <p:nvPr/>
        </p:nvSpPr>
        <p:spPr>
          <a:xfrm>
            <a:off x="777240" y="2350008"/>
            <a:ext cx="182880" cy="182880"/>
          </a:xfrm>
          <a:prstGeom prst="ellipse">
            <a:avLst/>
          </a:prstGeom>
          <a:solidFill>
            <a:srgbClr val="2E9CCA"/>
          </a:solidFill>
          <a:ln/>
        </p:spPr>
      </p:sp>
      <p:sp>
        <p:nvSpPr>
          <p:cNvPr id="7" name="Text 5"/>
          <p:cNvSpPr/>
          <p:nvPr/>
        </p:nvSpPr>
        <p:spPr>
          <a:xfrm>
            <a:off x="1143000" y="21305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Les demandes d'interventions sont enregistrées et planifiées selon les priorités définies ; les délais et engagements contractuels sont vérifiés.</a:t>
            </a:r>
            <a:endParaRPr lang="en-US" sz="1250" dirty="0"/>
          </a:p>
        </p:txBody>
      </p:sp>
      <p:sp>
        <p:nvSpPr>
          <p:cNvPr id="8" name="Shape 6"/>
          <p:cNvSpPr/>
          <p:nvPr/>
        </p:nvSpPr>
        <p:spPr>
          <a:xfrm>
            <a:off x="548640" y="2971800"/>
            <a:ext cx="11094415" cy="777240"/>
          </a:xfrm>
          <a:prstGeom prst="roundRect">
            <a:avLst>
              <a:gd name="adj" fmla="val 9412"/>
            </a:avLst>
          </a:prstGeom>
          <a:solidFill>
            <a:srgbClr val="1F4368"/>
          </a:solidFill>
          <a:ln/>
        </p:spPr>
      </p:sp>
      <p:sp>
        <p:nvSpPr>
          <p:cNvPr id="9" name="Shape 7"/>
          <p:cNvSpPr/>
          <p:nvPr/>
        </p:nvSpPr>
        <p:spPr>
          <a:xfrm>
            <a:off x="777240" y="3264408"/>
            <a:ext cx="182880" cy="182880"/>
          </a:xfrm>
          <a:prstGeom prst="ellipse">
            <a:avLst/>
          </a:prstGeom>
          <a:solidFill>
            <a:srgbClr val="2E9CCA"/>
          </a:solidFill>
          <a:ln/>
        </p:spPr>
      </p:sp>
      <p:sp>
        <p:nvSpPr>
          <p:cNvPr id="10" name="Text 8"/>
          <p:cNvSpPr/>
          <p:nvPr/>
        </p:nvSpPr>
        <p:spPr>
          <a:xfrm>
            <a:off x="1143000" y="30449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Les interventions sont comparées aux exigences du cahier des charges et les écarts sont signalés aux services concernés.</a:t>
            </a:r>
            <a:endParaRPr lang="en-US" sz="1250" dirty="0"/>
          </a:p>
        </p:txBody>
      </p:sp>
      <p:sp>
        <p:nvSpPr>
          <p:cNvPr id="11" name="Shape 9"/>
          <p:cNvSpPr/>
          <p:nvPr/>
        </p:nvSpPr>
        <p:spPr>
          <a:xfrm>
            <a:off x="548640" y="3886200"/>
            <a:ext cx="11094415" cy="777240"/>
          </a:xfrm>
          <a:prstGeom prst="roundRect">
            <a:avLst>
              <a:gd name="adj" fmla="val 9412"/>
            </a:avLst>
          </a:prstGeom>
          <a:solidFill>
            <a:srgbClr val="1F4368"/>
          </a:solidFill>
          <a:ln/>
        </p:spPr>
      </p:sp>
      <p:sp>
        <p:nvSpPr>
          <p:cNvPr id="12" name="Shape 10"/>
          <p:cNvSpPr/>
          <p:nvPr/>
        </p:nvSpPr>
        <p:spPr>
          <a:xfrm>
            <a:off x="777240" y="4178808"/>
            <a:ext cx="182880" cy="182880"/>
          </a:xfrm>
          <a:prstGeom prst="ellipse">
            <a:avLst/>
          </a:prstGeom>
          <a:solidFill>
            <a:srgbClr val="2E9CCA"/>
          </a:solidFill>
          <a:ln/>
        </p:spPr>
      </p:sp>
      <p:sp>
        <p:nvSpPr>
          <p:cNvPr id="13" name="Text 11"/>
          <p:cNvSpPr/>
          <p:nvPr/>
        </p:nvSpPr>
        <p:spPr>
          <a:xfrm>
            <a:off x="1143000" y="3959352"/>
            <a:ext cx="10180015" cy="640080"/>
          </a:xfrm>
          <a:prstGeom prst="rect">
            <a:avLst/>
          </a:prstGeom>
          <a:noFill/>
          <a:ln/>
        </p:spPr>
        <p:txBody>
          <a:bodyPr wrap="square" lIns="0" tIns="0" rIns="0" bIns="0" rtlCol="0" anchor="ctr"/>
          <a:lstStyle/>
          <a:p>
            <a:pPr indent="0" marL="0">
              <a:lnSpc>
                <a:spcPct val="105000"/>
              </a:lnSpc>
              <a:buNone/>
            </a:pPr>
            <a:r>
              <a:rPr lang="en-US" sz="1250" dirty="0">
                <a:solidFill>
                  <a:srgbClr val="FFFFFF"/>
                </a:solidFill>
                <a:latin typeface="Arial" pitchFamily="34" charset="0"/>
                <a:ea typeface="Arial" pitchFamily="34" charset="-122"/>
                <a:cs typeface="Arial" pitchFamily="34" charset="-120"/>
              </a:rPr>
              <a:t>La traçabilité des interventions est assurée via les outils de suivi jusqu'à la clôture.</a:t>
            </a:r>
            <a:endParaRPr lang="en-US" sz="1250" dirty="0"/>
          </a:p>
        </p:txBody>
      </p:sp>
      <p:sp>
        <p:nvSpPr>
          <p:cNvPr id="14" name="Text 12"/>
          <p:cNvSpPr/>
          <p:nvPr/>
        </p:nvSpPr>
        <p:spPr>
          <a:xfrm>
            <a:off x="548640" y="4892040"/>
            <a:ext cx="11094415" cy="457200"/>
          </a:xfrm>
          <a:prstGeom prst="rect">
            <a:avLst/>
          </a:prstGeom>
          <a:noFill/>
          <a:ln/>
        </p:spPr>
        <p:txBody>
          <a:bodyPr wrap="square" lIns="0" tIns="0" rIns="0" bIns="0" rtlCol="0" anchor="ctr"/>
          <a:lstStyle/>
          <a:p>
            <a:pPr indent="0" marL="0">
              <a:buNone/>
            </a:pPr>
            <a:r>
              <a:rPr lang="en-US" sz="1300" i="1" dirty="0">
                <a:solidFill>
                  <a:srgbClr val="2E9CCA"/>
                </a:solidFill>
                <a:latin typeface="Arial" pitchFamily="34" charset="0"/>
                <a:ea typeface="Arial" pitchFamily="34" charset="-122"/>
                <a:cs typeface="Arial" pitchFamily="34" charset="-120"/>
              </a:rPr>
              <a:t>Le module est à présent complet : place à la synthèse générale.</a:t>
            </a:r>
            <a:endParaRPr lang="en-US" sz="1300" dirty="0"/>
          </a:p>
        </p:txBody>
      </p:sp>
      <p:sp>
        <p:nvSpPr>
          <p:cNvPr id="15"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9FB8CC"/>
                </a:solidFill>
                <a:latin typeface="Arial" pitchFamily="34" charset="0"/>
                <a:ea typeface="Arial" pitchFamily="34" charset="-122"/>
                <a:cs typeface="Arial" pitchFamily="34" charset="-120"/>
              </a:rPr>
              <a:t>CQP CAE – M20 – Coordination et suivi opérationnel</a:t>
            </a:r>
            <a:endParaRPr lang="en-US" sz="900" dirty="0"/>
          </a:p>
        </p:txBody>
      </p:sp>
      <p:sp>
        <p:nvSpPr>
          <p:cNvPr id="16" name="Text 14"/>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9FB8CC"/>
                </a:solidFill>
                <a:latin typeface="Arial" pitchFamily="34" charset="0"/>
                <a:ea typeface="Arial" pitchFamily="34" charset="-122"/>
                <a:cs typeface="Arial" pitchFamily="34" charset="-120"/>
              </a:rPr>
              <a:t>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640080"/>
          </a:xfrm>
          <a:prstGeom prst="rect">
            <a:avLst/>
          </a:prstGeom>
          <a:noFill/>
          <a:ln/>
        </p:spPr>
        <p:txBody>
          <a:bodyPr wrap="square" lIns="0" tIns="0" rIns="0" bIns="0" rtlCol="0" anchor="ctr"/>
          <a:lstStyle/>
          <a:p>
            <a:pPr indent="0" marL="0">
              <a:buNone/>
            </a:pPr>
            <a:r>
              <a:rPr lang="en-US" sz="2800" b="1" dirty="0">
                <a:solidFill>
                  <a:srgbClr val="16324F"/>
                </a:solidFill>
                <a:latin typeface="Arial" pitchFamily="34" charset="0"/>
                <a:ea typeface="Arial" pitchFamily="34" charset="-122"/>
                <a:cs typeface="Arial" pitchFamily="34" charset="-120"/>
              </a:rPr>
              <a:t>Synthèse générale du module</a:t>
            </a:r>
            <a:endParaRPr lang="en-US" sz="2800" dirty="0"/>
          </a:p>
        </p:txBody>
      </p:sp>
      <p:sp>
        <p:nvSpPr>
          <p:cNvPr id="3" name="Shape 1"/>
          <p:cNvSpPr/>
          <p:nvPr/>
        </p:nvSpPr>
        <p:spPr>
          <a:xfrm>
            <a:off x="548640" y="1371600"/>
            <a:ext cx="3484778" cy="4023360"/>
          </a:xfrm>
          <a:prstGeom prst="roundRect">
            <a:avLst>
              <a:gd name="adj" fmla="val 2624"/>
            </a:avLst>
          </a:prstGeom>
          <a:solidFill>
            <a:srgbClr val="EAF5FB"/>
          </a:solidFill>
          <a:ln/>
        </p:spPr>
      </p:sp>
      <p:sp>
        <p:nvSpPr>
          <p:cNvPr id="4" name="Shape 2"/>
          <p:cNvSpPr/>
          <p:nvPr/>
        </p:nvSpPr>
        <p:spPr>
          <a:xfrm>
            <a:off x="1925269" y="1645920"/>
            <a:ext cx="731520" cy="731520"/>
          </a:xfrm>
          <a:prstGeom prst="ellipse">
            <a:avLst/>
          </a:prstGeom>
          <a:solidFill>
            <a:srgbClr val="16324F"/>
          </a:solidFill>
          <a:ln/>
        </p:spPr>
      </p:sp>
      <p:sp>
        <p:nvSpPr>
          <p:cNvPr id="5" name="Text 3"/>
          <p:cNvSpPr/>
          <p:nvPr/>
        </p:nvSpPr>
        <p:spPr>
          <a:xfrm>
            <a:off x="1925269" y="164592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777240" y="2606040"/>
            <a:ext cx="3027578" cy="822960"/>
          </a:xfrm>
          <a:prstGeom prst="rect">
            <a:avLst/>
          </a:prstGeom>
          <a:noFill/>
          <a:ln/>
        </p:spPr>
        <p:txBody>
          <a:bodyPr wrap="square" lIns="0" tIns="0" rIns="0" bIns="0" rtlCol="0" anchor="ctr"/>
          <a:lstStyle/>
          <a:p>
            <a:pPr algn="ctr" indent="0" marL="0">
              <a:lnSpc>
                <a:spcPct val="110000"/>
              </a:lnSpc>
              <a:buNone/>
            </a:pPr>
            <a:r>
              <a:rPr lang="en-US" sz="1450" b="1" dirty="0">
                <a:solidFill>
                  <a:srgbClr val="16324F"/>
                </a:solidFill>
                <a:latin typeface="Arial" pitchFamily="34" charset="0"/>
                <a:ea typeface="Arial" pitchFamily="34" charset="-122"/>
                <a:cs typeface="Arial" pitchFamily="34" charset="-120"/>
              </a:rPr>
              <a:t>Planifier l'utilisation des ressources</a:t>
            </a:r>
            <a:endParaRPr lang="en-US" sz="1450" dirty="0"/>
          </a:p>
        </p:txBody>
      </p:sp>
      <p:sp>
        <p:nvSpPr>
          <p:cNvPr id="7" name="Text 5"/>
          <p:cNvSpPr/>
          <p:nvPr/>
        </p:nvSpPr>
        <p:spPr>
          <a:xfrm>
            <a:off x="777240" y="3474720"/>
            <a:ext cx="3027578" cy="1737360"/>
          </a:xfrm>
          <a:prstGeom prst="rect">
            <a:avLst/>
          </a:prstGeom>
          <a:noFill/>
          <a:ln/>
        </p:spPr>
        <p:txBody>
          <a:bodyPr wrap="square" lIns="0" tIns="0" rIns="0" bIns="0" rtlCol="0" anchor="ctr"/>
          <a:lstStyle/>
          <a:p>
            <a:pPr indent="0" marL="0">
              <a:lnSpc>
                <a:spcPct val="115000"/>
              </a:lnSpc>
              <a:buNone/>
            </a:pPr>
            <a:r>
              <a:rPr lang="en-US" sz="1150" dirty="0">
                <a:solidFill>
                  <a:srgbClr val="1B2430"/>
                </a:solidFill>
                <a:latin typeface="Arial" pitchFamily="34" charset="0"/>
                <a:ea typeface="Arial" pitchFamily="34" charset="-122"/>
                <a:cs typeface="Arial" pitchFamily="34" charset="-120"/>
              </a:rPr>
              <a:t>Analyser les besoins, arbitrer les priorités, aménager les espaces (accessibilité PMR) et tracer les opérations.</a:t>
            </a:r>
            <a:endParaRPr lang="en-US" sz="1150" dirty="0"/>
          </a:p>
        </p:txBody>
      </p:sp>
      <p:sp>
        <p:nvSpPr>
          <p:cNvPr id="8" name="Shape 6"/>
          <p:cNvSpPr/>
          <p:nvPr/>
        </p:nvSpPr>
        <p:spPr>
          <a:xfrm>
            <a:off x="4353458" y="1371600"/>
            <a:ext cx="3484778" cy="4023360"/>
          </a:xfrm>
          <a:prstGeom prst="roundRect">
            <a:avLst>
              <a:gd name="adj" fmla="val 2624"/>
            </a:avLst>
          </a:prstGeom>
          <a:solidFill>
            <a:srgbClr val="EAF5FB"/>
          </a:solidFill>
          <a:ln/>
        </p:spPr>
      </p:sp>
      <p:sp>
        <p:nvSpPr>
          <p:cNvPr id="9" name="Shape 7"/>
          <p:cNvSpPr/>
          <p:nvPr/>
        </p:nvSpPr>
        <p:spPr>
          <a:xfrm>
            <a:off x="5730088" y="1645920"/>
            <a:ext cx="731520" cy="731520"/>
          </a:xfrm>
          <a:prstGeom prst="ellipse">
            <a:avLst/>
          </a:prstGeom>
          <a:solidFill>
            <a:srgbClr val="16324F"/>
          </a:solidFill>
          <a:ln/>
        </p:spPr>
      </p:sp>
      <p:sp>
        <p:nvSpPr>
          <p:cNvPr id="10" name="Text 8"/>
          <p:cNvSpPr/>
          <p:nvPr/>
        </p:nvSpPr>
        <p:spPr>
          <a:xfrm>
            <a:off x="5730088" y="164592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11" name="Text 9"/>
          <p:cNvSpPr/>
          <p:nvPr/>
        </p:nvSpPr>
        <p:spPr>
          <a:xfrm>
            <a:off x="4582058" y="2606040"/>
            <a:ext cx="3027578" cy="822960"/>
          </a:xfrm>
          <a:prstGeom prst="rect">
            <a:avLst/>
          </a:prstGeom>
          <a:noFill/>
          <a:ln/>
        </p:spPr>
        <p:txBody>
          <a:bodyPr wrap="square" lIns="0" tIns="0" rIns="0" bIns="0" rtlCol="0" anchor="ctr"/>
          <a:lstStyle/>
          <a:p>
            <a:pPr algn="ctr" indent="0" marL="0">
              <a:lnSpc>
                <a:spcPct val="110000"/>
              </a:lnSpc>
              <a:buNone/>
            </a:pPr>
            <a:r>
              <a:rPr lang="en-US" sz="1450" b="1" dirty="0">
                <a:solidFill>
                  <a:srgbClr val="16324F"/>
                </a:solidFill>
                <a:latin typeface="Arial" pitchFamily="34" charset="0"/>
                <a:ea typeface="Arial" pitchFamily="34" charset="-122"/>
                <a:cs typeface="Arial" pitchFamily="34" charset="-120"/>
              </a:rPr>
              <a:t>Approvisionner en fournitures</a:t>
            </a:r>
            <a:endParaRPr lang="en-US" sz="1450" dirty="0"/>
          </a:p>
        </p:txBody>
      </p:sp>
      <p:sp>
        <p:nvSpPr>
          <p:cNvPr id="12" name="Text 10"/>
          <p:cNvSpPr/>
          <p:nvPr/>
        </p:nvSpPr>
        <p:spPr>
          <a:xfrm>
            <a:off x="4582058" y="3474720"/>
            <a:ext cx="3027578" cy="1737360"/>
          </a:xfrm>
          <a:prstGeom prst="rect">
            <a:avLst/>
          </a:prstGeom>
          <a:noFill/>
          <a:ln/>
        </p:spPr>
        <p:txBody>
          <a:bodyPr wrap="square" lIns="0" tIns="0" rIns="0" bIns="0" rtlCol="0" anchor="ctr"/>
          <a:lstStyle/>
          <a:p>
            <a:pPr indent="0" marL="0">
              <a:lnSpc>
                <a:spcPct val="115000"/>
              </a:lnSpc>
              <a:buNone/>
            </a:pPr>
            <a:r>
              <a:rPr lang="en-US" sz="1150" dirty="0">
                <a:solidFill>
                  <a:srgbClr val="1B2430"/>
                </a:solidFill>
                <a:latin typeface="Arial" pitchFamily="34" charset="0"/>
                <a:ea typeface="Arial" pitchFamily="34" charset="-122"/>
                <a:cs typeface="Arial" pitchFamily="34" charset="-120"/>
              </a:rPr>
              <a:t>Suivre les consommations, respecter les délais de livraison et archiver les documents administratifs, en intégrant la TEE.</a:t>
            </a:r>
            <a:endParaRPr lang="en-US" sz="1150" dirty="0"/>
          </a:p>
        </p:txBody>
      </p:sp>
      <p:sp>
        <p:nvSpPr>
          <p:cNvPr id="13" name="Shape 11"/>
          <p:cNvSpPr/>
          <p:nvPr/>
        </p:nvSpPr>
        <p:spPr>
          <a:xfrm>
            <a:off x="8158277" y="1371600"/>
            <a:ext cx="3484778" cy="4023360"/>
          </a:xfrm>
          <a:prstGeom prst="roundRect">
            <a:avLst>
              <a:gd name="adj" fmla="val 2624"/>
            </a:avLst>
          </a:prstGeom>
          <a:solidFill>
            <a:srgbClr val="EAF5FB"/>
          </a:solidFill>
          <a:ln/>
        </p:spPr>
      </p:sp>
      <p:sp>
        <p:nvSpPr>
          <p:cNvPr id="14" name="Shape 12"/>
          <p:cNvSpPr/>
          <p:nvPr/>
        </p:nvSpPr>
        <p:spPr>
          <a:xfrm>
            <a:off x="9534906" y="1645920"/>
            <a:ext cx="731520" cy="731520"/>
          </a:xfrm>
          <a:prstGeom prst="ellipse">
            <a:avLst/>
          </a:prstGeom>
          <a:solidFill>
            <a:srgbClr val="16324F"/>
          </a:solidFill>
          <a:ln/>
        </p:spPr>
      </p:sp>
      <p:sp>
        <p:nvSpPr>
          <p:cNvPr id="15" name="Text 13"/>
          <p:cNvSpPr/>
          <p:nvPr/>
        </p:nvSpPr>
        <p:spPr>
          <a:xfrm>
            <a:off x="9534906" y="1645920"/>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16" name="Text 14"/>
          <p:cNvSpPr/>
          <p:nvPr/>
        </p:nvSpPr>
        <p:spPr>
          <a:xfrm>
            <a:off x="8386877" y="2606040"/>
            <a:ext cx="3027578" cy="822960"/>
          </a:xfrm>
          <a:prstGeom prst="rect">
            <a:avLst/>
          </a:prstGeom>
          <a:noFill/>
          <a:ln/>
        </p:spPr>
        <p:txBody>
          <a:bodyPr wrap="square" lIns="0" tIns="0" rIns="0" bIns="0" rtlCol="0" anchor="ctr"/>
          <a:lstStyle/>
          <a:p>
            <a:pPr algn="ctr" indent="0" marL="0">
              <a:lnSpc>
                <a:spcPct val="110000"/>
              </a:lnSpc>
              <a:buNone/>
            </a:pPr>
            <a:r>
              <a:rPr lang="en-US" sz="1450" b="1" dirty="0">
                <a:solidFill>
                  <a:srgbClr val="16324F"/>
                </a:solidFill>
                <a:latin typeface="Arial" pitchFamily="34" charset="0"/>
                <a:ea typeface="Arial" pitchFamily="34" charset="-122"/>
                <a:cs typeface="Arial" pitchFamily="34" charset="-120"/>
              </a:rPr>
              <a:t>Suivre les interventions des prestataires</a:t>
            </a:r>
            <a:endParaRPr lang="en-US" sz="1450" dirty="0"/>
          </a:p>
        </p:txBody>
      </p:sp>
      <p:sp>
        <p:nvSpPr>
          <p:cNvPr id="17" name="Text 15"/>
          <p:cNvSpPr/>
          <p:nvPr/>
        </p:nvSpPr>
        <p:spPr>
          <a:xfrm>
            <a:off x="8386877" y="3474720"/>
            <a:ext cx="3027578" cy="1737360"/>
          </a:xfrm>
          <a:prstGeom prst="rect">
            <a:avLst/>
          </a:prstGeom>
          <a:noFill/>
          <a:ln/>
        </p:spPr>
        <p:txBody>
          <a:bodyPr wrap="square" lIns="0" tIns="0" rIns="0" bIns="0" rtlCol="0" anchor="ctr"/>
          <a:lstStyle/>
          <a:p>
            <a:pPr indent="0" marL="0">
              <a:lnSpc>
                <a:spcPct val="115000"/>
              </a:lnSpc>
              <a:buNone/>
            </a:pPr>
            <a:r>
              <a:rPr lang="en-US" sz="1150" dirty="0">
                <a:solidFill>
                  <a:srgbClr val="1B2430"/>
                </a:solidFill>
                <a:latin typeface="Arial" pitchFamily="34" charset="0"/>
                <a:ea typeface="Arial" pitchFamily="34" charset="-122"/>
                <a:cs typeface="Arial" pitchFamily="34" charset="-120"/>
              </a:rPr>
              <a:t>Enregistrer, planifier, contrôler au regard du cahier des charges et assurer la traçabilité jusqu'à la clôture.</a:t>
            </a:r>
            <a:endParaRPr lang="en-US" sz="1150" dirty="0"/>
          </a:p>
        </p:txBody>
      </p:sp>
      <p:sp>
        <p:nvSpPr>
          <p:cNvPr id="18" name="Text 16"/>
          <p:cNvSpPr/>
          <p:nvPr/>
        </p:nvSpPr>
        <p:spPr>
          <a:xfrm>
            <a:off x="548640" y="5623560"/>
            <a:ext cx="11094415" cy="548640"/>
          </a:xfrm>
          <a:prstGeom prst="rect">
            <a:avLst/>
          </a:prstGeom>
          <a:noFill/>
          <a:ln/>
        </p:spPr>
        <p:txBody>
          <a:bodyPr wrap="square" lIns="0" tIns="0" rIns="0" bIns="0" rtlCol="0" anchor="ctr"/>
          <a:lstStyle/>
          <a:p>
            <a:pPr indent="0" marL="0">
              <a:lnSpc>
                <a:spcPct val="110000"/>
              </a:lnSpc>
              <a:buNone/>
            </a:pPr>
            <a:r>
              <a:rPr lang="en-US" sz="1200" b="1" i="1" dirty="0">
                <a:solidFill>
                  <a:srgbClr val="16324F"/>
                </a:solidFill>
                <a:latin typeface="Arial" pitchFamily="34" charset="0"/>
                <a:ea typeface="Arial" pitchFamily="34" charset="-122"/>
                <a:cs typeface="Arial" pitchFamily="34" charset="-120"/>
              </a:rPr>
              <a:t>Objectif général : </a:t>
            </a:r>
            <a:pPr indent="0" marL="0">
              <a:lnSpc>
                <a:spcPct val="110000"/>
              </a:lnSpc>
              <a:buNone/>
            </a:pPr>
            <a:r>
              <a:rPr lang="en-US" sz="1200" i="1" dirty="0">
                <a:solidFill>
                  <a:srgbClr val="51606E"/>
                </a:solidFill>
                <a:latin typeface="Arial" pitchFamily="34" charset="0"/>
                <a:ea typeface="Arial" pitchFamily="34" charset="-122"/>
                <a:cs typeface="Arial" pitchFamily="34" charset="-120"/>
              </a:rPr>
              <a:t>coordonner les ressources, les fournitures et les interventions des prestataires en assurant leur suivi et leur traçabilité.</a:t>
            </a:r>
            <a:endParaRPr lang="en-US" sz="1200" dirty="0"/>
          </a:p>
        </p:txBody>
      </p:sp>
      <p:sp>
        <p:nvSpPr>
          <p:cNvPr id="19"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51606E"/>
                </a:solidFill>
                <a:latin typeface="Arial" pitchFamily="34" charset="0"/>
                <a:ea typeface="Arial" pitchFamily="34" charset="-122"/>
                <a:cs typeface="Arial" pitchFamily="34" charset="-120"/>
              </a:rPr>
              <a:t>CQP CAE – M20 – Coordination et suivi opérationnel</a:t>
            </a:r>
            <a:endParaRPr lang="en-US" sz="900" dirty="0"/>
          </a:p>
        </p:txBody>
      </p:sp>
      <p:sp>
        <p:nvSpPr>
          <p:cNvPr id="20" name="Text 18"/>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1606E"/>
                </a:solidFill>
                <a:latin typeface="Arial" pitchFamily="34" charset="0"/>
                <a:ea typeface="Arial" pitchFamily="34" charset="-122"/>
                <a:cs typeface="Arial" pitchFamily="34" charset="-120"/>
              </a:rPr>
              <a:t>39</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1371600" y="-1371600"/>
            <a:ext cx="3657600" cy="3657600"/>
          </a:xfrm>
          <a:prstGeom prst="ellipse">
            <a:avLst/>
          </a:prstGeom>
          <a:solidFill>
            <a:srgbClr val="1F4368"/>
          </a:solidFill>
          <a:ln/>
        </p:spPr>
      </p:sp>
      <p:sp>
        <p:nvSpPr>
          <p:cNvPr id="3" name="Shape 1"/>
          <p:cNvSpPr/>
          <p:nvPr/>
        </p:nvSpPr>
        <p:spPr>
          <a:xfrm>
            <a:off x="9448495" y="4114800"/>
            <a:ext cx="4114800" cy="4114800"/>
          </a:xfrm>
          <a:prstGeom prst="ellipse">
            <a:avLst/>
          </a:prstGeom>
          <a:solidFill>
            <a:srgbClr val="2E9CCA">
              <a:alpha val="40000"/>
            </a:srgbClr>
          </a:solidFill>
          <a:ln/>
        </p:spPr>
      </p:sp>
      <p:sp>
        <p:nvSpPr>
          <p:cNvPr id="4" name="Text 2"/>
          <p:cNvSpPr/>
          <p:nvPr/>
        </p:nvSpPr>
        <p:spPr>
          <a:xfrm>
            <a:off x="548640" y="2468880"/>
            <a:ext cx="9601200" cy="91440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Merci de votre attention</a:t>
            </a:r>
            <a:endParaRPr lang="en-US" sz="3600" dirty="0"/>
          </a:p>
        </p:txBody>
      </p:sp>
      <p:sp>
        <p:nvSpPr>
          <p:cNvPr id="5" name="Text 3"/>
          <p:cNvSpPr/>
          <p:nvPr/>
        </p:nvSpPr>
        <p:spPr>
          <a:xfrm>
            <a:off x="548640" y="3337560"/>
            <a:ext cx="9144000" cy="457200"/>
          </a:xfrm>
          <a:prstGeom prst="rect">
            <a:avLst/>
          </a:prstGeom>
          <a:noFill/>
          <a:ln/>
        </p:spPr>
        <p:txBody>
          <a:bodyPr wrap="square" lIns="0" tIns="0" rIns="0" bIns="0" rtlCol="0" anchor="ctr"/>
          <a:lstStyle/>
          <a:p>
            <a:pPr indent="0" marL="0">
              <a:buNone/>
            </a:pPr>
            <a:r>
              <a:rPr lang="en-US" sz="1600" dirty="0">
                <a:solidFill>
                  <a:srgbClr val="2E9CCA"/>
                </a:solidFill>
                <a:latin typeface="Arial" pitchFamily="34" charset="0"/>
                <a:ea typeface="Arial" pitchFamily="34" charset="-122"/>
                <a:cs typeface="Arial" pitchFamily="34" charset="-120"/>
              </a:rPr>
              <a:t>Questions – échanges – QCM sommatif de contrôle continu</a:t>
            </a:r>
            <a:endParaRPr lang="en-US" sz="1600" dirty="0"/>
          </a:p>
        </p:txBody>
      </p:sp>
      <p:sp>
        <p:nvSpPr>
          <p:cNvPr id="6" name="Text 4"/>
          <p:cNvSpPr/>
          <p:nvPr/>
        </p:nvSpPr>
        <p:spPr>
          <a:xfrm>
            <a:off x="548640" y="6217920"/>
            <a:ext cx="9144000" cy="320040"/>
          </a:xfrm>
          <a:prstGeom prst="rect">
            <a:avLst/>
          </a:prstGeom>
          <a:noFill/>
          <a:ln/>
        </p:spPr>
        <p:txBody>
          <a:bodyPr wrap="square" lIns="0" tIns="0" rIns="0" bIns="0" rtlCol="0" anchor="ctr"/>
          <a:lstStyle/>
          <a:p>
            <a:pPr indent="0" marL="0">
              <a:buNone/>
            </a:pPr>
            <a:r>
              <a:rPr lang="en-US" sz="1100" dirty="0">
                <a:solidFill>
                  <a:srgbClr val="80A0BC"/>
                </a:solidFill>
                <a:latin typeface="Arial" pitchFamily="34" charset="0"/>
                <a:ea typeface="Arial" pitchFamily="34" charset="-122"/>
                <a:cs typeface="Arial" pitchFamily="34" charset="-120"/>
              </a:rPr>
              <a:t>CQP CAE – M20 – Coordination et suivi opérationnel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CQP Chargé(e) d'Accueil en Entreprise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M20 - Coordination et suivi opérationnel</dc:title>
  <dc:subject>PptxGenJS Presentation</dc:subject>
  <dc:creator>Support de formation</dc:creator>
  <cp:lastModifiedBy>Support de formation</cp:lastModifiedBy>
  <cp:revision>1</cp:revision>
  <dcterms:created xsi:type="dcterms:W3CDTF">2026-09-19T20:58:22Z</dcterms:created>
  <dcterms:modified xsi:type="dcterms:W3CDTF">2026-09-19T20:58:22Z</dcterms:modified>
</cp:coreProperties>
</file>